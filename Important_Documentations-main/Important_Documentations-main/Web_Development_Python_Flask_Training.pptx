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10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484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8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072A40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flaskppt/icons/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9637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TRAINING PROGRAM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Development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Python </a:t>
            </a:r>
            <a:r>
              <a:rPr lang="en-US" sz="4200" b="1" dirty="0">
                <a:solidFill>
                  <a:srgbClr val="F4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822960" y="3886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 •  CSS  •  Flask Framework  •  SQLite Database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457200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754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Venkatesh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5212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Beginners, Students, Freshers &amp; Working Professionals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hands-on journey from web fundamentals to a deployed database-driven application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98598" cy="329184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32179" y="214884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/home/claude/flaskppt/icons/gr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744" y="232440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63240"/>
            <a:ext cx="20413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This For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19499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Beginners, freshers, students, Python learners and working professionals seeking full-stack web skills.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2998" y="1828800"/>
            <a:ext cx="2498598" cy="329184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6537" y="21488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flaskppt/icons/lay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102" y="232440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41598" y="3063240"/>
            <a:ext cx="20413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Build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87318" y="3703320"/>
            <a:ext cx="19499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pages with HTML/CSS, then dynamic Flask apps backed by a live SQLite database.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7356" y="1828800"/>
            <a:ext cx="2498598" cy="329184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60895" y="214884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6" name="Image 2" descr="/home/claude/flaskppt/icons/chal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6460" y="232440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5956" y="3063240"/>
            <a:ext cx="20413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You'll Learn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51676" y="3703320"/>
            <a:ext cx="19499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sessions paired with live coding, hands-on labs, mini activities and real industry scenarios.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41714" y="1828800"/>
            <a:ext cx="2498598" cy="329184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25253" y="21488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flaskppt/icons/briefc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0818" y="232440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0314" y="3063240"/>
            <a:ext cx="20413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Leads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416034" y="3703320"/>
            <a:ext cx="19499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Job-ready skills for Web Developer, Python Developer and Full-Stack Developer roles.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program, participants will be able to: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11480" cy="41148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5" name="Image 0" descr="/home/claude/flaskppt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1790395"/>
            <a:ext cx="213970" cy="2139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459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style professional web pages using HTML5 and CSS3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411480" cy="41148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8" name="Image 1" descr="/home/claude/flaskppt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2567635"/>
            <a:ext cx="213970" cy="2139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423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responsive layout techniques including the Box Model and Flexbox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246120"/>
            <a:ext cx="411480" cy="41148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1" name="Image 2" descr="/home/claude/flaskppt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334487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32004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backend web applications using the Flask micro-framework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4023360"/>
            <a:ext cx="411480" cy="41148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4" name="Image 3" descr="/home/claude/flaskppt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4122115"/>
            <a:ext cx="213970" cy="21397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39776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URL routing and render dynamic content with Jinja2 templates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217920" y="1691640"/>
            <a:ext cx="411480" cy="41148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7" name="Image 4" descr="/home/claude/flaskppt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675" y="1790395"/>
            <a:ext cx="213970" cy="21397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12280" y="16459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SQLite databases and perform full CRUD operations from Flask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6217920" y="2468880"/>
            <a:ext cx="411480" cy="41148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0" name="Image 5" descr="/home/claude/flaskppt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675" y="2567635"/>
            <a:ext cx="213970" cy="21397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12280" y="2423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Architect, build and deploy a complete Student Registration Management System</a:t>
            </a:r>
            <a:endParaRPr lang="en-US" sz="1350" dirty="0"/>
          </a:p>
        </p:txBody>
      </p:sp>
      <p:sp>
        <p:nvSpPr>
          <p:cNvPr id="22" name="Shape 14"/>
          <p:cNvSpPr/>
          <p:nvPr/>
        </p:nvSpPr>
        <p:spPr>
          <a:xfrm>
            <a:off x="6217920" y="3246120"/>
            <a:ext cx="411480" cy="41148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3" name="Image 6" descr="/home/claude/flaskppt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675" y="3344875"/>
            <a:ext cx="213970" cy="21397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812280" y="32004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Confidently answer technical interview questions across the full stack</a:t>
            </a:r>
            <a:endParaRPr lang="en-US" sz="1350" dirty="0"/>
          </a:p>
        </p:txBody>
      </p:sp>
      <p:sp>
        <p:nvSpPr>
          <p:cNvPr id="25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blended approach designed for real skill retention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6" name="Image 0" descr="/home/claude/flaskppt/icons/boo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22347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031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+ Practical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clarity followed immediately by applied practice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52544" y="182880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6864" y="2103120"/>
            <a:ext cx="548640" cy="54864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1" name="Image 1" descr="/home/claude/flaskppt/icons/laptop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538" y="22347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58384" y="21031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Industry Examples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26864" y="278892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concept anchored to a genuine business scenario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56448" y="182880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0768" y="2103120"/>
            <a:ext cx="548640" cy="54864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6" name="Image 2" descr="/home/claude/flaskppt/icons/chal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2442" y="22347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62288" y="21031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Sessions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30768" y="278892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Watch, follow along, and code with the trainer in real time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389120"/>
            <a:ext cx="548640" cy="54864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1" name="Image 3" descr="/home/claude/flaskppt/icons/task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634" y="452079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3891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22960" y="507492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exercises after every topic to lock in learning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52544" y="411480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26864" y="4389120"/>
            <a:ext cx="548640" cy="54864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6" name="Image 4" descr="/home/claude/flaskppt/icons/diagram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8538" y="452079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58384" y="43891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26864" y="507492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builds at the end of every module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56448" y="411480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30768" y="4389120"/>
            <a:ext cx="548640" cy="54864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31" name="Image 5" descr="/home/claude/flaskppt/icons/grad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2442" y="452079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62288" y="43891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30768" y="507492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Q&amp;A to build placement-ready confidence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Methodology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Development Fundamentals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web page actually reaches your screen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WEB DEVELOPMENT?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building websites and web applications that run in a browser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structure (HTML), presentation (CSS) and behaviour/logic (Flask + Python)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a user makes travels from a browser, across the internet, to a server, and back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RENDERING PROCESS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52628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sends an HTTP request for a page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responds with HTML, CSS and JavaScript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parses HTML into the DOM, applies CSS, then paints pixels on screen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691640"/>
            <a:ext cx="5120640" cy="4754880"/>
          </a:xfrm>
          <a:prstGeom prst="roundRect">
            <a:avLst>
              <a:gd name="adj" fmla="val 1538"/>
            </a:avLst>
          </a:prstGeom>
          <a:solidFill>
            <a:srgbClr val="F5F8FA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REQUEST-RESPONSE CYCLE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2286000"/>
            <a:ext cx="4572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2464308"/>
            <a:ext cx="512064" cy="512064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2" name="Image 0" descr="/home/claude/flaskppt/icons/lap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335" y="2587203"/>
            <a:ext cx="266273" cy="26627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635240" y="2395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635240" y="2724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requests a URL</a:t>
            </a:r>
            <a:endParaRPr lang="en-US" sz="1050" dirty="0"/>
          </a:p>
        </p:txBody>
      </p:sp>
      <p:pic>
        <p:nvPicPr>
          <p:cNvPr id="15" name="Image 1" descr="/home/claude/flaskppt/icons/arrowdown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2" y="3172968"/>
            <a:ext cx="219456" cy="21945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766560" y="3319272"/>
            <a:ext cx="4572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49440" y="349758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flaskppt/icons/networ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335" y="3620475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63524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/ HTTP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635240" y="3758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travels to the server</a:t>
            </a:r>
            <a:endParaRPr lang="en-US" sz="1050" dirty="0"/>
          </a:p>
        </p:txBody>
      </p:sp>
      <p:pic>
        <p:nvPicPr>
          <p:cNvPr id="21" name="Image 3" descr="/home/claude/flaskppt/icons/arrowdown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2" y="4206240"/>
            <a:ext cx="219456" cy="21945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766560" y="4352544"/>
            <a:ext cx="4572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949440" y="4530852"/>
            <a:ext cx="512064" cy="512064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24" name="Image 4" descr="/home/claude/flaskppt/icons/serv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335" y="4653747"/>
            <a:ext cx="266273" cy="26627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635240" y="4462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(Flask)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635240" y="47914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logic, queries data</a:t>
            </a:r>
            <a:endParaRPr lang="en-US" sz="1050" dirty="0"/>
          </a:p>
        </p:txBody>
      </p:sp>
      <p:pic>
        <p:nvPicPr>
          <p:cNvPr id="27" name="Image 5" descr="/home/claude/flaskppt/icons/arrowdown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2" y="5239512"/>
            <a:ext cx="219456" cy="21945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766560" y="5385816"/>
            <a:ext cx="4572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949440" y="556412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6" descr="/home/claude/flaskppt/icons/cod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2335" y="5687019"/>
            <a:ext cx="266273" cy="26627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635240" y="54955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(HTML)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7635240" y="5824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back in the browser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Fundamentals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vs Backend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halves of every web application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17236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5317236" cy="77724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8366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flaskppt/icons/lap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2004365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20240"/>
            <a:ext cx="3671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(Client-Side)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47685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structure and content of the page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styling, layout and visual design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directly inside the user's browser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what the user sees and interacts with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3076" y="1737360"/>
            <a:ext cx="5317236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23076" y="1737360"/>
            <a:ext cx="5317236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Shape 9"/>
          <p:cNvSpPr/>
          <p:nvPr/>
        </p:nvSpPr>
        <p:spPr>
          <a:xfrm>
            <a:off x="6597396" y="1883664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3" name="Image 1" descr="/home/claude/flaskppt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097" y="2004365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37476" y="1920240"/>
            <a:ext cx="4219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(Server-Side)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97396" y="2743200"/>
            <a:ext cx="47685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 — business logic and routing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persistent data storage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server, unseen by the user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data, logic, security and processing</a:t>
            </a:r>
            <a:endParaRPr lang="en-US" sz="1350" dirty="0"/>
          </a:p>
        </p:txBody>
      </p:sp>
      <p:pic>
        <p:nvPicPr>
          <p:cNvPr id="16" name="Image 2" descr="/home/claude/flaskppt/icons/arrowright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8172" y="337413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Module-Wise Content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hours across four progressive modules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50292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737360" y="1828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9768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57784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138160" y="1828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11091672" cy="86868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51460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737360" y="251460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5" name="Image 0" descr="/home/claude/flaskppt/icons/html5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061" y="2635301"/>
            <a:ext cx="261518" cy="26151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377440" y="23317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297680" y="23317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577840" y="23317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58000" y="23317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138160" y="23317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structured web pages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200400"/>
            <a:ext cx="1109167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822960" y="3383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737360" y="3383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1" descr="/home/claude/flaskppt/icons/css3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061" y="3503981"/>
            <a:ext cx="261518" cy="26151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377440" y="32004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4297680" y="320040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577840" y="320040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858000" y="320040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8138160" y="32004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Styled, responsive layouts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548640" y="4069080"/>
            <a:ext cx="11091672" cy="86868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32" name="Shape 28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3" name="Text 29"/>
          <p:cNvSpPr/>
          <p:nvPr/>
        </p:nvSpPr>
        <p:spPr>
          <a:xfrm>
            <a:off x="8229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1737360" y="425196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35" name="Image 2" descr="/home/claude/flaskppt/icons/pyth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8061" y="4372661"/>
            <a:ext cx="261518" cy="26151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2377440" y="40690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4297680" y="40690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5577840" y="40690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6858000" y="40690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8138160" y="4069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backend web apps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548640" y="4937760"/>
            <a:ext cx="1109167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7"/>
          <p:cNvSpPr/>
          <p:nvPr/>
        </p:nvSpPr>
        <p:spPr>
          <a:xfrm>
            <a:off x="822960" y="5120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3" name="Text 38"/>
          <p:cNvSpPr/>
          <p:nvPr/>
        </p:nvSpPr>
        <p:spPr>
          <a:xfrm>
            <a:off x="82296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44" name="Shape 39"/>
          <p:cNvSpPr/>
          <p:nvPr/>
        </p:nvSpPr>
        <p:spPr>
          <a:xfrm>
            <a:off x="1737360" y="5120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5" name="Image 3" descr="/home/claude/flaskppt/icons/datab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8061" y="5241341"/>
            <a:ext cx="261518" cy="26151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2377440" y="4937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</p:txBody>
      </p:sp>
      <p:sp>
        <p:nvSpPr>
          <p:cNvPr id="47" name="Text 41"/>
          <p:cNvSpPr/>
          <p:nvPr/>
        </p:nvSpPr>
        <p:spPr>
          <a:xfrm>
            <a:off x="4297680" y="49377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</a:t>
            </a:r>
            <a:endParaRPr lang="en-US" sz="1300" dirty="0"/>
          </a:p>
        </p:txBody>
      </p:sp>
      <p:sp>
        <p:nvSpPr>
          <p:cNvPr id="48" name="Text 42"/>
          <p:cNvSpPr/>
          <p:nvPr/>
        </p:nvSpPr>
        <p:spPr>
          <a:xfrm>
            <a:off x="5577840" y="49377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</a:t>
            </a:r>
            <a:endParaRPr lang="en-US" sz="1300" dirty="0"/>
          </a:p>
        </p:txBody>
      </p:sp>
      <p:sp>
        <p:nvSpPr>
          <p:cNvPr id="49" name="Text 43"/>
          <p:cNvSpPr/>
          <p:nvPr/>
        </p:nvSpPr>
        <p:spPr>
          <a:xfrm>
            <a:off x="6858000" y="49377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300" dirty="0"/>
          </a:p>
        </p:txBody>
      </p:sp>
      <p:sp>
        <p:nvSpPr>
          <p:cNvPr id="50" name="Text 44"/>
          <p:cNvSpPr/>
          <p:nvPr/>
        </p:nvSpPr>
        <p:spPr>
          <a:xfrm>
            <a:off x="8138160" y="49377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Database-integrated CRUD apps</a:t>
            </a:r>
            <a:endParaRPr lang="en-US" sz="1200" dirty="0"/>
          </a:p>
        </p:txBody>
      </p:sp>
      <p:sp>
        <p:nvSpPr>
          <p:cNvPr id="51" name="Text 4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03120"/>
            <a:ext cx="5486400" cy="5486400"/>
          </a:xfrm>
          <a:prstGeom prst="ellipse">
            <a:avLst/>
          </a:prstGeom>
          <a:solidFill>
            <a:srgbClr val="072A40"/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389120"/>
            <a:ext cx="5029200" cy="5029200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1005840" cy="1005840"/>
          </a:xfrm>
          <a:prstGeom prst="ellipse">
            <a:avLst/>
          </a:prstGeom>
          <a:solidFill>
            <a:srgbClr val="E44D26"/>
          </a:solidFill>
          <a:ln/>
        </p:spPr>
      </p:sp>
      <p:pic>
        <p:nvPicPr>
          <p:cNvPr id="6" name="Image 0" descr="/home/claude/flaskppt/icons/html5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62" y="1750162"/>
            <a:ext cx="523037" cy="5230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822960" y="28346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72A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926080" y="28346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72A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9260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0" y="28346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72A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Hrs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02920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22960" y="43891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&amp; Elements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309360" y="402336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0E4A6B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83680" y="4297680"/>
            <a:ext cx="548640" cy="548640"/>
          </a:xfrm>
          <a:prstGeom prst="ellipse">
            <a:avLst/>
          </a:prstGeom>
          <a:solidFill>
            <a:srgbClr val="072A40"/>
          </a:solidFill>
          <a:ln/>
        </p:spPr>
      </p:sp>
      <p:pic>
        <p:nvPicPr>
          <p:cNvPr id="21" name="Image 1" descr="/home/claude/flaskppt/icons/bulb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4" y="4429354"/>
            <a:ext cx="285293" cy="28529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0" y="43708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ACTIVITY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583680" y="4983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Web Pages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HTML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— Learning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Students will learn to: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6295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6" name="Image 0" descr="/home/claude/flaskppt/icons/sitema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24576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5740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a Web Page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HTML documents are organized from head to body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7356" y="1828800"/>
            <a:ext cx="536295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1676" y="2103120"/>
            <a:ext cx="594360" cy="5943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1" name="Image 1" descr="/home/claude/flaskppt/icons/cod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322" y="224576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28916" y="205740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Tags &amp; Elements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51676" y="278892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used to mark up content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6295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594360" cy="5943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6" name="Image 2" descr="/home/claude/flaskppt/icons/clipboar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39460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0624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Forms &amp; Tables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user input and displaying tabular data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77356" y="3977640"/>
            <a:ext cx="536295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1676" y="4251960"/>
            <a:ext cx="594360" cy="5943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1" name="Image 3" descr="/home/claude/flaskppt/icons/laptop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322" y="439460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28916" y="420624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Static Web Pages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51676" y="493776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Assembling complete, structured pages from scratch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HTML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HTML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HTML, and how does it fit into web development?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= HyperText Markup Language, the standard markup language for web pages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structure and content of a page using elements and tags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browser (Chrome, Edge, Firefox) parses HTML the same standardised way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together with CSS (style) and JavaScript (behaviour) to build the modern web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1737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DOCUMENT STRUCTURE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2103120"/>
            <a:ext cx="5303520" cy="3383280"/>
          </a:xfrm>
          <a:prstGeom prst="roundRect">
            <a:avLst>
              <a:gd name="adj" fmla="val 1622"/>
            </a:avLst>
          </a:prstGeom>
          <a:solidFill>
            <a:srgbClr val="1329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73952" y="223113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223113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6876288" y="223113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468880"/>
            <a:ext cx="4846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&lt;title&gt;My Website&lt;/title&gt;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&lt;h1&gt;Welcome&lt;/h1&gt;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HTML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HTML Tags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elements used to mark up content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760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 – &lt;h6&gt;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18288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Tags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023360" y="18288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section headings, from most (h1) to least (h6) important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596896"/>
            <a:ext cx="5760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9689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259689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Tag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23360" y="25968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 block of text as a paragraph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364992"/>
            <a:ext cx="5760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36499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&lt;a&gt;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336499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Tag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23360" y="33649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hyperlink to another page or resource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133088"/>
            <a:ext cx="5760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1330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&lt;img&gt;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0" y="413308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023360" y="41330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an image using a source (src) attribute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901184"/>
            <a:ext cx="5760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90118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 / &lt;ol&gt;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86000" y="490118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Tags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023360" y="490118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unordered (bulleted) or ordered (numbered) lists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75120" y="2103120"/>
            <a:ext cx="4937760" cy="1828800"/>
          </a:xfrm>
          <a:prstGeom prst="roundRect">
            <a:avLst>
              <a:gd name="adj" fmla="val 3000"/>
            </a:avLst>
          </a:prstGeom>
          <a:solidFill>
            <a:srgbClr val="1329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39712" y="223113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7" name="Shape 25"/>
          <p:cNvSpPr/>
          <p:nvPr/>
        </p:nvSpPr>
        <p:spPr>
          <a:xfrm>
            <a:off x="7040880" y="223113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8" name="Shape 26"/>
          <p:cNvSpPr/>
          <p:nvPr/>
        </p:nvSpPr>
        <p:spPr>
          <a:xfrm>
            <a:off x="7242048" y="223113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246888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&lt;h1&gt;Python Training&lt;/h1&gt;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&lt;p&gt;Welcome to HTML&lt;/p&gt;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href="#"&gt;Click Here&lt;/a&gt;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src="logo.png"&gt;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75120" y="4160520"/>
            <a:ext cx="4937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03720" y="4389120"/>
            <a:ext cx="457200" cy="45720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32" name="Image 0" descr="/home/claude/flaskppt/icons/bulb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4498848"/>
            <a:ext cx="237744" cy="237744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498080" y="44074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Tip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903720" y="48920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semantic heading order (h1 → h6) — it improves accessibility and SEO ranking.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HTML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Forms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user input on the web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ELEMENTS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60320" cy="594360"/>
          </a:xfrm>
          <a:prstGeom prst="roundRect">
            <a:avLst>
              <a:gd name="adj" fmla="val 9231"/>
            </a:avLst>
          </a:prstGeom>
          <a:solidFill>
            <a:srgbClr val="F5F8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267712"/>
            <a:ext cx="365760" cy="3657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7" name="Image 0" descr="/home/claude/flaskppt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" y="2355494"/>
            <a:ext cx="190195" cy="1901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Box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83280" y="2148840"/>
            <a:ext cx="2560320" cy="594360"/>
          </a:xfrm>
          <a:prstGeom prst="roundRect">
            <a:avLst>
              <a:gd name="adj" fmla="val 9231"/>
            </a:avLst>
          </a:prstGeom>
          <a:solidFill>
            <a:srgbClr val="F5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3520440" y="2267712"/>
            <a:ext cx="365760" cy="3657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1" name="Image 1" descr="/home/claude/flaskppt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222" y="2355494"/>
            <a:ext cx="190195" cy="1901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7640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Field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2926080"/>
            <a:ext cx="2560320" cy="594360"/>
          </a:xfrm>
          <a:prstGeom prst="roundRect">
            <a:avLst>
              <a:gd name="adj" fmla="val 9231"/>
            </a:avLst>
          </a:prstGeom>
          <a:solidFill>
            <a:srgbClr val="F5F8FA"/>
          </a:solidFill>
          <a:ln/>
        </p:spPr>
      </p:sp>
      <p:sp>
        <p:nvSpPr>
          <p:cNvPr id="14" name="Shape 10"/>
          <p:cNvSpPr/>
          <p:nvPr/>
        </p:nvSpPr>
        <p:spPr>
          <a:xfrm>
            <a:off x="685800" y="3044952"/>
            <a:ext cx="365760" cy="3657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5" name="Image 2" descr="/home/claude/flaskppt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" y="3132734"/>
            <a:ext cx="190195" cy="19019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2926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Button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383280" y="2926080"/>
            <a:ext cx="2560320" cy="594360"/>
          </a:xfrm>
          <a:prstGeom prst="roundRect">
            <a:avLst>
              <a:gd name="adj" fmla="val 9231"/>
            </a:avLst>
          </a:prstGeom>
          <a:solidFill>
            <a:srgbClr val="F5F8FA"/>
          </a:solidFill>
          <a:ln/>
        </p:spPr>
      </p:sp>
      <p:sp>
        <p:nvSpPr>
          <p:cNvPr id="18" name="Shape 13"/>
          <p:cNvSpPr/>
          <p:nvPr/>
        </p:nvSpPr>
        <p:spPr>
          <a:xfrm>
            <a:off x="3520440" y="3044952"/>
            <a:ext cx="365760" cy="3657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9" name="Image 3" descr="/home/claude/flaskppt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222" y="3132734"/>
            <a:ext cx="190195" cy="19019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77640" y="2926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3703320"/>
            <a:ext cx="2560320" cy="594360"/>
          </a:xfrm>
          <a:prstGeom prst="roundRect">
            <a:avLst>
              <a:gd name="adj" fmla="val 9231"/>
            </a:avLst>
          </a:prstGeom>
          <a:solidFill>
            <a:srgbClr val="F5F8FA"/>
          </a:solidFill>
          <a:ln/>
        </p:spPr>
      </p:sp>
      <p:sp>
        <p:nvSpPr>
          <p:cNvPr id="22" name="Shape 16"/>
          <p:cNvSpPr/>
          <p:nvPr/>
        </p:nvSpPr>
        <p:spPr>
          <a:xfrm>
            <a:off x="685800" y="3822192"/>
            <a:ext cx="365760" cy="3657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3" name="Image 4" descr="/home/claude/flaskppt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" y="3909974"/>
            <a:ext cx="190195" cy="19019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43000" y="3703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3383280" y="3703320"/>
            <a:ext cx="2560320" cy="594360"/>
          </a:xfrm>
          <a:prstGeom prst="roundRect">
            <a:avLst>
              <a:gd name="adj" fmla="val 9231"/>
            </a:avLst>
          </a:prstGeom>
          <a:solidFill>
            <a:srgbClr val="F5F8FA"/>
          </a:solidFill>
          <a:ln/>
        </p:spPr>
      </p:sp>
      <p:sp>
        <p:nvSpPr>
          <p:cNvPr id="26" name="Shape 19"/>
          <p:cNvSpPr/>
          <p:nvPr/>
        </p:nvSpPr>
        <p:spPr>
          <a:xfrm>
            <a:off x="3520440" y="3822192"/>
            <a:ext cx="365760" cy="3657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7" name="Image 5" descr="/home/claude/flaskppt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222" y="3909974"/>
            <a:ext cx="190195" cy="19019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977640" y="3703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Button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6309360" y="1737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REGISTRATION FORM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6309360" y="2103120"/>
            <a:ext cx="5303520" cy="2194560"/>
          </a:xfrm>
          <a:prstGeom prst="roundRect">
            <a:avLst>
              <a:gd name="adj" fmla="val 2500"/>
            </a:avLst>
          </a:prstGeom>
          <a:solidFill>
            <a:srgbClr val="1329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473952" y="223113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2" name="Shape 24"/>
          <p:cNvSpPr/>
          <p:nvPr/>
        </p:nvSpPr>
        <p:spPr>
          <a:xfrm>
            <a:off x="6675120" y="223113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3" name="Shape 25"/>
          <p:cNvSpPr/>
          <p:nvPr/>
        </p:nvSpPr>
        <p:spPr>
          <a:xfrm>
            <a:off x="6876288" y="223113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4" name="Text 26"/>
          <p:cNvSpPr/>
          <p:nvPr/>
        </p:nvSpPr>
        <p:spPr>
          <a:xfrm>
            <a:off x="6537960" y="246888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placeholder="Name"&gt;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type="password"&gt;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type="submit"&gt;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6309360" y="448056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E4EEF1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6537960" y="4617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Use Case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6537960" y="4937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Employee Registration Portal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HTML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Tables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Displaying tabular data on a web page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TAGS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488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194560" y="214884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overall table container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2608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94560" y="292608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 table row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7033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&lt;th&gt;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94560" y="370332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 bold, centred header cell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4805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194560" y="44805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 standard data cell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737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103120"/>
            <a:ext cx="5303520" cy="3383280"/>
          </a:xfrm>
          <a:prstGeom prst="roundRect">
            <a:avLst>
              <a:gd name="adj" fmla="val 1622"/>
            </a:avLst>
          </a:prstGeom>
          <a:solidFill>
            <a:srgbClr val="1329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73952" y="223113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6675120" y="223113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876288" y="223113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2468880"/>
            <a:ext cx="4846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&lt;th&gt;Name&lt;/th&gt;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&lt;th&gt;Course&lt;/th&gt;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&lt;td&gt;Asha&lt;/td&gt;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&lt;td&gt;Flask&lt;/td&gt;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HTML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— Practical Session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 · Live coding + independent practice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98598" cy="301752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32179" y="224028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/home/claude/flaskppt/icons/lap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771" y="24048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54680"/>
            <a:ext cx="21328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3474720"/>
            <a:ext cx="20413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Personal Profile Page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412998" y="1920240"/>
            <a:ext cx="2498598" cy="301752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6537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flaskppt/icons/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1129" y="24048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5878" y="3154680"/>
            <a:ext cx="21328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641598" y="3474720"/>
            <a:ext cx="20413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Student Registration Form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77356" y="1920240"/>
            <a:ext cx="2498598" cy="301752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60895" y="224028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6" name="Image 2" descr="/home/claude/flaskppt/icons/tab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5487" y="24048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60236" y="3154680"/>
            <a:ext cx="21328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505956" y="3474720"/>
            <a:ext cx="20413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Employee Information Table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9141714" y="1920240"/>
            <a:ext cx="2498598" cy="301752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25253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flaskppt/icons/sitema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9845" y="240487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4594" y="3154680"/>
            <a:ext cx="21328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4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370314" y="3474720"/>
            <a:ext cx="20413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Multi-Page Website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HTML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— Real-World Application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HTML into an industry context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0E4A6B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flaskppt/icons/briefc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24576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USE CASE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Employee Registration Portal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0E4A6B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103120"/>
            <a:ext cx="594360" cy="594360"/>
          </a:xfrm>
          <a:prstGeom prst="ellipse">
            <a:avLst/>
          </a:prstGeom>
          <a:solidFill>
            <a:srgbClr val="072A40"/>
          </a:solidFill>
          <a:ln/>
        </p:spPr>
      </p:sp>
      <p:pic>
        <p:nvPicPr>
          <p:cNvPr id="11" name="Image 1" descr="/home/claude/flaskppt/icons/bulb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326" y="224576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583680" y="2743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College Admission Form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434840"/>
            <a:ext cx="640080" cy="64008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6" name="Image 2" descr="/home/claude/flaskppt/icons/check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299" y="45884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OUTCOME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737360" y="484632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create structured, multi-page web pages using HTML — including forms and tables — ready to be styled in Module 2.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HTML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03120"/>
            <a:ext cx="5486400" cy="5486400"/>
          </a:xfrm>
          <a:prstGeom prst="ellipse">
            <a:avLst/>
          </a:prstGeom>
          <a:solidFill>
            <a:srgbClr val="072A40"/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389120"/>
            <a:ext cx="5029200" cy="5029200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1005840" cy="100584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6" name="Image 0" descr="/home/claude/flaskppt/icons/css3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62" y="1750162"/>
            <a:ext cx="523037" cy="5230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822960" y="28346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72A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926080" y="28346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72A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9260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0" y="28346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72A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02920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22960" y="43891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Basics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309360" y="402336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0E4A6B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83680" y="4297680"/>
            <a:ext cx="548640" cy="548640"/>
          </a:xfrm>
          <a:prstGeom prst="ellipse">
            <a:avLst/>
          </a:prstGeom>
          <a:solidFill>
            <a:srgbClr val="072A40"/>
          </a:solidFill>
          <a:ln/>
        </p:spPr>
      </p:sp>
      <p:pic>
        <p:nvPicPr>
          <p:cNvPr id="21" name="Image 1" descr="/home/claude/flaskppt/icons/bulb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4" y="4429354"/>
            <a:ext cx="285293" cy="28529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0" y="43708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ACTIVITY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583680" y="4983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Web Pages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CSS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— Learning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· Students will learn: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6295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6" name="Image 0" descr="/home/claude/flaskppt/icons/css3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24576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5740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Web Pages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colour, typography and visual polish to raw HTML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7356" y="1828800"/>
            <a:ext cx="536295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1676" y="2103120"/>
            <a:ext cx="594360" cy="5943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1" name="Image 1" descr="/home/claude/flaskppt/icons/layer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322" y="224576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28916" y="205740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Creation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51676" y="278892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page regions with the Box Model and Flexbox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6295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594360" cy="5943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6" name="Image 2" descr="/home/claude/flaskppt/icons/laptop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39460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0624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Basics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pages that adapt cleanly across screen sizes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77356" y="3977640"/>
            <a:ext cx="536295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1676" y="4251960"/>
            <a:ext cx="594360" cy="5943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1" name="Image 3" descr="/home/claude/flaskppt/icons/briefcas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322" y="439460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28916" y="420624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UI Development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51676" y="493776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interfaces that meet industry visual standards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CSS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CSS &amp; Selectors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CSS, and how to target the elements you style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CSS?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content (HTML) from presentation (CSS)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CSS — written inside a &lt;style&gt; tag in the page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CSS — a separate .css file linked to many pages (industry standard)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CSS — applied directly on a single element via style=""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SELECTORS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8920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Element, Class (.name), ID (#name), and Universal (*) selectors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09360" y="1737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5303520" cy="4114800"/>
          </a:xfrm>
          <a:prstGeom prst="roundRect">
            <a:avLst>
              <a:gd name="adj" fmla="val 1333"/>
            </a:avLst>
          </a:prstGeom>
          <a:solidFill>
            <a:srgbClr val="1329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23113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223113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876288" y="223113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468880"/>
            <a:ext cx="48463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blue;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16px;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#header {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#0B3D5C;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CSS Box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is a box: content, padding, border and margin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— transparent space outside the border, separating elements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— the visible edge that wraps the padding and content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— space between the border and the actual content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— the text, image or element itself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1737360"/>
            <a:ext cx="4754880" cy="237744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7" name="Text 5"/>
          <p:cNvSpPr/>
          <p:nvPr/>
        </p:nvSpPr>
        <p:spPr>
          <a:xfrm>
            <a:off x="681228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95160" y="2057400"/>
            <a:ext cx="4114800" cy="196596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0" y="2377440"/>
            <a:ext cx="3474720" cy="1554480"/>
          </a:xfrm>
          <a:prstGeom prst="rect">
            <a:avLst/>
          </a:prstGeom>
          <a:solidFill>
            <a:srgbClr val="8FD3C7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2697480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2697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Flexbox Layout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way to arrange elements in a row or column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flex — turns a container into a flexible layout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 — aligns items along the main axis (row)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align-items — aligns items along the cross axis (column)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1329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460857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60857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460857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8463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center;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737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FLEX ROW IN ACTION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10312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5F8FA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37960" y="242316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0B3D5C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42316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26680" y="242316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726680" y="242316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15400" y="242316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0B3D5C"/>
          </a:solidFill>
          <a:ln/>
        </p:spPr>
      </p:sp>
      <p:sp>
        <p:nvSpPr>
          <p:cNvPr id="19" name="Text 17"/>
          <p:cNvSpPr/>
          <p:nvPr/>
        </p:nvSpPr>
        <p:spPr>
          <a:xfrm>
            <a:off x="8915400" y="242316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104120" y="242316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04120" y="242316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9360" y="3520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justify-content: center  →  items centred with equal spacing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411480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E4EEF1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37960" y="4251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Use Case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4572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Landing Page Design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37960" y="50749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powers responsive navigation bars, product card grids and centred hero sections used across production landing pages.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— Practical Session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· Applying styles to real page elements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5338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09572" y="224028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/home/claude/flaskppt/icons/css3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164" y="24048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54680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3474720"/>
            <a:ext cx="2996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HTML Form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67784" y="1920240"/>
            <a:ext cx="345338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28716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flaskppt/icons/lay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308" y="24048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0664" y="3154680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96384" y="3474720"/>
            <a:ext cx="2996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Navigation Menu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86928" y="1920240"/>
            <a:ext cx="345338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47860" y="224028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6" name="Image 2" descr="/home/claude/flaskppt/icons/tab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2452" y="24048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9808" y="3154680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415528" y="3474720"/>
            <a:ext cx="2996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Product Card Layout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6177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846320"/>
            <a:ext cx="548640" cy="54864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1" name="Image 3" descr="/home/claude/flaskppt/icons/bulb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634" y="497799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892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Activity — Build a Professional Portfolio Page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554480" y="53492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Students can create attractive, responsive web pages.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CSS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03120"/>
            <a:ext cx="5486400" cy="5486400"/>
          </a:xfrm>
          <a:prstGeom prst="ellipse">
            <a:avLst/>
          </a:prstGeom>
          <a:solidFill>
            <a:srgbClr val="072A40"/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389120"/>
            <a:ext cx="5029200" cy="5029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1005840" cy="10058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/home/claude/flaskppt/icons/pyth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62" y="1750162"/>
            <a:ext cx="523037" cy="5230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822960" y="28346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72A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926080" y="28346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72A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9260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0" y="28346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72A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02920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22960" y="43891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Framework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309360" y="402336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0E4A6B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83680" y="4297680"/>
            <a:ext cx="548640" cy="548640"/>
          </a:xfrm>
          <a:prstGeom prst="ellipse">
            <a:avLst/>
          </a:prstGeom>
          <a:solidFill>
            <a:srgbClr val="072A40"/>
          </a:solidFill>
          <a:ln/>
        </p:spPr>
      </p:sp>
      <p:pic>
        <p:nvPicPr>
          <p:cNvPr id="21" name="Image 1" descr="/home/claude/flaskppt/icons/bulb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4" y="4429354"/>
            <a:ext cx="285293" cy="28529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0" y="43708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ACTIVITY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583680" y="4983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Development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Flask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— Learning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Students will learn: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6295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6" name="Image 0" descr="/home/claude/flaskppt/icons/serv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24576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5740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Python code that powers a live web application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7356" y="1828800"/>
            <a:ext cx="536295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1676" y="2103120"/>
            <a:ext cx="594360" cy="5943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1" name="Image 1" descr="/home/claude/flaskppt/icons/networ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322" y="224576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28916" y="205740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Routing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51676" y="278892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web addresses to specific Python functions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6295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594360" cy="5943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6" name="Image 2" descr="/home/claude/flaskppt/icons/laptop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39460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0624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Web Pages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pages whose content changes with data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77356" y="3977640"/>
            <a:ext cx="536295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1676" y="4251960"/>
            <a:ext cx="594360" cy="5943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1" name="Image 3" descr="/home/claude/flaskppt/icons/sitemap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322" y="439460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28916" y="420624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Architecture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51676" y="493776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requests flow through a Flask app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Flask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Flask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Python web framework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FLASK?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 web framework written in Python — minimal, unopinionated, extensible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URL routing, requests/responses, and template rendering out of the box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for APIs, dashboards and small-to-medium production applications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VS DJANGO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526280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E4EEF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5262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4526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Micro-framework, flexible, minimal setup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5212080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F5F8F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2120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5212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Full-featured, batteries-included, more opinionated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09360" y="1737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APPLICATION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5303520" cy="4114800"/>
          </a:xfrm>
          <a:prstGeom prst="roundRect">
            <a:avLst>
              <a:gd name="adj" fmla="val 1333"/>
            </a:avLst>
          </a:prstGeom>
          <a:solidFill>
            <a:srgbClr val="1329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223113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4"/>
          <p:cNvSpPr/>
          <p:nvPr/>
        </p:nvSpPr>
        <p:spPr>
          <a:xfrm>
            <a:off x="6675120" y="223113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876288" y="223113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468880"/>
            <a:ext cx="48463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flask import Flask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Flask(__name__)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@app.route('/')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home():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"Welcome"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'__main__':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app.run(debug=True)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Flask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flows through a Flask application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98878" cy="3291840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28039" y="2377440"/>
            <a:ext cx="640080" cy="64008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/home/claude/flaskppt/icons/lap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658" y="25310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00400"/>
            <a:ext cx="1724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16331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visits a URL</a:t>
            </a:r>
            <a:endParaRPr lang="en-US" sz="1050" dirty="0"/>
          </a:p>
        </p:txBody>
      </p:sp>
      <p:pic>
        <p:nvPicPr>
          <p:cNvPr id="9" name="Image 1" descr="/home/claude/flaskppt/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5806" y="3520440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21838" y="2103120"/>
            <a:ext cx="1998878" cy="3291840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501238" y="2377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/home/claude/flaskppt/icons/networ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4857" y="253105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58998" y="3200400"/>
            <a:ext cx="1724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3004718" y="3703320"/>
            <a:ext cx="16331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@app.route() matches the URL to a function</a:t>
            </a:r>
            <a:endParaRPr lang="en-US" sz="1050" dirty="0"/>
          </a:p>
        </p:txBody>
      </p:sp>
      <p:pic>
        <p:nvPicPr>
          <p:cNvPr id="15" name="Image 3" descr="/home/claude/flaskppt/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005" y="3520440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095037" y="2103120"/>
            <a:ext cx="1998878" cy="3291840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774436" y="2377440"/>
            <a:ext cx="640080" cy="64008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8" name="Image 4" descr="/home/claude/flaskppt/icons/cog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8055" y="2531059"/>
            <a:ext cx="332842" cy="33284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32197" y="3200400"/>
            <a:ext cx="1724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5277917" y="3703320"/>
            <a:ext cx="16331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 runs — validation, queries, calculations</a:t>
            </a:r>
            <a:endParaRPr lang="en-US" sz="1050" dirty="0"/>
          </a:p>
        </p:txBody>
      </p:sp>
      <p:pic>
        <p:nvPicPr>
          <p:cNvPr id="21" name="Image 5" descr="/home/claude/flaskppt/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203" y="3520440"/>
            <a:ext cx="237744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368235" y="2103120"/>
            <a:ext cx="1998878" cy="3291840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8047634" y="2377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6" descr="/home/claude/flaskppt/icons/cod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1254" y="2531059"/>
            <a:ext cx="332842" cy="33284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505395" y="3200400"/>
            <a:ext cx="1724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7551115" y="3703320"/>
            <a:ext cx="16331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renders dynamic HTML with the result</a:t>
            </a:r>
            <a:endParaRPr lang="en-US" sz="1050" dirty="0"/>
          </a:p>
        </p:txBody>
      </p:sp>
      <p:pic>
        <p:nvPicPr>
          <p:cNvPr id="27" name="Image 7" descr="/home/claude/flaskppt/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402" y="3520440"/>
            <a:ext cx="237744" cy="23774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641434" y="2103120"/>
            <a:ext cx="1998878" cy="3291840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10320833" y="2377440"/>
            <a:ext cx="640080" cy="64008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30" name="Image 8" descr="/home/claude/flaskppt/icons/arrowrigh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4452" y="2531059"/>
            <a:ext cx="332842" cy="33284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778594" y="3200400"/>
            <a:ext cx="1724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50" dirty="0"/>
          </a:p>
        </p:txBody>
      </p:sp>
      <p:sp>
        <p:nvSpPr>
          <p:cNvPr id="32" name="Text 21"/>
          <p:cNvSpPr/>
          <p:nvPr/>
        </p:nvSpPr>
        <p:spPr>
          <a:xfrm>
            <a:off x="9824314" y="3703320"/>
            <a:ext cx="16331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page is sent back to the browser</a:t>
            </a:r>
            <a:endParaRPr lang="en-US" sz="1050" dirty="0"/>
          </a:p>
        </p:txBody>
      </p:sp>
      <p:sp>
        <p:nvSpPr>
          <p:cNvPr id="33" name="Text 2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4" name="Text 23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Flask</a:t>
            </a:r>
            <a:endParaRPr lang="en-US" sz="900" dirty="0"/>
          </a:p>
        </p:txBody>
      </p:sp>
      <p:sp>
        <p:nvSpPr>
          <p:cNvPr id="35" name="Text 24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in Flask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URLs to Python functions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Mapping — each @app.route() decorator binds a URL path to a view function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Method — retrieves and displays data (the default method)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Method — submits data from a form to the server for processing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segments like /student/&lt;id&gt; let one route handle many URLs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1737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MULTIPLE ROUTES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2103120"/>
            <a:ext cx="5303520" cy="4114800"/>
          </a:xfrm>
          <a:prstGeom prst="roundRect">
            <a:avLst>
              <a:gd name="adj" fmla="val 1333"/>
            </a:avLst>
          </a:prstGeom>
          <a:solidFill>
            <a:srgbClr val="1329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73952" y="223113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223113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6876288" y="223113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468880"/>
            <a:ext cx="48463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@app.route('/')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home():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"Home Page"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@app.route('/about')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about():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"About Us"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@app.route('/login', methods=['GET','POST'])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login():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"Login Page"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Flask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 with Jinja2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dynamic data inside HTML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is Flask's built-in templating engine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variable }} syntax injects Python data straight into HTML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loops ({% for %}) and conditionals ({% if %}) inside templates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presentation (HTML) cleanly separated from logic (Python)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1737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2103120"/>
            <a:ext cx="2468880" cy="2011680"/>
          </a:xfrm>
          <a:prstGeom prst="roundRect">
            <a:avLst>
              <a:gd name="adj" fmla="val 2727"/>
            </a:avLst>
          </a:prstGeom>
          <a:solidFill>
            <a:srgbClr val="1329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73952" y="223113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223113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6876288" y="223113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468880"/>
            <a:ext cx="2011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@app.route('/')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home():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render_template(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'index.html',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name='Asha')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006840" y="17373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(INDEX.HTML)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210312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1329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71432" y="223113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372600" y="223113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9573768" y="223113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246888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Hello,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 name }}!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434340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4480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Use Case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4800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Information Portal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5257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render each employee's live details on one reusable page.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Flask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— Practical Session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· Building and running real Flask applications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53384" cy="2194560"/>
          </a:xfrm>
          <a:prstGeom prst="roundRect">
            <a:avLst>
              <a:gd name="adj" fmla="val 3333"/>
            </a:avLst>
          </a:prstGeom>
          <a:solidFill>
            <a:srgbClr val="F5F8FA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09572" y="210312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/home/claude/flaskppt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164" y="22677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17520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3337560"/>
            <a:ext cx="299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Flask App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67784" y="1828800"/>
            <a:ext cx="3453384" cy="2194560"/>
          </a:xfrm>
          <a:prstGeom prst="roundRect">
            <a:avLst>
              <a:gd name="adj" fmla="val 3333"/>
            </a:avLst>
          </a:prstGeom>
          <a:solidFill>
            <a:srgbClr val="F5F8FA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28716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flaskppt/icons/networ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308" y="226771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0664" y="3017520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96384" y="3337560"/>
            <a:ext cx="299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Multiple Routes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86928" y="1828800"/>
            <a:ext cx="3453384" cy="2194560"/>
          </a:xfrm>
          <a:prstGeom prst="roundRect">
            <a:avLst>
              <a:gd name="adj" fmla="val 3333"/>
            </a:avLst>
          </a:prstGeom>
          <a:solidFill>
            <a:srgbClr val="F5F8FA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47860" y="210312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6" name="Image 2" descr="/home/claude/flaskppt/icons/cod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2452" y="226771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9808" y="3017520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415528" y="3337560"/>
            <a:ext cx="299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Data to Templates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251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4EEF1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389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flaskppt/icons/bulb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41" y="450982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3891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Activity: Create Student Management Web App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548640" y="53035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77240" y="5440680"/>
            <a:ext cx="457200" cy="45720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5" name="Image 4" descr="/home/claude/flaskppt/icons/check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555040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54406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Students can build dynamic web applications using Flask.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Flask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03120"/>
            <a:ext cx="5486400" cy="5486400"/>
          </a:xfrm>
          <a:prstGeom prst="ellipse">
            <a:avLst/>
          </a:prstGeom>
          <a:solidFill>
            <a:srgbClr val="072A40"/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389120"/>
            <a:ext cx="5029200" cy="5029200"/>
          </a:xfrm>
          <a:prstGeom prst="ellipse">
            <a:avLst/>
          </a:prstGeom>
          <a:solidFill>
            <a:srgbClr val="003B5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1005840" cy="1005840"/>
          </a:xfrm>
          <a:prstGeom prst="ellipse">
            <a:avLst/>
          </a:prstGeom>
          <a:solidFill>
            <a:srgbClr val="003B57"/>
          </a:solidFill>
          <a:ln/>
        </p:spPr>
      </p:sp>
      <p:pic>
        <p:nvPicPr>
          <p:cNvPr id="6" name="Image 0" descr="/home/claude/flaskppt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62" y="1750162"/>
            <a:ext cx="523037" cy="5230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Integration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822960" y="28346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72A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926080" y="28346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72A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9260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0" y="28346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72A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02920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22960" y="43891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Integration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309360" y="402336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0E4A6B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83680" y="4297680"/>
            <a:ext cx="548640" cy="548640"/>
          </a:xfrm>
          <a:prstGeom prst="ellipse">
            <a:avLst/>
          </a:prstGeom>
          <a:solidFill>
            <a:srgbClr val="072A40"/>
          </a:solidFill>
          <a:ln/>
        </p:spPr>
      </p:sp>
      <p:pic>
        <p:nvPicPr>
          <p:cNvPr id="21" name="Image 1" descr="/home/claude/flaskppt/icons/bulb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4" y="4429354"/>
            <a:ext cx="285293" cy="28529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0" y="43708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ACTIVITY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583680" y="4983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Application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SQLite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 — Learning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Students will learn: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6295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6" name="Image 0" descr="/home/claude/flaskppt/icons/databas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24576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5740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 Flask app to a persistent SQLite database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7356" y="1828800"/>
            <a:ext cx="536295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1676" y="2103120"/>
            <a:ext cx="594360" cy="5943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1" name="Image 1" descr="/home/claude/flaskppt/icons/server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322" y="224576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28916" y="205740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51676" y="278892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tables to hold structured application data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6295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594360" cy="5943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6" name="Image 2" descr="/home/claude/flaskppt/icons/cog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39460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0624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 and Delete records reliably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77356" y="3977640"/>
            <a:ext cx="536295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1676" y="4251960"/>
            <a:ext cx="594360" cy="5943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1" name="Image 3" descr="/home/claude/flaskppt/icons/briefcas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322" y="439460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28916" y="420624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Data Management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51676" y="493776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real data behind a production-style app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SQLite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SQLite &amp; CRUD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file-based relational database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SQLITE?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self-contained, serverless SQL database stored in a single file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zero configuration, fast, portable, ideal for learning and small apps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prototypes, mobile apps, small-to-medium web applications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526280"/>
            <a:ext cx="1143000" cy="1188720"/>
          </a:xfrm>
          <a:prstGeom prst="roundRect">
            <a:avLst>
              <a:gd name="adj" fmla="val 6400"/>
            </a:avLst>
          </a:prstGeom>
          <a:solidFill>
            <a:srgbClr val="0B3D5C"/>
          </a:solidFill>
          <a:ln/>
        </p:spPr>
      </p:sp>
      <p:pic>
        <p:nvPicPr>
          <p:cNvPr id="8" name="Image 0" descr="/home/claude/flaskppt/icons/plu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69087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51846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965960" y="4526280"/>
            <a:ext cx="1143000" cy="1188720"/>
          </a:xfrm>
          <a:prstGeom prst="roundRect">
            <a:avLst>
              <a:gd name="adj" fmla="val 6400"/>
            </a:avLst>
          </a:prstGeom>
          <a:solidFill>
            <a:srgbClr val="1C7293"/>
          </a:solidFill>
          <a:ln/>
        </p:spPr>
      </p:sp>
      <p:pic>
        <p:nvPicPr>
          <p:cNvPr id="11" name="Image 1" descr="/home/claude/flaskppt/icons/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580" y="469087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51846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383280" y="4526280"/>
            <a:ext cx="1143000" cy="1188720"/>
          </a:xfrm>
          <a:prstGeom prst="roundRect">
            <a:avLst>
              <a:gd name="adj" fmla="val 6400"/>
            </a:avLst>
          </a:prstGeom>
          <a:solidFill>
            <a:srgbClr val="0B3D5C"/>
          </a:solidFill>
          <a:ln/>
        </p:spPr>
      </p:sp>
      <p:pic>
        <p:nvPicPr>
          <p:cNvPr id="14" name="Image 2" descr="/home/claude/flaskppt/icons/edi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900" y="469087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83280" y="51846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800600" y="4526280"/>
            <a:ext cx="1143000" cy="1188720"/>
          </a:xfrm>
          <a:prstGeom prst="roundRect">
            <a:avLst>
              <a:gd name="adj" fmla="val 6400"/>
            </a:avLst>
          </a:prstGeom>
          <a:solidFill>
            <a:srgbClr val="1C7293"/>
          </a:solidFill>
          <a:ln/>
        </p:spPr>
      </p:sp>
      <p:pic>
        <p:nvPicPr>
          <p:cNvPr id="17" name="Image 3" descr="/home/claude/flaskppt/icons/tras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9220" y="469087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00600" y="51846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309360" y="1737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CODE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309360" y="2103120"/>
            <a:ext cx="5303520" cy="4114800"/>
          </a:xfrm>
          <a:prstGeom prst="roundRect">
            <a:avLst>
              <a:gd name="adj" fmla="val 1333"/>
            </a:avLst>
          </a:prstGeom>
          <a:solidFill>
            <a:srgbClr val="1329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73952" y="223113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16"/>
          <p:cNvSpPr/>
          <p:nvPr/>
        </p:nvSpPr>
        <p:spPr>
          <a:xfrm>
            <a:off x="6675120" y="223113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17"/>
          <p:cNvSpPr/>
          <p:nvPr/>
        </p:nvSpPr>
        <p:spPr>
          <a:xfrm>
            <a:off x="6876288" y="223113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18"/>
          <p:cNvSpPr/>
          <p:nvPr/>
        </p:nvSpPr>
        <p:spPr>
          <a:xfrm>
            <a:off x="6537960" y="2468880"/>
            <a:ext cx="48463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sqlite3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 = sqlite3.connect(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"student.db")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 = conn.cursor()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cur.execute(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"INSERT INTO students"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 VALUES (?, ?)",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(name, course))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conn.commit()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SQLite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user input to stored, retrievable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98878" cy="3291840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28039" y="2377440"/>
            <a:ext cx="640080" cy="64008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/home/claude/flaskppt/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658" y="25310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00400"/>
            <a:ext cx="1724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16331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registration data</a:t>
            </a:r>
            <a:endParaRPr lang="en-US" sz="1050" dirty="0"/>
          </a:p>
        </p:txBody>
      </p:sp>
      <p:pic>
        <p:nvPicPr>
          <p:cNvPr id="9" name="Image 1" descr="/home/claude/flaskppt/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5806" y="3520440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21838" y="2103120"/>
            <a:ext cx="1998878" cy="3291840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501238" y="2377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/home/claude/flaskppt/icons/networ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4857" y="253105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58998" y="3200400"/>
            <a:ext cx="1724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004718" y="3703320"/>
            <a:ext cx="16331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receives and validates the POST request</a:t>
            </a:r>
            <a:endParaRPr lang="en-US" sz="1050" dirty="0"/>
          </a:p>
        </p:txBody>
      </p:sp>
      <p:pic>
        <p:nvPicPr>
          <p:cNvPr id="15" name="Image 3" descr="/home/claude/flaskppt/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005" y="3520440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095037" y="2103120"/>
            <a:ext cx="1998878" cy="3291840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774436" y="2377440"/>
            <a:ext cx="640080" cy="64008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8" name="Image 4" descr="/home/claude/flaskppt/icons/datab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8055" y="2531059"/>
            <a:ext cx="332842" cy="33284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32197" y="3200400"/>
            <a:ext cx="1724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5277917" y="3703320"/>
            <a:ext cx="16331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written into the students table</a:t>
            </a:r>
            <a:endParaRPr lang="en-US" sz="1050" dirty="0"/>
          </a:p>
        </p:txBody>
      </p:sp>
      <p:pic>
        <p:nvPicPr>
          <p:cNvPr id="21" name="Image 5" descr="/home/claude/flaskppt/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203" y="3520440"/>
            <a:ext cx="237744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368235" y="2103120"/>
            <a:ext cx="1998878" cy="3291840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8047634" y="2377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6" descr="/home/claude/flaskppt/icons/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1254" y="2531059"/>
            <a:ext cx="332842" cy="33284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505395" y="3200400"/>
            <a:ext cx="1724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7551115" y="3703320"/>
            <a:ext cx="16331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is committed and persisted safely</a:t>
            </a:r>
            <a:endParaRPr lang="en-US" sz="1050" dirty="0"/>
          </a:p>
        </p:txBody>
      </p:sp>
      <p:pic>
        <p:nvPicPr>
          <p:cNvPr id="27" name="Image 7" descr="/home/claude/flaskppt/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402" y="3520440"/>
            <a:ext cx="237744" cy="23774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641434" y="2103120"/>
            <a:ext cx="1998878" cy="3291840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10320833" y="2377440"/>
            <a:ext cx="640080" cy="64008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30" name="Image 8" descr="/home/claude/flaskppt/icons/laptop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4452" y="2531059"/>
            <a:ext cx="332842" cy="33284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778594" y="3200400"/>
            <a:ext cx="1724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</a:t>
            </a:r>
            <a:endParaRPr lang="en-US" sz="1300" dirty="0"/>
          </a:p>
        </p:txBody>
      </p:sp>
      <p:sp>
        <p:nvSpPr>
          <p:cNvPr id="32" name="Text 21"/>
          <p:cNvSpPr/>
          <p:nvPr/>
        </p:nvSpPr>
        <p:spPr>
          <a:xfrm>
            <a:off x="9824314" y="3703320"/>
            <a:ext cx="16331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or record list rendered to the user</a:t>
            </a:r>
            <a:endParaRPr lang="en-US" sz="1050" dirty="0"/>
          </a:p>
        </p:txBody>
      </p:sp>
      <p:sp>
        <p:nvSpPr>
          <p:cNvPr id="33" name="Text 2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4" name="Text 23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SQLite</a:t>
            </a:r>
            <a:endParaRPr lang="en-US" sz="900" dirty="0"/>
          </a:p>
        </p:txBody>
      </p:sp>
      <p:sp>
        <p:nvSpPr>
          <p:cNvPr id="35" name="Text 24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 — Practical Session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Hours · Building a full CRUD-enabled application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98878" cy="1554480"/>
          </a:xfrm>
          <a:prstGeom prst="roundRect">
            <a:avLst>
              <a:gd name="adj" fmla="val 4706"/>
            </a:avLst>
          </a:prstGeom>
          <a:solidFill>
            <a:srgbClr val="F5F8FA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17245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17245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21838" y="1828800"/>
            <a:ext cx="1998878" cy="1554480"/>
          </a:xfrm>
          <a:prstGeom prst="roundRect">
            <a:avLst>
              <a:gd name="adj" fmla="val 4706"/>
            </a:avLst>
          </a:prstGeom>
          <a:solidFill>
            <a:srgbClr val="F5F8FA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58998" y="1965960"/>
            <a:ext cx="17245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58998" y="2286000"/>
            <a:ext cx="17245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Records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95037" y="1828800"/>
            <a:ext cx="1998878" cy="1554480"/>
          </a:xfrm>
          <a:prstGeom prst="roundRect">
            <a:avLst>
              <a:gd name="adj" fmla="val 4706"/>
            </a:avLst>
          </a:prstGeom>
          <a:solidFill>
            <a:srgbClr val="F5F8FA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32197" y="1965960"/>
            <a:ext cx="17245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32197" y="2286000"/>
            <a:ext cx="17245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Records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68235" y="1828800"/>
            <a:ext cx="1998878" cy="1554480"/>
          </a:xfrm>
          <a:prstGeom prst="roundRect">
            <a:avLst>
              <a:gd name="adj" fmla="val 4706"/>
            </a:avLst>
          </a:prstGeom>
          <a:solidFill>
            <a:srgbClr val="F5F8FA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05395" y="1965960"/>
            <a:ext cx="17245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05395" y="2286000"/>
            <a:ext cx="17245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Records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41434" y="1828800"/>
            <a:ext cx="1998878" cy="1554480"/>
          </a:xfrm>
          <a:prstGeom prst="roundRect">
            <a:avLst>
              <a:gd name="adj" fmla="val 4706"/>
            </a:avLst>
          </a:prstGeom>
          <a:solidFill>
            <a:srgbClr val="F5F8FA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78594" y="1965960"/>
            <a:ext cx="17245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778594" y="2286000"/>
            <a:ext cx="17245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Records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E4EEF1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Use Case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160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 System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Activity: Create Registration Application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5074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Student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Student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Student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Student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3657600"/>
            <a:ext cx="53035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37960" y="3886200"/>
            <a:ext cx="548640" cy="54864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6" name="Image 0" descr="/home/claude/flaskppt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634" y="4017874"/>
            <a:ext cx="285293" cy="285293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269480" y="3931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OUTCOME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537960" y="45262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connect Flask applications with databases and perform full CRUD operations — completing the core skillset for a real full-stack application.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SQLite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03120"/>
            <a:ext cx="5486400" cy="5486400"/>
          </a:xfrm>
          <a:prstGeom prst="ellipse">
            <a:avLst/>
          </a:prstGeom>
          <a:solidFill>
            <a:srgbClr val="072A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Capstone Project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 Management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072A40"/>
          </a:solidFill>
          <a:ln/>
        </p:spPr>
      </p:sp>
      <p:pic>
        <p:nvPicPr>
          <p:cNvPr id="6" name="Image 0" descr="/home/claude/flaskppt/icons/rocket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19824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E4A6B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9" name="Image 1" descr="/home/claude/flaskppt/icons/html5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33472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1920240" y="246888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E4A6B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2" name="Image 2" descr="/home/claude/flaskppt/icons/css3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0280" y="2633472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20240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291840" y="246888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E4A6B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5" name="Image 3" descr="/home/claude/flaskppt/icons/pytho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2633472"/>
            <a:ext cx="548640" cy="5486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291840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663440" y="246888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E4A6B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8" name="Image 4" descr="/home/claude/flaskppt/icons/databa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2633472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663440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54864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548640" y="43434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 &amp; Login Page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Add / View / Edit / Delete Records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Functionality across student records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6492240" y="182880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0E4A6B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676656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766560" y="246888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25" name="Shape 18"/>
          <p:cNvSpPr/>
          <p:nvPr/>
        </p:nvSpPr>
        <p:spPr>
          <a:xfrm>
            <a:off x="6949440" y="2633472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26" name="Image 5" descr="/home/claude/flaskppt/icons/html5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114" y="2765146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680960" y="2468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(HTML + CSS)</a:t>
            </a:r>
            <a:endParaRPr lang="en-US" sz="1400" dirty="0"/>
          </a:p>
        </p:txBody>
      </p:sp>
      <p:pic>
        <p:nvPicPr>
          <p:cNvPr id="28" name="Image 6" descr="/home/claude/flaskppt/icons/arrowdown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3688" y="3355848"/>
            <a:ext cx="237744" cy="237744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6766560" y="361188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30" name="Shape 21"/>
          <p:cNvSpPr/>
          <p:nvPr/>
        </p:nvSpPr>
        <p:spPr>
          <a:xfrm>
            <a:off x="6949440" y="37764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7" descr="/home/claude/flaskppt/icons/pytho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1114" y="3908146"/>
            <a:ext cx="285293" cy="28529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680960" y="3611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400" dirty="0"/>
          </a:p>
        </p:txBody>
      </p:sp>
      <p:pic>
        <p:nvPicPr>
          <p:cNvPr id="33" name="Image 8" descr="/home/claude/flaskppt/icons/arrowdown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3688" y="4498848"/>
            <a:ext cx="237744" cy="237744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6766560" y="475488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35" name="Shape 24"/>
          <p:cNvSpPr/>
          <p:nvPr/>
        </p:nvSpPr>
        <p:spPr>
          <a:xfrm>
            <a:off x="6949440" y="4919472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36" name="Image 9" descr="/home/claude/flaskppt/icons/databa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1114" y="5051146"/>
            <a:ext cx="285293" cy="285293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680960" y="4754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400" dirty="0"/>
          </a:p>
        </p:txBody>
      </p:sp>
      <p:sp>
        <p:nvSpPr>
          <p:cNvPr id="38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9" name="Text 27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900" dirty="0"/>
          </a:p>
        </p:txBody>
      </p:sp>
      <p:sp>
        <p:nvSpPr>
          <p:cNvPr id="40" name="Text 28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Preparation — HTML &amp; CSS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questions to build placement-ready confidence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QUESTIONS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5F8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203704"/>
            <a:ext cx="420624" cy="420624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7" name="Image 0" descr="/home/claude/flaskppt/icons/quest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70" y="2304654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10312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HTML?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5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980944"/>
            <a:ext cx="420624" cy="420624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1" name="Image 1" descr="/home/claude/flaskppt/icons/quest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70" y="3081894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88036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&lt;div&gt; and &lt;span&gt;?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65760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5F8FA"/>
          </a:solidFill>
          <a:ln/>
        </p:spPr>
      </p:sp>
      <p:sp>
        <p:nvSpPr>
          <p:cNvPr id="14" name="Shape 10"/>
          <p:cNvSpPr/>
          <p:nvPr/>
        </p:nvSpPr>
        <p:spPr>
          <a:xfrm>
            <a:off x="731520" y="3758184"/>
            <a:ext cx="420624" cy="420624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5" name="Image 2" descr="/home/claude/flaskppt/icons/quest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70" y="3859134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65760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forms and tables in HTML.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309360" y="1737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QUESTIONS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309360" y="2103120"/>
            <a:ext cx="5303520" cy="621792"/>
          </a:xfrm>
          <a:prstGeom prst="roundRect">
            <a:avLst>
              <a:gd name="adj" fmla="val 8824"/>
            </a:avLst>
          </a:prstGeom>
          <a:solidFill>
            <a:srgbClr val="F5F8FA"/>
          </a:solidFill>
          <a:ln/>
        </p:spPr>
      </p:sp>
      <p:sp>
        <p:nvSpPr>
          <p:cNvPr id="19" name="Shape 14"/>
          <p:cNvSpPr/>
          <p:nvPr/>
        </p:nvSpPr>
        <p:spPr>
          <a:xfrm>
            <a:off x="6492240" y="2203704"/>
            <a:ext cx="420624" cy="420624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0" name="Image 3" descr="/home/claude/flaskppt/icons/quest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190" y="2304654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40880" y="210312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Flexbox?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309360" y="2880360"/>
            <a:ext cx="5303520" cy="621792"/>
          </a:xfrm>
          <a:prstGeom prst="roundRect">
            <a:avLst>
              <a:gd name="adj" fmla="val 8824"/>
            </a:avLst>
          </a:prstGeom>
          <a:solidFill>
            <a:srgbClr val="F5F8FA"/>
          </a:solidFill>
          <a:ln/>
        </p:spPr>
      </p:sp>
      <p:sp>
        <p:nvSpPr>
          <p:cNvPr id="23" name="Shape 17"/>
          <p:cNvSpPr/>
          <p:nvPr/>
        </p:nvSpPr>
        <p:spPr>
          <a:xfrm>
            <a:off x="6492240" y="2980944"/>
            <a:ext cx="420624" cy="420624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4" name="Image 4" descr="/home/claude/flaskppt/icons/quest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190" y="3081894"/>
            <a:ext cx="218724" cy="21872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040880" y="288036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Box Model.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309360" y="3657600"/>
            <a:ext cx="5303520" cy="621792"/>
          </a:xfrm>
          <a:prstGeom prst="roundRect">
            <a:avLst>
              <a:gd name="adj" fmla="val 8824"/>
            </a:avLst>
          </a:prstGeom>
          <a:solidFill>
            <a:srgbClr val="F5F8FA"/>
          </a:solidFill>
          <a:ln/>
        </p:spPr>
      </p:sp>
      <p:sp>
        <p:nvSpPr>
          <p:cNvPr id="27" name="Shape 20"/>
          <p:cNvSpPr/>
          <p:nvPr/>
        </p:nvSpPr>
        <p:spPr>
          <a:xfrm>
            <a:off x="6492240" y="3758184"/>
            <a:ext cx="420624" cy="420624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8" name="Image 5" descr="/home/claude/flaskppt/icons/quest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190" y="3859134"/>
            <a:ext cx="218724" cy="21872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040880" y="365760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Class and ID?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0B3D5C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E4A6B"/>
          </a:solidFill>
          <a:ln/>
        </p:spPr>
      </p:sp>
      <p:pic>
        <p:nvPicPr>
          <p:cNvPr id="32" name="Image 6" descr="/home/claude/flaskppt/icons/bulb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943246"/>
            <a:ext cx="309067" cy="309067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600200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Tip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1600200" y="51663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explaining concepts out loud in under 60 seconds — interviewers value clarity as much as correctness.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Preparation — Flask &amp; SQLite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and database questions frequently asked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QUESTIONS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5F8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203704"/>
            <a:ext cx="420624" cy="420624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7" name="Image 0" descr="/home/claude/flaskppt/icons/quest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70" y="2304654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10312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Flask?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5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980944"/>
            <a:ext cx="420624" cy="420624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1" name="Image 1" descr="/home/claude/flaskppt/icons/quest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70" y="3081894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88036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Routing?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65760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5F8FA"/>
          </a:solidFill>
          <a:ln/>
        </p:spPr>
      </p:sp>
      <p:sp>
        <p:nvSpPr>
          <p:cNvPr id="14" name="Shape 10"/>
          <p:cNvSpPr/>
          <p:nvPr/>
        </p:nvSpPr>
        <p:spPr>
          <a:xfrm>
            <a:off x="731520" y="3758184"/>
            <a:ext cx="420624" cy="420624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5" name="Image 2" descr="/home/claude/flaskppt/icons/quest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70" y="3859134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65760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Templates?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309360" y="1737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QUESTIONS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309360" y="2103120"/>
            <a:ext cx="5303520" cy="621792"/>
          </a:xfrm>
          <a:prstGeom prst="roundRect">
            <a:avLst>
              <a:gd name="adj" fmla="val 8824"/>
            </a:avLst>
          </a:prstGeom>
          <a:solidFill>
            <a:srgbClr val="F5F8FA"/>
          </a:solidFill>
          <a:ln/>
        </p:spPr>
      </p:sp>
      <p:sp>
        <p:nvSpPr>
          <p:cNvPr id="19" name="Shape 14"/>
          <p:cNvSpPr/>
          <p:nvPr/>
        </p:nvSpPr>
        <p:spPr>
          <a:xfrm>
            <a:off x="6492240" y="2203704"/>
            <a:ext cx="420624" cy="420624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0" name="Image 3" descr="/home/claude/flaskppt/icons/quest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190" y="2304654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40880" y="210312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SQLite?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309360" y="2880360"/>
            <a:ext cx="5303520" cy="621792"/>
          </a:xfrm>
          <a:prstGeom prst="roundRect">
            <a:avLst>
              <a:gd name="adj" fmla="val 8824"/>
            </a:avLst>
          </a:prstGeom>
          <a:solidFill>
            <a:srgbClr val="F5F8FA"/>
          </a:solidFill>
          <a:ln/>
        </p:spPr>
      </p:sp>
      <p:sp>
        <p:nvSpPr>
          <p:cNvPr id="23" name="Shape 17"/>
          <p:cNvSpPr/>
          <p:nvPr/>
        </p:nvSpPr>
        <p:spPr>
          <a:xfrm>
            <a:off x="6492240" y="2980944"/>
            <a:ext cx="420624" cy="420624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4" name="Image 4" descr="/home/claude/flaskppt/icons/quest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190" y="3081894"/>
            <a:ext cx="218724" cy="21872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040880" y="288036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CRUD Operations.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309360" y="3657600"/>
            <a:ext cx="5303520" cy="621792"/>
          </a:xfrm>
          <a:prstGeom prst="roundRect">
            <a:avLst>
              <a:gd name="adj" fmla="val 8824"/>
            </a:avLst>
          </a:prstGeom>
          <a:solidFill>
            <a:srgbClr val="F5F8FA"/>
          </a:solidFill>
          <a:ln/>
        </p:spPr>
      </p:sp>
      <p:sp>
        <p:nvSpPr>
          <p:cNvPr id="27" name="Shape 20"/>
          <p:cNvSpPr/>
          <p:nvPr/>
        </p:nvSpPr>
        <p:spPr>
          <a:xfrm>
            <a:off x="6492240" y="3758184"/>
            <a:ext cx="420624" cy="420624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8" name="Image 5" descr="/home/claude/flaskppt/icons/quest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190" y="3859134"/>
            <a:ext cx="218724" cy="21872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040880" y="365760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Flask connect to SQLite?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E4EEF1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6" descr="/home/claude/flaskppt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943246"/>
            <a:ext cx="309067" cy="309067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600200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Tip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1600200" y="51663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write a short CRUD snippet on a whiteboard — interviewers often ask for live code, not just theory.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Preparation — Scenario-Based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questions that test full-stack thinking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53384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594360" cy="5943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6" name="Image 0" descr="/home/claude/flaskppt/icons/sitema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33720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Registration System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2904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HTML form, Flask route and database schema you'd use end to end.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67784" y="1920240"/>
            <a:ext cx="3453384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2104" y="2194560"/>
            <a:ext cx="594360" cy="5943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1" name="Image 1" descr="/home/claude/flaskppt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750" y="233720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2104" y="297180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Login Functionality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42104" y="3840480"/>
            <a:ext cx="2904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you'd validate credentials and manage a user session securely.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86928" y="1920240"/>
            <a:ext cx="3453384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61248" y="2194560"/>
            <a:ext cx="594360" cy="59436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6" name="Image 2" descr="/home/claude/flaskppt/icons/networ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3894" y="233720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61248" y="297180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Flask with a Database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61248" y="3840480"/>
            <a:ext cx="2904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connection, query execution, and safe handling of user input.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Best Practices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separate professional code from student code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6" name="Image 0" descr="/home/claude/flaskppt/icons/cod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22347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031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meaningful tags (nav, header, main) over generic divs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52544" y="182880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6864" y="2103120"/>
            <a:ext cx="548640" cy="54864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1" name="Image 1" descr="/home/claude/flaskppt/icons/css3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538" y="22347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58384" y="21031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Styling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26864" y="278892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naming convention and external stylesheets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56448" y="182880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0768" y="2103120"/>
            <a:ext cx="548640" cy="54864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6" name="Image 2" descr="/home/claude/flaskppt/icons/serve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2442" y="22347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62288" y="21031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Flask Code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30768" y="278892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routes, templates and logic into clear files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389120"/>
            <a:ext cx="548640" cy="54864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1" name="Image 3" descr="/home/claude/flaskppt/icons/databas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634" y="452079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3891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Queries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22960" y="507492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placeholders to prevent SQL injection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52544" y="411480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26864" y="4389120"/>
            <a:ext cx="548640" cy="54864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6" name="Image 4" descr="/home/claude/flaskppt/icons/check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8538" y="452079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58384" y="43891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26864" y="507492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change with Git from day one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56448" y="411480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30768" y="4389120"/>
            <a:ext cx="548640" cy="54864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31" name="Image 5" descr="/home/claude/flaskppt/icons/clipboard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2442" y="452079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62288" y="43891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Comments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30768" y="507492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intent, not just what the code does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4389120"/>
            <a:ext cx="5029200" cy="5029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Opportunities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these skills can take you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98598" cy="3017520"/>
          </a:xfrm>
          <a:prstGeom prst="roundRect">
            <a:avLst>
              <a:gd name="adj" fmla="val 2928"/>
            </a:avLst>
          </a:prstGeom>
          <a:solidFill>
            <a:srgbClr val="0E4A6B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32179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flaskppt/icons/lap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744" y="241584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154680"/>
            <a:ext cx="21328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49040"/>
            <a:ext cx="20413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6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maintain websites for businesses of every size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2998" y="1920240"/>
            <a:ext cx="2498598" cy="3017520"/>
          </a:xfrm>
          <a:prstGeom prst="roundRect">
            <a:avLst>
              <a:gd name="adj" fmla="val 2928"/>
            </a:avLst>
          </a:prstGeom>
          <a:solidFill>
            <a:srgbClr val="0E4A6B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6537" y="2240280"/>
            <a:ext cx="731520" cy="731520"/>
          </a:xfrm>
          <a:prstGeom prst="ellipse">
            <a:avLst/>
          </a:prstGeom>
          <a:solidFill>
            <a:srgbClr val="F4B400"/>
          </a:solidFill>
          <a:ln/>
        </p:spPr>
      </p:sp>
      <p:pic>
        <p:nvPicPr>
          <p:cNvPr id="12" name="Image 1" descr="/home/claude/flaskppt/icons/pyth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102" y="241584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5878" y="3154680"/>
            <a:ext cx="21328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Developer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41598" y="3749040"/>
            <a:ext cx="20413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6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Python skills across web, automation and data roles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77356" y="1920240"/>
            <a:ext cx="2498598" cy="3017520"/>
          </a:xfrm>
          <a:prstGeom prst="roundRect">
            <a:avLst>
              <a:gd name="adj" fmla="val 2928"/>
            </a:avLst>
          </a:prstGeom>
          <a:solidFill>
            <a:srgbClr val="0E4A6B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60895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flaskppt/icons/serv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6460" y="241584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154680"/>
            <a:ext cx="21328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505956" y="3749040"/>
            <a:ext cx="20413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6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both frontend and backend of an application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41714" y="1920240"/>
            <a:ext cx="2498598" cy="3017520"/>
          </a:xfrm>
          <a:prstGeom prst="roundRect">
            <a:avLst>
              <a:gd name="adj" fmla="val 2928"/>
            </a:avLst>
          </a:prstGeom>
          <a:solidFill>
            <a:srgbClr val="0E4A6B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25253" y="2240280"/>
            <a:ext cx="731520" cy="731520"/>
          </a:xfrm>
          <a:prstGeom prst="ellipse">
            <a:avLst/>
          </a:prstGeom>
          <a:solidFill>
            <a:srgbClr val="F4B400"/>
          </a:solidFill>
          <a:ln/>
        </p:spPr>
      </p:sp>
      <p:pic>
        <p:nvPicPr>
          <p:cNvPr id="22" name="Image 3" descr="/home/claude/flaskppt/icons/datab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0818" y="2415845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4594" y="3154680"/>
            <a:ext cx="21328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 Developer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370314" y="3749040"/>
            <a:ext cx="20413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6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 in server logic and database-driven services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Opportunities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from a blank page to a working application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9859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77899" y="2103120"/>
            <a:ext cx="640080" cy="64008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6" name="Image 0" descr="/home/claude/flaskppt/icons/html5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18" y="22567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80360"/>
            <a:ext cx="24985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291840"/>
            <a:ext cx="21328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static web pages</a:t>
            </a:r>
            <a:endParaRPr lang="en-US" sz="1050" dirty="0"/>
          </a:p>
        </p:txBody>
      </p:sp>
      <p:pic>
        <p:nvPicPr>
          <p:cNvPr id="9" name="Image 1" descr="/home/claude/flaskppt/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2102" y="2743200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12998" y="1828800"/>
            <a:ext cx="249859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42257" y="2103120"/>
            <a:ext cx="640080" cy="64008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2" name="Image 2" descr="/home/claude/flaskppt/icons/css3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876" y="225673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12998" y="2880360"/>
            <a:ext cx="24985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595878" y="3291840"/>
            <a:ext cx="21328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Styled, responsive layouts</a:t>
            </a:r>
            <a:endParaRPr lang="en-US" sz="1050" dirty="0"/>
          </a:p>
        </p:txBody>
      </p:sp>
      <p:pic>
        <p:nvPicPr>
          <p:cNvPr id="15" name="Image 3" descr="/home/claude/flaskppt/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2743200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77356" y="1828800"/>
            <a:ext cx="249859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206615" y="2103120"/>
            <a:ext cx="640080" cy="64008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8" name="Image 4" descr="/home/claude/flaskppt/icons/python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234" y="2256739"/>
            <a:ext cx="332842" cy="33284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77356" y="2880360"/>
            <a:ext cx="24985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6460236" y="3291840"/>
            <a:ext cx="21328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backend web apps</a:t>
            </a:r>
            <a:endParaRPr lang="en-US" sz="1050" dirty="0"/>
          </a:p>
        </p:txBody>
      </p:sp>
      <p:pic>
        <p:nvPicPr>
          <p:cNvPr id="21" name="Image 5" descr="/home/claude/flaskppt/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818" y="2743200"/>
            <a:ext cx="256032" cy="25603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141714" y="1828800"/>
            <a:ext cx="249859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10070973" y="2103120"/>
            <a:ext cx="640080" cy="64008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4" name="Image 6" descr="/home/claude/flaskppt/icons/databas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4592" y="2256739"/>
            <a:ext cx="332842" cy="33284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141714" y="2880360"/>
            <a:ext cx="24985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</p:txBody>
      </p:sp>
      <p:sp>
        <p:nvSpPr>
          <p:cNvPr id="26" name="Text 17"/>
          <p:cNvSpPr/>
          <p:nvPr/>
        </p:nvSpPr>
        <p:spPr>
          <a:xfrm>
            <a:off x="9324594" y="3291840"/>
            <a:ext cx="21328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CRUD-enabled database apps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548640" y="429768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B3D5C"/>
          </a:solidFill>
          <a:ln w="12700">
            <a:solidFill>
              <a:srgbClr val="D8E2E8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822960" y="4553712"/>
            <a:ext cx="640080" cy="640080"/>
          </a:xfrm>
          <a:prstGeom prst="ellipse">
            <a:avLst/>
          </a:prstGeom>
          <a:solidFill>
            <a:srgbClr val="0E4A6B"/>
          </a:solidFill>
          <a:ln/>
        </p:spPr>
      </p:sp>
      <p:pic>
        <p:nvPicPr>
          <p:cNvPr id="29" name="Image 7" descr="/home/claude/flaskppt/icons/rocket_go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579" y="4707331"/>
            <a:ext cx="332842" cy="33284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691640" y="457200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a complete Student Registration Management System — from HTML structure, through CSS styling and Flask routing, to a live SQLite-backed CRUD application.</a:t>
            </a:r>
            <a:endParaRPr lang="en-US" sz="1500" dirty="0"/>
          </a:p>
        </p:txBody>
      </p:sp>
      <p:sp>
        <p:nvSpPr>
          <p:cNvPr id="31" name="Text 2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072A40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9202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flaskppt/icons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958" y="216164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200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Answers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737360" y="40233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 anything you'd like to revisit — theory, code, or career next steps.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286000"/>
            <a:ext cx="5486400" cy="5486400"/>
          </a:xfrm>
          <a:prstGeom prst="ellipse">
            <a:avLst/>
          </a:prstGeom>
          <a:solidFill>
            <a:srgbClr val="072A4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474720"/>
            <a:ext cx="5486400" cy="5486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Using Python Flask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631436" y="379476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77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Venkatesh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6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Learning and Coding! 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3309</Words>
  <Application>Microsoft Office PowerPoint</Application>
  <PresentationFormat>Widescreen</PresentationFormat>
  <Paragraphs>757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Development Using Python Flask</dc:title>
  <dc:subject>PptxGenJS Presentation</dc:subject>
  <dc:creator>Mr. Venkatesh</dc:creator>
  <cp:lastModifiedBy>Madhuri Yalavarthi</cp:lastModifiedBy>
  <cp:revision>1</cp:revision>
  <dcterms:created xsi:type="dcterms:W3CDTF">2026-07-08T11:31:18Z</dcterms:created>
  <dcterms:modified xsi:type="dcterms:W3CDTF">2026-07-08T11:35:07Z</dcterms:modified>
</cp:coreProperties>
</file>
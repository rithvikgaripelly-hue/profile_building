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000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20.png"/><Relationship Id="rId5" Type="http://schemas.openxmlformats.org/officeDocument/2006/relationships/image" Target="../media/image26.png"/><Relationship Id="rId10" Type="http://schemas.openxmlformats.org/officeDocument/2006/relationships/image" Target="../media/image8.png"/><Relationship Id="rId4" Type="http://schemas.openxmlformats.org/officeDocument/2006/relationships/image" Target="../media/image22.png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114800"/>
            <a:ext cx="2743200" cy="27432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303520"/>
            <a:ext cx="3200400" cy="32004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005840"/>
            <a:ext cx="822960" cy="82296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12198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TRAINING PROGRAM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5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Python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82296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Fundamentals to Real-World Model Building with Scikit-Learn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22960" y="507492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Venkatesh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 •  Practical  •  Case Studies  •  Projects  •  Interview Prep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Program Covers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9F1F7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984248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6" y="2138782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7432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First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04672" y="3383280"/>
            <a:ext cx="20939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Artificial Intelligence &amp; Machine Learning basics — no prior ML background assumed.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410712" y="16916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9F1F7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66744" y="1984248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1278" y="2138782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66744" y="27432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Algorithms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3666744" y="3383280"/>
            <a:ext cx="20939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K-Nearest Neighbors, and Decision Trees with hands-on Scikit-Learn code.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72784" y="16916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9F1F7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28816" y="1984248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3350" y="2138782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28816" y="27432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Project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6528816" y="3383280"/>
            <a:ext cx="20939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Student Marks Predictor from raw data to prediction.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9134856" y="16916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9F1F7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390888" y="1984248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5422" y="2138782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90888" y="27432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Ready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9390888" y="3383280"/>
            <a:ext cx="20939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 and career-path guidance for the job market.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 </a:t>
            </a: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 •  Students  •  Freshers  •  Data Analysts  •  Software Developers  •  Aspiring Data Scientists  •  Working Professionals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Methodology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2402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" y="237103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78308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Practical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3383280" y="1783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</p:spPr>
      </p:sp>
      <p:sp>
        <p:nvSpPr>
          <p:cNvPr id="11" name="Shape 7"/>
          <p:cNvSpPr/>
          <p:nvPr/>
        </p:nvSpPr>
        <p:spPr>
          <a:xfrm>
            <a:off x="3584448" y="22402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5207" y="237103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51960" y="178308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Industry Examples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217920" y="1783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</p:spPr>
      </p:sp>
      <p:sp>
        <p:nvSpPr>
          <p:cNvPr id="15" name="Shape 10"/>
          <p:cNvSpPr/>
          <p:nvPr/>
        </p:nvSpPr>
        <p:spPr>
          <a:xfrm>
            <a:off x="6419088" y="22402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847" y="2371039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86600" y="178308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9052560" y="1783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</p:spPr>
      </p:sp>
      <p:sp>
        <p:nvSpPr>
          <p:cNvPr id="19" name="Shape 13"/>
          <p:cNvSpPr/>
          <p:nvPr/>
        </p:nvSpPr>
        <p:spPr>
          <a:xfrm>
            <a:off x="9253728" y="22402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4487" y="2371039"/>
            <a:ext cx="241402" cy="24140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921240" y="178308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Coding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548640" y="34747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</p:spPr>
      </p:sp>
      <p:sp>
        <p:nvSpPr>
          <p:cNvPr id="23" name="Shape 16"/>
          <p:cNvSpPr/>
          <p:nvPr/>
        </p:nvSpPr>
        <p:spPr>
          <a:xfrm>
            <a:off x="749808" y="3931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567" y="4062679"/>
            <a:ext cx="241402" cy="24140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17320" y="347472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350" dirty="0"/>
          </a:p>
        </p:txBody>
      </p:sp>
      <p:sp>
        <p:nvSpPr>
          <p:cNvPr id="26" name="Shape 18"/>
          <p:cNvSpPr/>
          <p:nvPr/>
        </p:nvSpPr>
        <p:spPr>
          <a:xfrm>
            <a:off x="3383280" y="34747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</p:spPr>
      </p:sp>
      <p:sp>
        <p:nvSpPr>
          <p:cNvPr id="27" name="Shape 19"/>
          <p:cNvSpPr/>
          <p:nvPr/>
        </p:nvSpPr>
        <p:spPr>
          <a:xfrm>
            <a:off x="3584448" y="3931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5207" y="4062679"/>
            <a:ext cx="241402" cy="24140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251960" y="347472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Learning</a:t>
            </a:r>
            <a:endParaRPr lang="en-US" sz="1350" dirty="0"/>
          </a:p>
        </p:txBody>
      </p:sp>
      <p:sp>
        <p:nvSpPr>
          <p:cNvPr id="30" name="Shape 21"/>
          <p:cNvSpPr/>
          <p:nvPr/>
        </p:nvSpPr>
        <p:spPr>
          <a:xfrm>
            <a:off x="6217920" y="34747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</p:spPr>
      </p:sp>
      <p:sp>
        <p:nvSpPr>
          <p:cNvPr id="31" name="Shape 22"/>
          <p:cNvSpPr/>
          <p:nvPr/>
        </p:nvSpPr>
        <p:spPr>
          <a:xfrm>
            <a:off x="6419088" y="3931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9847" y="4062679"/>
            <a:ext cx="241402" cy="24140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086600" y="347472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</a:t>
            </a:r>
            <a:endParaRPr lang="en-US" sz="1350" dirty="0"/>
          </a:p>
        </p:txBody>
      </p:sp>
      <p:sp>
        <p:nvSpPr>
          <p:cNvPr id="34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35" name="Text 25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645920"/>
            <a:ext cx="4114800" cy="41148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Journey Through This Program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3000" y="157276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 &amp; Objectives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3042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43000" y="227685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&amp; ML Fundamentals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30083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43000" y="298094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Workflow &amp; Module 1 – Basics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371246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43000" y="368503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– Algorithms (Regression, KNN, Tree)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/>
          <p:nvPr/>
        </p:nvSpPr>
        <p:spPr>
          <a:xfrm>
            <a:off x="6263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58000" y="157276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– End-to-End Project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263640" y="23042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626364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858000" y="227685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&amp; Real-World Use Cases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263640" y="30083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3"/>
          <p:cNvSpPr/>
          <p:nvPr/>
        </p:nvSpPr>
        <p:spPr>
          <a:xfrm>
            <a:off x="626364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858000" y="298094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 &amp; Career Paths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263640" y="371246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6"/>
          <p:cNvSpPr/>
          <p:nvPr/>
        </p:nvSpPr>
        <p:spPr>
          <a:xfrm>
            <a:off x="62636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858000" y="368503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Q&amp;A &amp; Closing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LEARNING OBJECTIVES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End, Students Will Know...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E9F1F7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956816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4" y="2111350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828800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and ML actually are, in plain terms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288036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777240" y="3008376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74" y="3162910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2880360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differences between AI and Machine Learning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48640" y="393192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E9F1F7"/>
          </a:solidFill>
          <a:ln/>
        </p:spPr>
      </p:sp>
      <p:sp>
        <p:nvSpPr>
          <p:cNvPr id="15" name="Shape 10"/>
          <p:cNvSpPr/>
          <p:nvPr/>
        </p:nvSpPr>
        <p:spPr>
          <a:xfrm>
            <a:off x="777240" y="4059936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4" y="4214470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3931920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 learning works, step by step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548640" y="498348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</p:spPr>
      </p:sp>
      <p:sp>
        <p:nvSpPr>
          <p:cNvPr id="19" name="Shape 13"/>
          <p:cNvSpPr/>
          <p:nvPr/>
        </p:nvSpPr>
        <p:spPr>
          <a:xfrm>
            <a:off x="777240" y="5111496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774" y="5266030"/>
            <a:ext cx="285293" cy="28529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00200" y="4983480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 of ML across industries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TOPIC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Artificial Intelligence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E9F1F7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of machines to simulate human intelligence — reasoning, learning, problem-solving, and decision-making.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Brief History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3657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rule-based expert systems in the 1950s-80s, to statistical learning in the 1990s-2000s, to today's deep learning and generative AI.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Applications Today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0" y="2240280"/>
            <a:ext cx="5212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DE7E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359152"/>
            <a:ext cx="502920" cy="50292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439" y="2489911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224028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&amp; Conversational AI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0" y="3154680"/>
            <a:ext cx="5212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DE7E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0" y="3273552"/>
            <a:ext cx="502920" cy="50292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4439" y="3404311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69480" y="315468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400800" y="4069080"/>
            <a:ext cx="5212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DE7E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83680" y="4187952"/>
            <a:ext cx="502920" cy="50292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4439" y="4318711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06908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400800" y="4983480"/>
            <a:ext cx="5212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DE7EE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83680" y="5102352"/>
            <a:ext cx="502920" cy="50292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439" y="5233111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69480" y="498348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Assistants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TOPIC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Machine Learning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 a subset of AI where systems learn patterns from data and improve performance over time — without being explicitly programmed for every rule.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9F1F7"/>
          </a:solidFill>
          <a:ln/>
        </p:spPr>
      </p:sp>
      <p:sp>
        <p:nvSpPr>
          <p:cNvPr id="9" name="Shape 6"/>
          <p:cNvSpPr/>
          <p:nvPr/>
        </p:nvSpPr>
        <p:spPr>
          <a:xfrm>
            <a:off x="804672" y="33375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6" y="349209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4672" y="406908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ML Matters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04672" y="4526280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rule-based programming can't scale to the complexity of real-world data.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297680" y="306324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9F1F7"/>
          </a:solidFill>
          <a:ln/>
        </p:spPr>
      </p:sp>
      <p:sp>
        <p:nvSpPr>
          <p:cNvPr id="14" name="Shape 10"/>
          <p:cNvSpPr/>
          <p:nvPr/>
        </p:nvSpPr>
        <p:spPr>
          <a:xfrm>
            <a:off x="4553712" y="33375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246" y="349209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53712" y="406908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Benefit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553712" y="4526280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experience — accuracy improves as more data becomes available.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046720" y="306324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9F1F7"/>
          </a:solidFill>
          <a:ln/>
        </p:spPr>
      </p:sp>
      <p:sp>
        <p:nvSpPr>
          <p:cNvPr id="19" name="Shape 14"/>
          <p:cNvSpPr/>
          <p:nvPr/>
        </p:nvSpPr>
        <p:spPr>
          <a:xfrm>
            <a:off x="8302752" y="33375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7286" y="349209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02752" y="406908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Shift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302752" y="4526280"/>
            <a:ext cx="3054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decision-making from fixed rules to data-driven predictions.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COMPARISON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 vs Machine Learning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38404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Artificial Intelligence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Broader concept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 of AI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Idea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Mimics human intelligence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from 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+ learning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 reasoning &amp; decisions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prediction accuracy over 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TOPIC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Machine Learning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E9F1F7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3911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6" y="2193646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74320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04672" y="320040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labeled data to predict outcomes.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04672" y="402336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04672" y="434340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Prediction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297680" y="178308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E9F1F7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53712" y="203911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246" y="2193646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53712" y="274320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553712" y="320040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hidden patterns in unlabeled data.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53712" y="402336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53712" y="434340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Analysis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046720" y="178308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E9F1F7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02752" y="203911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7286" y="2193646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02752" y="274320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302752" y="320040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via trial, error, and reward feedback.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302752" y="402336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302752" y="434340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PROCESS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Workflow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2560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599" y="269107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3246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3194" y="3049524"/>
            <a:ext cx="256032" cy="25603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156460" y="237744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2613660" y="2560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4419" y="2691079"/>
            <a:ext cx="241402" cy="24140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202180" y="3246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1014" y="3049524"/>
            <a:ext cx="256032" cy="25603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764280" y="237744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4221480" y="2560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2239" y="2691079"/>
            <a:ext cx="241402" cy="24140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810000" y="3246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834" y="3049524"/>
            <a:ext cx="256032" cy="256032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372100" y="237744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3"/>
          <p:cNvSpPr/>
          <p:nvPr/>
        </p:nvSpPr>
        <p:spPr>
          <a:xfrm>
            <a:off x="5829300" y="2560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0059" y="2691079"/>
            <a:ext cx="241402" cy="24140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417820" y="3246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654" y="3049524"/>
            <a:ext cx="256032" cy="256032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6979920" y="237744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16"/>
          <p:cNvSpPr/>
          <p:nvPr/>
        </p:nvSpPr>
        <p:spPr>
          <a:xfrm>
            <a:off x="7437120" y="2560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7879" y="2691079"/>
            <a:ext cx="241402" cy="24140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7025640" y="3246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474" y="3049524"/>
            <a:ext cx="256032" cy="256032"/>
          </a:xfrm>
          <a:prstGeom prst="rect">
            <a:avLst/>
          </a:prstGeom>
        </p:spPr>
      </p:pic>
      <p:sp>
        <p:nvSpPr>
          <p:cNvPr id="31" name="Shape 18"/>
          <p:cNvSpPr/>
          <p:nvPr/>
        </p:nvSpPr>
        <p:spPr>
          <a:xfrm>
            <a:off x="8587740" y="237744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E9F1F7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19"/>
          <p:cNvSpPr/>
          <p:nvPr/>
        </p:nvSpPr>
        <p:spPr>
          <a:xfrm>
            <a:off x="9044940" y="2560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5699" y="2691079"/>
            <a:ext cx="241402" cy="241402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8633460" y="3246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2294" y="3049524"/>
            <a:ext cx="256032" cy="256032"/>
          </a:xfrm>
          <a:prstGeom prst="rect">
            <a:avLst/>
          </a:prstGeom>
        </p:spPr>
      </p:pic>
      <p:sp>
        <p:nvSpPr>
          <p:cNvPr id="36" name="Shape 21"/>
          <p:cNvSpPr/>
          <p:nvPr/>
        </p:nvSpPr>
        <p:spPr>
          <a:xfrm>
            <a:off x="10195560" y="2377440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22"/>
          <p:cNvSpPr/>
          <p:nvPr/>
        </p:nvSpPr>
        <p:spPr>
          <a:xfrm>
            <a:off x="10652760" y="2560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83519" y="2691079"/>
            <a:ext cx="241402" cy="241402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10241280" y="3246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40" name="Text 24"/>
          <p:cNvSpPr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pipeline — but in practice, teams loop back to earlier stages (e.g., re-cleaning data) as new issues surface during testing.</a:t>
            </a:r>
            <a:endParaRPr lang="en-US" sz="1300" dirty="0"/>
          </a:p>
        </p:txBody>
      </p:sp>
      <p:sp>
        <p:nvSpPr>
          <p:cNvPr id="41" name="Text 2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42" name="Text 26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114800" cy="41148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APPLICATIONS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Across Industries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85216" y="1965960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13315C"/>
          </a:solidFill>
          <a:ln/>
        </p:spPr>
      </p:sp>
      <p:sp>
        <p:nvSpPr>
          <p:cNvPr id="8" name="Shape 5"/>
          <p:cNvSpPr/>
          <p:nvPr/>
        </p:nvSpPr>
        <p:spPr>
          <a:xfrm>
            <a:off x="1293876" y="22860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297" y="245242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22376" y="37033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825496" y="1965960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13315C"/>
          </a:solidFill>
          <a:ln/>
        </p:spPr>
      </p:sp>
      <p:sp>
        <p:nvSpPr>
          <p:cNvPr id="13" name="Shape 9"/>
          <p:cNvSpPr/>
          <p:nvPr/>
        </p:nvSpPr>
        <p:spPr>
          <a:xfrm>
            <a:off x="3534156" y="22860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0577" y="245242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62656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2962656" y="37033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65776" y="1965960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13315C"/>
          </a:solidFill>
          <a:ln/>
        </p:spPr>
      </p:sp>
      <p:sp>
        <p:nvSpPr>
          <p:cNvPr id="18" name="Shape 13"/>
          <p:cNvSpPr/>
          <p:nvPr/>
        </p:nvSpPr>
        <p:spPr>
          <a:xfrm>
            <a:off x="5774436" y="22860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0857" y="245242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02936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5202936" y="37033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306056" y="1965960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13315C"/>
          </a:solidFill>
          <a:ln/>
        </p:spPr>
      </p:sp>
      <p:sp>
        <p:nvSpPr>
          <p:cNvPr id="23" name="Shape 17"/>
          <p:cNvSpPr/>
          <p:nvPr/>
        </p:nvSpPr>
        <p:spPr>
          <a:xfrm>
            <a:off x="8014716" y="22860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1137" y="2452421"/>
            <a:ext cx="307238" cy="30723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43216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Analytics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443216" y="37033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9546336" y="1965960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13315C"/>
          </a:solidFill>
          <a:ln/>
        </p:spPr>
      </p:sp>
      <p:sp>
        <p:nvSpPr>
          <p:cNvPr id="28" name="Shape 21"/>
          <p:cNvSpPr/>
          <p:nvPr/>
        </p:nvSpPr>
        <p:spPr>
          <a:xfrm>
            <a:off x="10254996" y="228600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1417" y="2452421"/>
            <a:ext cx="307238" cy="30723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683496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&amp; Sales</a:t>
            </a:r>
            <a:endParaRPr lang="en-US" sz="1450" dirty="0"/>
          </a:p>
        </p:txBody>
      </p:sp>
      <p:sp>
        <p:nvSpPr>
          <p:cNvPr id="31" name="Text 23"/>
          <p:cNvSpPr/>
          <p:nvPr/>
        </p:nvSpPr>
        <p:spPr>
          <a:xfrm>
            <a:off x="9683496" y="37033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MINI ACTIVITY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 Discussion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6675120" cy="4023360"/>
          </a:xfrm>
          <a:prstGeom prst="roundRect">
            <a:avLst>
              <a:gd name="adj" fmla="val 2727"/>
            </a:avLst>
          </a:prstGeom>
          <a:solidFill>
            <a:srgbClr val="E9F1F7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011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Discuss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use AI daily?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examples of Machine Learning exist around us?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business problems could ML solve for your organization?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452360" y="1783080"/>
            <a:ext cx="4160520" cy="4023360"/>
          </a:xfrm>
          <a:prstGeom prst="roundRect">
            <a:avLst>
              <a:gd name="adj" fmla="val 2727"/>
            </a:avLst>
          </a:prstGeom>
          <a:solidFill>
            <a:srgbClr val="0B2545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0" y="2057400"/>
            <a:ext cx="640080" cy="64008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821" y="22238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Outcome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0" y="32918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understand core ML concepts, the end-to-end workflow, and where ML applies in the real world.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772400" y="5257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|  Theory: 2 hrs  •  Practical: 0 hrs  •  Total: 2 hrs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Algorithms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2 hrs  •  Practical: 2 hrs  •  Total: 4 hrs   |   Mini Activity: Prediction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9F1F7"/>
          </a:solidFill>
          <a:ln/>
        </p:spPr>
      </p:sp>
      <p:sp>
        <p:nvSpPr>
          <p:cNvPr id="8" name="Shape 5"/>
          <p:cNvSpPr/>
          <p:nvPr/>
        </p:nvSpPr>
        <p:spPr>
          <a:xfrm>
            <a:off x="804672" y="22402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240670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306324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04672" y="3520440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continuous numeric values from input features.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297680" y="196596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9F1F7"/>
          </a:solidFill>
          <a:ln/>
        </p:spPr>
      </p:sp>
      <p:sp>
        <p:nvSpPr>
          <p:cNvPr id="13" name="Shape 9"/>
          <p:cNvSpPr/>
          <p:nvPr/>
        </p:nvSpPr>
        <p:spPr>
          <a:xfrm>
            <a:off x="4553712" y="22402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133" y="240670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53712" y="306324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 (KNN)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553712" y="3520440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new data based on the majority vote of its nearest neighbors.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046720" y="196596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9F1F7"/>
          </a:solidFill>
          <a:ln/>
        </p:spPr>
      </p:sp>
      <p:sp>
        <p:nvSpPr>
          <p:cNvPr id="18" name="Shape 13"/>
          <p:cNvSpPr/>
          <p:nvPr/>
        </p:nvSpPr>
        <p:spPr>
          <a:xfrm>
            <a:off x="8302752" y="22402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173" y="240670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02752" y="306324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302752" y="3520440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data through a series of rule-based decisions to reach an outcome.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48640" y="4892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Objectives: how ML algorithms work  •  when to use each algorithm  •  prediction techniques  •  model evaluation basics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PART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Regression?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predicts numerical values — it maps input variables to a continuous output.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Prediction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3977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Example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3434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student's marks based on the number of study hours.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83680" y="1737360"/>
            <a:ext cx="5029200" cy="3291840"/>
          </a:xfrm>
          <a:prstGeom prst="roundRect">
            <a:avLst>
              <a:gd name="adj" fmla="val 3333"/>
            </a:avLst>
          </a:prstGeom>
          <a:solidFill>
            <a:srgbClr val="0B2545"/>
          </a:solidFill>
          <a:ln/>
        </p:spPr>
      </p:sp>
      <p:sp>
        <p:nvSpPr>
          <p:cNvPr id="12" name="Text 9"/>
          <p:cNvSpPr/>
          <p:nvPr/>
        </p:nvSpPr>
        <p:spPr>
          <a:xfrm>
            <a:off x="6903720" y="1965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Equation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03720" y="24688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mX + c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903720" y="3246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26680" y="3246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 (what we predict)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903720" y="3813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26680" y="38130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 (input)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903720" y="437997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m, c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726680" y="43799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and intercept of the prediction line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PRACTICAL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— Hands-On with Scikit-Learn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B2A38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0116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 and predict values.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LinearRegression from sklearn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472744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7280" y="46817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model on training data (X_train, y_train)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52943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5294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97280" y="52486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model.predict() with new input values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PART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 (KNN)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KNN?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predicts the outcome for a new data point based on the values of its nearest data points in the training set.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4290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Classification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Process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0" y="2194560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E9F1F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1945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869680" y="2816352"/>
            <a:ext cx="256032" cy="201168"/>
          </a:xfrm>
          <a:prstGeom prst="ellipse">
            <a:avLst/>
          </a:prstGeom>
          <a:ln/>
        </p:spPr>
      </p:sp>
      <p:sp>
        <p:nvSpPr>
          <p:cNvPr id="14" name="Text 11"/>
          <p:cNvSpPr/>
          <p:nvPr/>
        </p:nvSpPr>
        <p:spPr>
          <a:xfrm>
            <a:off x="6400800" y="2743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0" y="3063240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E9F1F7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30632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Nearest Neighbors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869680" y="3685032"/>
            <a:ext cx="256032" cy="201168"/>
          </a:xfrm>
          <a:prstGeom prst="ellipse">
            <a:avLst/>
          </a:prstGeom>
          <a:ln/>
        </p:spPr>
      </p:sp>
      <p:sp>
        <p:nvSpPr>
          <p:cNvPr id="18" name="Text 15"/>
          <p:cNvSpPr/>
          <p:nvPr/>
        </p:nvSpPr>
        <p:spPr>
          <a:xfrm>
            <a:off x="6400800" y="3611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0800" y="3931920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E9F1F7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39319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869680" y="4553712"/>
            <a:ext cx="256032" cy="201168"/>
          </a:xfrm>
          <a:prstGeom prst="ellipse">
            <a:avLst/>
          </a:prstGeom>
          <a:ln/>
        </p:spPr>
      </p:sp>
      <p:sp>
        <p:nvSpPr>
          <p:cNvPr id="22" name="Text 19"/>
          <p:cNvSpPr/>
          <p:nvPr/>
        </p:nvSpPr>
        <p:spPr>
          <a:xfrm>
            <a:off x="6400800" y="4480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00800" y="4800600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0" y="48006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PRACTICAL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— Hands-On with Scikit-Learn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B2A38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0116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sklearn.neighbors import KNeighborsClassifier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KNeighborsClassifier()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E9F1F7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39136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056278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8404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K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554480" y="425196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of K (number of neighbors considered) controls the model's sensitivity — a small K can overfit to noise, while a large K can oversimplify decision boundaries. K is typically tuned through experimentation.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PART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Decision Tree?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tree-based algorithm that makes decisions by splitting data through a series of yes/no questions.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3375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Structure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0" y="2194560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E9F1F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1945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Node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720840" y="297180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E9F1F7"/>
          </a:solidFill>
          <a:ln/>
        </p:spPr>
      </p:sp>
      <p:sp>
        <p:nvSpPr>
          <p:cNvPr id="14" name="Text 11"/>
          <p:cNvSpPr/>
          <p:nvPr/>
        </p:nvSpPr>
        <p:spPr>
          <a:xfrm>
            <a:off x="6720840" y="2971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040880" y="374904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E9F1F7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3749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60920" y="45262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736092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PRACTICAL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— Code &amp; Algorithm Comparison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B2A38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8745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DecisionTreeClassifier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DecisionTreeClassifier()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64240" cy="21945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/ Prediction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MINI ACTIVITY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Challenge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6675120" cy="4023360"/>
          </a:xfrm>
          <a:prstGeom prst="roundRect">
            <a:avLst>
              <a:gd name="adj" fmla="val 2727"/>
            </a:avLst>
          </a:prstGeom>
          <a:solidFill>
            <a:srgbClr val="E9F1F7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011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6334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514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Student Marks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868680" y="32918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41071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Product Sales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868680" y="4069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18795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Customer Category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7452360" y="1783080"/>
            <a:ext cx="4160520" cy="4023360"/>
          </a:xfrm>
          <a:prstGeom prst="roundRect">
            <a:avLst>
              <a:gd name="adj" fmla="val 2727"/>
            </a:avLst>
          </a:prstGeom>
          <a:solidFill>
            <a:srgbClr val="0B2545"/>
          </a:solidFill>
          <a:ln/>
        </p:spPr>
      </p:sp>
      <p:sp>
        <p:nvSpPr>
          <p:cNvPr id="18" name="Shape 12"/>
          <p:cNvSpPr/>
          <p:nvPr/>
        </p:nvSpPr>
        <p:spPr>
          <a:xfrm>
            <a:off x="7772400" y="2057400"/>
            <a:ext cx="640080" cy="64008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8821" y="2223821"/>
            <a:ext cx="307238" cy="30723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77240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Outcome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772400" y="32918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understand and implement basic ML algorithms — Regression, KNN, and Decision Trees.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7772400" y="5257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|  Theory: 2 hrs  •  Practical: 2 hrs  •  Total: 4 hrs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Project — Student Marks Predictor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 Predict student marks based on study hours.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3291840" cy="31089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20624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206240" y="233172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E9F1F7"/>
          </a:solidFill>
          <a:ln/>
        </p:spPr>
      </p:sp>
      <p:sp>
        <p:nvSpPr>
          <p:cNvPr id="10" name="Text 6"/>
          <p:cNvSpPr/>
          <p:nvPr/>
        </p:nvSpPr>
        <p:spPr>
          <a:xfrm>
            <a:off x="4233672" y="233172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493" y="2619756"/>
            <a:ext cx="201168" cy="20116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453482" y="233172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E9F1F7"/>
          </a:solidFill>
          <a:ln/>
        </p:spPr>
      </p:sp>
      <p:sp>
        <p:nvSpPr>
          <p:cNvPr id="13" name="Text 8"/>
          <p:cNvSpPr/>
          <p:nvPr/>
        </p:nvSpPr>
        <p:spPr>
          <a:xfrm>
            <a:off x="5480914" y="233172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734" y="2619756"/>
            <a:ext cx="201168" cy="20116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700723" y="233172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E9F1F7"/>
          </a:solidFill>
          <a:ln/>
        </p:spPr>
      </p:sp>
      <p:sp>
        <p:nvSpPr>
          <p:cNvPr id="16" name="Text 10"/>
          <p:cNvSpPr/>
          <p:nvPr/>
        </p:nvSpPr>
        <p:spPr>
          <a:xfrm>
            <a:off x="6728155" y="233172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2619756"/>
            <a:ext cx="201168" cy="20116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7947965" y="233172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E9F1F7"/>
          </a:solidFill>
          <a:ln/>
        </p:spPr>
      </p:sp>
      <p:sp>
        <p:nvSpPr>
          <p:cNvPr id="19" name="Text 12"/>
          <p:cNvSpPr/>
          <p:nvPr/>
        </p:nvSpPr>
        <p:spPr>
          <a:xfrm>
            <a:off x="7975397" y="233172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0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6218" y="2619756"/>
            <a:ext cx="201168" cy="201168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195206" y="233172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E9F1F7"/>
          </a:solidFill>
          <a:ln/>
        </p:spPr>
      </p:sp>
      <p:sp>
        <p:nvSpPr>
          <p:cNvPr id="7" name="Text 14"/>
          <p:cNvSpPr/>
          <p:nvPr/>
        </p:nvSpPr>
        <p:spPr>
          <a:xfrm>
            <a:off x="9222638" y="233172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Model</a:t>
            </a:r>
            <a:endParaRPr lang="en-US" sz="10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3459" y="2619756"/>
            <a:ext cx="201168" cy="201168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10442448" y="2331720"/>
            <a:ext cx="1170432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25" name="Text 16"/>
          <p:cNvSpPr/>
          <p:nvPr/>
        </p:nvSpPr>
        <p:spPr>
          <a:xfrm>
            <a:off x="10469880" y="2331720"/>
            <a:ext cx="111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Marks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4206240" y="3520440"/>
            <a:ext cx="7406640" cy="1554480"/>
          </a:xfrm>
          <a:prstGeom prst="roundRect">
            <a:avLst>
              <a:gd name="adj" fmla="val 7059"/>
            </a:avLst>
          </a:prstGeom>
          <a:solidFill>
            <a:srgbClr val="E9F1F7"/>
          </a:solidFill>
          <a:ln/>
        </p:spPr>
      </p:sp>
      <p:sp>
        <p:nvSpPr>
          <p:cNvPr id="27" name="Text 18"/>
          <p:cNvSpPr/>
          <p:nvPr/>
        </p:nvSpPr>
        <p:spPr>
          <a:xfrm>
            <a:off x="452628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Activity: Marks Predictor</a:t>
            </a:r>
            <a:endParaRPr lang="en-US" sz="1450" dirty="0"/>
          </a:p>
        </p:txBody>
      </p:sp>
      <p:sp>
        <p:nvSpPr>
          <p:cNvPr id="28" name="Text 19"/>
          <p:cNvSpPr/>
          <p:nvPr/>
        </p:nvSpPr>
        <p:spPr>
          <a:xfrm>
            <a:off x="4526280" y="41148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walk through the full pipeline hands-on, from raw dataset to a working prediction — reinforcing every concept from Modules 1 and 2 in one applied exercise.</a:t>
            </a:r>
            <a:endParaRPr lang="en-US" sz="1250" dirty="0"/>
          </a:p>
        </p:txBody>
      </p:sp>
      <p:sp>
        <p:nvSpPr>
          <p:cNvPr id="29" name="Text 20"/>
          <p:cNvSpPr/>
          <p:nvPr/>
        </p:nvSpPr>
        <p:spPr>
          <a:xfrm>
            <a:off x="54864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|  Theory: 1 hr  •  Practical: 3 hrs  •  Total: 4 hrs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PRACTICAL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Model, Step by Step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E9F1F7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25880" y="190195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Libraries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2395728"/>
            <a:ext cx="5074920" cy="685800"/>
          </a:xfrm>
          <a:prstGeom prst="roundRect">
            <a:avLst>
              <a:gd name="adj" fmla="val 8000"/>
            </a:avLst>
          </a:prstGeom>
          <a:solidFill>
            <a:srgbClr val="1B2A38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50592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173736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E9F1F7"/>
          </a:solidFill>
          <a:ln/>
        </p:spPr>
      </p:sp>
      <p:sp>
        <p:nvSpPr>
          <p:cNvPr id="13" name="Shape 10"/>
          <p:cNvSpPr/>
          <p:nvPr/>
        </p:nvSpPr>
        <p:spPr>
          <a:xfrm>
            <a:off x="635508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49440" y="190195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Dataset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55080" y="2395728"/>
            <a:ext cx="5074920" cy="685800"/>
          </a:xfrm>
          <a:prstGeom prst="roundRect">
            <a:avLst>
              <a:gd name="adj" fmla="val 8000"/>
            </a:avLst>
          </a:prstGeom>
          <a:solidFill>
            <a:srgbClr val="1B2A38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2450592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pd.read_csv("student_marks.csv")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38328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E9F1F7"/>
          </a:solidFill>
          <a:ln/>
        </p:spPr>
      </p:sp>
      <p:sp>
        <p:nvSpPr>
          <p:cNvPr id="19" name="Shape 16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25880" y="35478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Model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31520" y="4041648"/>
            <a:ext cx="5074920" cy="685800"/>
          </a:xfrm>
          <a:prstGeom prst="roundRect">
            <a:avLst>
              <a:gd name="adj" fmla="val 8000"/>
            </a:avLst>
          </a:prstGeom>
          <a:solidFill>
            <a:srgbClr val="1B2A38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096512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172200" y="338328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E9F1F7"/>
          </a:solidFill>
          <a:ln/>
        </p:spPr>
      </p:sp>
      <p:sp>
        <p:nvSpPr>
          <p:cNvPr id="25" name="Shape 22"/>
          <p:cNvSpPr/>
          <p:nvPr/>
        </p:nvSpPr>
        <p:spPr>
          <a:xfrm>
            <a:off x="6355080" y="3566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3"/>
          <p:cNvSpPr/>
          <p:nvPr/>
        </p:nvSpPr>
        <p:spPr>
          <a:xfrm>
            <a:off x="6355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949440" y="35478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Prediction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355080" y="4041648"/>
            <a:ext cx="5074920" cy="685800"/>
          </a:xfrm>
          <a:prstGeom prst="roundRect">
            <a:avLst>
              <a:gd name="adj" fmla="val 8000"/>
            </a:avLst>
          </a:prstGeom>
          <a:solidFill>
            <a:srgbClr val="1B2A38"/>
          </a:solidFill>
          <a:ln/>
        </p:spPr>
      </p:sp>
      <p:sp>
        <p:nvSpPr>
          <p:cNvPr id="29" name="Text 26"/>
          <p:cNvSpPr/>
          <p:nvPr/>
        </p:nvSpPr>
        <p:spPr>
          <a:xfrm>
            <a:off x="6492240" y="4096512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= model.predict([[7]])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PRACTICAL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— Evaluate the Model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E9F1F7"/>
          </a:solidFill>
          <a:ln/>
        </p:spPr>
      </p:sp>
      <p:sp>
        <p:nvSpPr>
          <p:cNvPr id="7" name="Shape 4"/>
          <p:cNvSpPr/>
          <p:nvPr/>
        </p:nvSpPr>
        <p:spPr>
          <a:xfrm>
            <a:off x="804672" y="2103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6" y="225765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88036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04672" y="3474720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model's predictions match actual outcomes (used mainly for classification).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297680" y="182880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E9F1F7"/>
          </a:solidFill>
          <a:ln/>
        </p:spPr>
      </p:sp>
      <p:sp>
        <p:nvSpPr>
          <p:cNvPr id="12" name="Shape 8"/>
          <p:cNvSpPr/>
          <p:nvPr/>
        </p:nvSpPr>
        <p:spPr>
          <a:xfrm>
            <a:off x="4553712" y="2103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246" y="225765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53712" y="288036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Squared Error (MSE)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553712" y="3474720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squared difference between predicted and actual values — lower is better.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46720" y="182880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E9F1F7"/>
          </a:solidFill>
          <a:ln/>
        </p:spPr>
      </p:sp>
      <p:sp>
        <p:nvSpPr>
          <p:cNvPr id="17" name="Shape 12"/>
          <p:cNvSpPr/>
          <p:nvPr/>
        </p:nvSpPr>
        <p:spPr>
          <a:xfrm>
            <a:off x="8302752" y="2103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7286" y="225765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02752" y="288036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Score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302752" y="3474720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model explains variance in the data — closer to 1 is better.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Dataset  •  Python Code  •  Model File  •  Prediction Results  •  Presentation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CASE STUDY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Prediction System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future sales based on historical data — a widely used ML application that mirrors the same workflow used in the Marks Predictor project.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/>
        </p:spPr>
      </p:sp>
      <p:sp>
        <p:nvSpPr>
          <p:cNvPr id="9" name="Shape 6"/>
          <p:cNvSpPr/>
          <p:nvPr/>
        </p:nvSpPr>
        <p:spPr>
          <a:xfrm>
            <a:off x="1554480" y="2971800"/>
            <a:ext cx="594360" cy="5943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014" y="312633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794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383280" y="265176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/>
        </p:spPr>
      </p:sp>
      <p:sp>
        <p:nvSpPr>
          <p:cNvPr id="13" name="Shape 9"/>
          <p:cNvSpPr/>
          <p:nvPr/>
        </p:nvSpPr>
        <p:spPr>
          <a:xfrm>
            <a:off x="4389120" y="2971800"/>
            <a:ext cx="594360" cy="5943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654" y="312633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4720" y="3794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17920" y="265176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/>
        </p:spPr>
      </p:sp>
      <p:sp>
        <p:nvSpPr>
          <p:cNvPr id="17" name="Shape 12"/>
          <p:cNvSpPr/>
          <p:nvPr/>
        </p:nvSpPr>
        <p:spPr>
          <a:xfrm>
            <a:off x="7223760" y="2971800"/>
            <a:ext cx="594360" cy="5943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8294" y="312633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09360" y="3794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9052560" y="265176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/>
        </p:spPr>
      </p:sp>
      <p:sp>
        <p:nvSpPr>
          <p:cNvPr id="21" name="Shape 15"/>
          <p:cNvSpPr/>
          <p:nvPr/>
        </p:nvSpPr>
        <p:spPr>
          <a:xfrm>
            <a:off x="10058400" y="2971800"/>
            <a:ext cx="594360" cy="5943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2934" y="312633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4000" y="3794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PREP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Preparation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9F1F7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Basics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AI and ML?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Supervised vs Unsupervised Learning.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9F1F7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446520" y="22860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Linear Regression?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regression equation.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dependent &amp; independent variables?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9F1F7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77240" y="4434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KNN and how does it work?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value of K?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38862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9F1F7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&amp; Projects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446520" y="4434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Root Node and Leaf Node.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Decision Trees?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evaluate and improve model accuracy?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CAPSTONE ACTIVITY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Performance Prediction System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using: Python  •  Pandas  •  NumPy  •  Scikit-Learn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53212" y="2286000"/>
            <a:ext cx="2084832" cy="2377440"/>
          </a:xfrm>
          <a:prstGeom prst="roundRect">
            <a:avLst>
              <a:gd name="adj" fmla="val 5263"/>
            </a:avLst>
          </a:prstGeom>
          <a:solidFill>
            <a:srgbClr val="E9F1F7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21308" y="2560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954" y="270296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2940" y="333756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Student Data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802636" y="2286000"/>
            <a:ext cx="2084832" cy="2377440"/>
          </a:xfrm>
          <a:prstGeom prst="roundRect">
            <a:avLst>
              <a:gd name="adj" fmla="val 5263"/>
            </a:avLst>
          </a:prstGeom>
          <a:solidFill>
            <a:srgbClr val="E9F1F7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70732" y="2560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3378" y="270296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12364" y="333756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ML Model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052060" y="2286000"/>
            <a:ext cx="2084832" cy="2377440"/>
          </a:xfrm>
          <a:prstGeom prst="roundRect">
            <a:avLst>
              <a:gd name="adj" fmla="val 5263"/>
            </a:avLst>
          </a:prstGeom>
          <a:solidFill>
            <a:srgbClr val="E9F1F7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820156" y="2560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802" y="27029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61788" y="333756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Marks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7301484" y="2286000"/>
            <a:ext cx="2084832" cy="2377440"/>
          </a:xfrm>
          <a:prstGeom prst="roundRect">
            <a:avLst>
              <a:gd name="adj" fmla="val 5263"/>
            </a:avLst>
          </a:prstGeom>
          <a:solidFill>
            <a:srgbClr val="E9F1F7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069580" y="2560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2226" y="2702966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11212" y="333756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Results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9550908" y="2286000"/>
            <a:ext cx="2084832" cy="2377440"/>
          </a:xfrm>
          <a:prstGeom prst="roundRect">
            <a:avLst>
              <a:gd name="adj" fmla="val 5263"/>
            </a:avLst>
          </a:prstGeom>
          <a:solidFill>
            <a:srgbClr val="E9F1F7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10319004" y="2560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1650" y="2702966"/>
            <a:ext cx="263347" cy="26334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660636" y="333756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Accuracy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 brings together every concept from Modules 1-3 into a single deployable prediction system.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Opportunities in Machine Learning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E9F1F7"/>
          </a:solidFill>
          <a:ln/>
        </p:spPr>
      </p:sp>
      <p:sp>
        <p:nvSpPr>
          <p:cNvPr id="7" name="Shape 4"/>
          <p:cNvSpPr/>
          <p:nvPr/>
        </p:nvSpPr>
        <p:spPr>
          <a:xfrm>
            <a:off x="804672" y="2103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6" y="225765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8346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Analyst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04672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data trends and support business decisions.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410712" y="18288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E9F1F7"/>
          </a:solidFill>
          <a:ln/>
        </p:spPr>
      </p:sp>
      <p:sp>
        <p:nvSpPr>
          <p:cNvPr id="12" name="Shape 8"/>
          <p:cNvSpPr/>
          <p:nvPr/>
        </p:nvSpPr>
        <p:spPr>
          <a:xfrm>
            <a:off x="3666744" y="2103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1278" y="225765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66744" y="28346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Engineer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3666744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deploy predictive models into production.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72784" y="18288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E9F1F7"/>
          </a:solidFill>
          <a:ln/>
        </p:spPr>
      </p:sp>
      <p:sp>
        <p:nvSpPr>
          <p:cNvPr id="17" name="Shape 12"/>
          <p:cNvSpPr/>
          <p:nvPr/>
        </p:nvSpPr>
        <p:spPr>
          <a:xfrm>
            <a:off x="6528816" y="2103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3350" y="225765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28816" y="28346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Scientist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528816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statistics, ML, and domain knowledge for insight.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9134856" y="18288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E9F1F7"/>
          </a:solidFill>
          <a:ln/>
        </p:spPr>
      </p:sp>
      <p:sp>
        <p:nvSpPr>
          <p:cNvPr id="22" name="Shape 16"/>
          <p:cNvSpPr/>
          <p:nvPr/>
        </p:nvSpPr>
        <p:spPr>
          <a:xfrm>
            <a:off x="9390888" y="2103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5422" y="2257654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90888" y="283464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/ ML Developer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9390888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ML-powered applications and tools.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9F1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7160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Summary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9F1F7"/>
          </a:solidFill>
          <a:ln/>
        </p:spPr>
      </p:sp>
      <p:sp>
        <p:nvSpPr>
          <p:cNvPr id="7" name="Shape 4"/>
          <p:cNvSpPr/>
          <p:nvPr/>
        </p:nvSpPr>
        <p:spPr>
          <a:xfrm>
            <a:off x="804672" y="20574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6" y="221193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83464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04672" y="3291840"/>
            <a:ext cx="20939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ML, types of ML, and the end-to-end ML workflow.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410712" y="17830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9F1F7"/>
          </a:solidFill>
          <a:ln/>
        </p:spPr>
      </p:sp>
      <p:sp>
        <p:nvSpPr>
          <p:cNvPr id="12" name="Shape 8"/>
          <p:cNvSpPr/>
          <p:nvPr/>
        </p:nvSpPr>
        <p:spPr>
          <a:xfrm>
            <a:off x="3666744" y="20574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1278" y="221193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66744" y="283464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3666744" y="3291840"/>
            <a:ext cx="20939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K-Nearest Neighbors, and Decision Trees — with code.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72784" y="17830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9F1F7"/>
          </a:solidFill>
          <a:ln/>
        </p:spPr>
      </p:sp>
      <p:sp>
        <p:nvSpPr>
          <p:cNvPr id="17" name="Shape 12"/>
          <p:cNvSpPr/>
          <p:nvPr/>
        </p:nvSpPr>
        <p:spPr>
          <a:xfrm>
            <a:off x="6528816" y="20574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3350" y="221193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28816" y="283464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Project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6528816" y="3291840"/>
            <a:ext cx="20939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Student Marks Predictor from data to prediction.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134856" y="178308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E9F1F7"/>
          </a:solidFill>
          <a:ln/>
        </p:spPr>
      </p:sp>
      <p:sp>
        <p:nvSpPr>
          <p:cNvPr id="22" name="Shape 16"/>
          <p:cNvSpPr/>
          <p:nvPr/>
        </p:nvSpPr>
        <p:spPr>
          <a:xfrm>
            <a:off x="9390888" y="20574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5422" y="2211934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90888" y="283464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Ready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9390888" y="3291840"/>
            <a:ext cx="20939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 and career paths in the ML job market.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2011680"/>
            <a:ext cx="2286000" cy="22860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2468880"/>
            <a:ext cx="1371600" cy="13716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282549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Answers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your questions on Machine Learning with Python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159752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554480"/>
            <a:ext cx="1005840" cy="10058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074" y="181599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834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180076" y="4206240"/>
            <a:ext cx="18288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389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Mr. Venkatesh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Learning and Innovation! 🚀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1941</Words>
  <Application>Microsoft Office PowerPoint</Application>
  <PresentationFormat>Widescreen</PresentationFormat>
  <Paragraphs>436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with Python</dc:title>
  <dc:subject>PptxGenJS Presentation</dc:subject>
  <dc:creator>Mr. Venkatesh</dc:creator>
  <cp:lastModifiedBy>Madhuri Yalavarthi</cp:lastModifiedBy>
  <cp:revision>1</cp:revision>
  <dcterms:created xsi:type="dcterms:W3CDTF">2026-07-08T11:46:36Z</dcterms:created>
  <dcterms:modified xsi:type="dcterms:W3CDTF">2026-07-08T11:53:25Z</dcterms:modified>
</cp:coreProperties>
</file>
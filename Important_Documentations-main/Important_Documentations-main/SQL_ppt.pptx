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75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5" name="Image 0" descr="/home/claude/sql-ppt/images/database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899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TRAINING PROGRAM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 Programming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Querying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theory-to-practice SQL course for beginners, developers,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analysts, DBAs and working professionals.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532120"/>
            <a:ext cx="201168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 To Master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4617720"/>
          </a:xfrm>
          <a:prstGeom prst="roundRect">
            <a:avLst>
              <a:gd name="adj" fmla="val 1980"/>
            </a:avLst>
          </a:prstGeom>
          <a:solidFill>
            <a:srgbClr val="EAF1FC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 Programming and Querying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Venkatesh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Description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950208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hands-on, industry-aligned SQL program combining theory, live coding, real-time business scenarios and interview preparation — designed to take learners from database basics to confident, job-ready query writers.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5727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Course Is For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9992" y="2011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079992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679192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679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Learners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79992" y="2679192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079992" y="2679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346704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3467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79992" y="3346704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079992" y="33467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014216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01421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ql-ppt/image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Databases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databases are required, and the difference between DBMS and RDBMS.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15384" y="160020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ql-ppt/images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238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Build Tables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9704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 and manage database structures using DDL commands.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60020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56448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ql-ppt/images/edi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982" y="20290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Manipulate 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56448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 and delete records confidently using DML operations.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3308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4074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ql-ppt/image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4" y="45619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1846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&amp; Analyze Data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5504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filter, sort and summarize data using SELECT and aggregate functions.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15384" y="413308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9704" y="44074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sql-ppt/images/lin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238" y="45619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51846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Across Tables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89704" y="55504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tables using JOINs and enforce integrity with constraints.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82128" y="413308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56448" y="44074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sql-ppt/images/briefc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0982" y="45619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56448" y="51846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 SQL Interviews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156448" y="55504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SQL knowledge to real-time business scenarios and interview questions.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Course Is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6" name="Image 0" descr="/home/claude/sql-ppt/images/boo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+ Practical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explained first, then applied hands-on.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15384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10" name="Shape 7"/>
          <p:cNvSpPr/>
          <p:nvPr/>
        </p:nvSpPr>
        <p:spPr>
          <a:xfrm>
            <a:off x="4471416" y="1856232"/>
            <a:ext cx="548640" cy="5486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1" name="Image 1" descr="/home/claude/sql-ppt/images/chart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062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75504" y="1801368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Examples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71416" y="256032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using realistic business data.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1856232"/>
            <a:ext cx="548640" cy="5486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6" name="Image 2" descr="/home/claude/sql-ppt/images/building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06" y="1998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2248" y="1801368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Use Cases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38160" y="256032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drawn from real organizations.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160520"/>
            <a:ext cx="548640" cy="5486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21" name="Image 3" descr="/home/claude/sql-ppt/images/laptop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43031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05656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Exercises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86460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SQL yourself, every module.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15384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25" name="Shape 19"/>
          <p:cNvSpPr/>
          <p:nvPr/>
        </p:nvSpPr>
        <p:spPr>
          <a:xfrm>
            <a:off x="4471416" y="4160520"/>
            <a:ext cx="548640" cy="5486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26" name="Image 4" descr="/home/claude/sql-ppt/images/project_sk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062" y="430316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75504" y="4105656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71416" y="486460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concepts to build a working system.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82128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4160520"/>
            <a:ext cx="548640" cy="5486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31" name="Image 5" descr="/home/claude/sql-ppt/images/question_sk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806" y="430316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2248" y="4105656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Preparation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38160" y="486460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Q&amp;A to build job readiness.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Training Plan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 (hrs)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(hrs)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(hrs)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DBMS Basics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Database, DBMS, RDBMS, Tables,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ALTER, 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UPDATE,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SQL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WHERE, ORDER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SQL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Functions, GROUP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SQL Joins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INNER, LEFT, RIGHT JOIN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Foreign Key,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2 + 2 + 3 + 3 + 2 + 3 + 2 = 17 Hours (Theory + Practical)</a:t>
            </a:r>
            <a:endParaRPr lang="en-US" sz="1200" dirty="0"/>
          </a:p>
        </p:txBody>
      </p:sp>
      <p:sp>
        <p:nvSpPr>
          <p:cNvPr id="4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Databases &amp; DBMS vs RDBMS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Knowledge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463040" cy="502920"/>
          </a:xfrm>
          <a:prstGeom prst="roundRect">
            <a:avLst>
              <a:gd name="adj" fmla="val 16364"/>
            </a:avLst>
          </a:prstGeom>
          <a:solidFill>
            <a:srgbClr val="EAF1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5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31720" y="1920240"/>
            <a:ext cx="1463040" cy="502920"/>
          </a:xfrm>
          <a:prstGeom prst="roundRect">
            <a:avLst>
              <a:gd name="adj" fmla="val 16364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4760" y="1874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0" y="1920240"/>
            <a:ext cx="1463040" cy="502920"/>
          </a:xfrm>
          <a:prstGeom prst="roundRect">
            <a:avLst>
              <a:gd name="adj" fmla="val 16364"/>
            </a:avLst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Benefits</a:t>
            </a:r>
            <a:endParaRPr lang="en-US" sz="1500" dirty="0"/>
          </a:p>
        </p:txBody>
      </p:sp>
      <p:pic>
        <p:nvPicPr>
          <p:cNvPr id="14" name="Image 0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3639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</a:t>
            </a:r>
            <a:endParaRPr lang="en-US" sz="1300" dirty="0"/>
          </a:p>
        </p:txBody>
      </p:sp>
      <p:pic>
        <p:nvPicPr>
          <p:cNvPr id="16" name="Image 1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935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pic>
        <p:nvPicPr>
          <p:cNvPr id="18" name="Image 2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507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pic>
        <p:nvPicPr>
          <p:cNvPr id="20" name="Image 3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0799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Retrieval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Customer Data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94960"/>
          <a:ext cx="5120640" cy="6400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Shape 17"/>
          <p:cNvSpPr/>
          <p:nvPr/>
        </p:nvSpPr>
        <p:spPr>
          <a:xfrm>
            <a:off x="6126480" y="150876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25" name="Text 18"/>
          <p:cNvSpPr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vs RDBMS</a:t>
            </a:r>
            <a:endParaRPr lang="en-US" sz="17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240280"/>
          <a:ext cx="4846320" cy="18288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RDBMS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Relations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Relations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19"/>
          <p:cNvSpPr/>
          <p:nvPr/>
        </p:nvSpPr>
        <p:spPr>
          <a:xfrm>
            <a:off x="6446520" y="42062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DBMS (RDBMS) stores data in structured tables with defined relationships — making it the standard for modern applications like MySQL, PostgreSQL, Oracle and SQL Server.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Basics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Rows &amp; Columns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Concept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databases are required for real applications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DBMS and RDBMS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physically and logically stored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database applications (banking, e-commerce, HR)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EAF1FC"/>
          </a:solidFill>
          <a:ln/>
        </p:spPr>
      </p:sp>
      <p:pic>
        <p:nvPicPr>
          <p:cNvPr id="16" name="Image 0" descr="/home/claude/sql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920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212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College Database Schema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understand database structure and create simple schemas.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49240" y="1481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Syntax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49240" y="1810512"/>
            <a:ext cx="6291072" cy="3108960"/>
          </a:xfrm>
          <a:prstGeom prst="roundRect">
            <a:avLst>
              <a:gd name="adj" fmla="val 2353"/>
            </a:avLst>
          </a:prstGeom>
          <a:solidFill>
            <a:srgbClr val="13203B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1947672"/>
            <a:ext cx="58338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Student Database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StudentDB;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Employee Database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EmployeeDB;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table stores rows (records) and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columns (fields), e.g. Students(ID, Name, City)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Data Definition Language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defines new database objects and structure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modifies an existing table — add or change columns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permanently deletes tables — use with caution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Precautions before dropping production tables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EAF1FC"/>
          </a:solidFill>
          <a:ln/>
        </p:spPr>
      </p:sp>
      <p:pic>
        <p:nvPicPr>
          <p:cNvPr id="16" name="Image 0" descr="/home/claude/sql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920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212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Company Database Tables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create and manage database structures.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49240" y="1481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Syntax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49240" y="1810512"/>
            <a:ext cx="6291072" cy="3383280"/>
          </a:xfrm>
          <a:prstGeom prst="roundRect">
            <a:avLst>
              <a:gd name="adj" fmla="val 2162"/>
            </a:avLst>
          </a:prstGeom>
          <a:solidFill>
            <a:srgbClr val="13203B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1947672"/>
            <a:ext cx="58338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Employee Table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EmpID INT,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DECIMAL(10,2)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Alter Table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Department VARCHAR(50);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Drop Table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Employee;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Data Manipulation Language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adds, changes and removes records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basics — commit and rollback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data consistency during changes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EAF1FC"/>
          </a:solidFill>
          <a:ln/>
        </p:spPr>
      </p:sp>
      <p:pic>
        <p:nvPicPr>
          <p:cNvPr id="16" name="Image 0" descr="/home/claude/sql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920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212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CRUD Operations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perform Create, Read, Update and Delete operations.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49240" y="1481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Syntax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49240" y="1810512"/>
            <a:ext cx="6291072" cy="3383280"/>
          </a:xfrm>
          <a:prstGeom prst="roundRect">
            <a:avLst>
              <a:gd name="adj" fmla="val 2162"/>
            </a:avLst>
          </a:prstGeom>
          <a:solidFill>
            <a:srgbClr val="13203B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1947672"/>
            <a:ext cx="58338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Records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VALUES(101, 'John', 50000);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Update Records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Employee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Salary = 60000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EmpID = 101;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Records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Employee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EmpID = 101;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 concepts — selecting the columns you need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records with conditions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result sets in ascending or descending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EAF1FC"/>
          </a:solidFill>
          <a:ln/>
        </p:spPr>
      </p:sp>
      <p:pic>
        <p:nvPicPr>
          <p:cNvPr id="16" name="Image 0" descr="/home/claude/sql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920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212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Reporting Dashboard Queries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retrieve and analyze data.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49240" y="1481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Syntax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49240" y="1810512"/>
            <a:ext cx="6291072" cy="1920240"/>
          </a:xfrm>
          <a:prstGeom prst="roundRect">
            <a:avLst>
              <a:gd name="adj" fmla="val 3810"/>
            </a:avLst>
          </a:prstGeom>
          <a:solidFill>
            <a:srgbClr val="13203B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1947672"/>
            <a:ext cx="5833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50000;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DESC;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49240" y="3895344"/>
            <a:ext cx="6291072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pic>
        <p:nvPicPr>
          <p:cNvPr id="24" name="Image 1" descr="/home/claude/sql-ppt/images/chart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4096512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89320" y="4069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Scenario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577840" y="4389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performing employees and generate monthly salary reports for management review.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Functions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— total number of records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and AVG() — totals and averages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and MAX() — smallest and largest values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summarize data by category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EAF1FC"/>
          </a:solidFill>
          <a:ln/>
        </p:spPr>
      </p:sp>
      <p:pic>
        <p:nvPicPr>
          <p:cNvPr id="16" name="Image 0" descr="/home/claude/sql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920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212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Salary Summary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generate business insights using SQL functions.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49240" y="1481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Syntax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49240" y="1810512"/>
            <a:ext cx="6291072" cy="2377440"/>
          </a:xfrm>
          <a:prstGeom prst="roundRect">
            <a:avLst>
              <a:gd name="adj" fmla="val 3077"/>
            </a:avLst>
          </a:prstGeom>
          <a:solidFill>
            <a:srgbClr val="13203B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1947672"/>
            <a:ext cx="58338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Employee;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 FROM Employee;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AVG(Salary)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Department;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Joins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Joins Are Needed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is often split across multiple tables. Joins combine rows from two or more tables based on a shared key.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737360" cy="1737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3977640"/>
            <a:ext cx="1737360" cy="17373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99032" y="4572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One-to-One · One-to-Many · Many-to-Many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49240" y="1481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Syntax — INNER JOIN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9240" y="1810512"/>
            <a:ext cx="6291072" cy="2286000"/>
          </a:xfrm>
          <a:prstGeom prst="roundRect">
            <a:avLst>
              <a:gd name="adj" fmla="val 3200"/>
            </a:avLst>
          </a:prstGeom>
          <a:solidFill>
            <a:srgbClr val="13203B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947672"/>
            <a:ext cx="5833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Customers table + Orders table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c.CustomerName,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o.OrderAmount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Orders 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c.CustomerID = o.CustomerID;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49240" y="4261104"/>
            <a:ext cx="6291072" cy="960120"/>
          </a:xfrm>
          <a:prstGeom prst="roundRect">
            <a:avLst>
              <a:gd name="adj" fmla="val 8571"/>
            </a:avLst>
          </a:prstGeom>
          <a:solidFill>
            <a:srgbClr val="EAF1FC"/>
          </a:solidFill>
          <a:ln/>
        </p:spPr>
      </p:sp>
      <p:pic>
        <p:nvPicPr>
          <p:cNvPr id="25" name="Image 0" descr="/home/claude/sql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434840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989320" y="4416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Activity: Combine Customer and Orders Data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77840" y="47731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retrieve data from multiple tables.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349240" y="5349240"/>
            <a:ext cx="6291072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5577840" y="53492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= matches only  ·  LEFT = all left + matches  ·  RIGHT = all right + matches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0" y="45720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457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— enforces uniqueness of each row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— builds relationships between tables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— prevents duplicate values in a column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EAF1FC"/>
          </a:solidFill>
          <a:ln/>
        </p:spPr>
      </p:sp>
      <p:pic>
        <p:nvPicPr>
          <p:cNvPr id="16" name="Image 0" descr="/home/claude/sql-ppt/images/bulb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920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5212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Employee–Department Relationship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enforce data integrity and relationships.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49240" y="1481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Syntax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49240" y="1810512"/>
            <a:ext cx="6291072" cy="3566160"/>
          </a:xfrm>
          <a:prstGeom prst="roundRect">
            <a:avLst>
              <a:gd name="adj" fmla="val 2051"/>
            </a:avLst>
          </a:prstGeom>
          <a:solidFill>
            <a:srgbClr val="13203B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1947672"/>
            <a:ext cx="58338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DeptID INT PRIMARY KEY,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DeptName VARCHAR(50)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EmpID INT PRIMARY KEY,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EmpName VARCHAR(50),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DeptID INT,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KEY(DeptID)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Department(DeptID)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MINI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Employee Management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10896" cy="310896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6" name="Image 0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66544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984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Management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37560" y="2011680"/>
            <a:ext cx="310896" cy="310896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9" name="Image 1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06654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984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2" name="Image 2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6334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5511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Reports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337560" y="2578608"/>
            <a:ext cx="310896" cy="310896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5" name="Image 3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63347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49040" y="25511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3145536"/>
            <a:ext cx="310896" cy="310896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8" name="Image 4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0040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118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Search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3337560" y="3145536"/>
            <a:ext cx="310896" cy="310896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21" name="Image 5" descr="/home/claude/sql-ppt/images/chec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3200400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49040" y="3118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Reports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Applied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548640" y="4389120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6327A"/>
          </a:solidFill>
          <a:ln/>
        </p:spPr>
      </p:sp>
      <p:sp>
        <p:nvSpPr>
          <p:cNvPr id="25" name="Text 17"/>
          <p:cNvSpPr/>
          <p:nvPr/>
        </p:nvSpPr>
        <p:spPr>
          <a:xfrm>
            <a:off x="54864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2377440" y="4389120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6327A"/>
          </a:solidFill>
          <a:ln/>
        </p:spPr>
      </p:sp>
      <p:sp>
        <p:nvSpPr>
          <p:cNvPr id="27" name="Text 19"/>
          <p:cNvSpPr/>
          <p:nvPr/>
        </p:nvSpPr>
        <p:spPr>
          <a:xfrm>
            <a:off x="237744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206240" y="4389120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6327A"/>
          </a:solidFill>
          <a:ln/>
        </p:spPr>
      </p:sp>
      <p:sp>
        <p:nvSpPr>
          <p:cNvPr id="29" name="Text 21"/>
          <p:cNvSpPr/>
          <p:nvPr/>
        </p:nvSpPr>
        <p:spPr>
          <a:xfrm>
            <a:off x="420624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035040" y="4389120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6327A"/>
          </a:solidFill>
          <a:ln/>
        </p:spPr>
      </p:sp>
      <p:sp>
        <p:nvSpPr>
          <p:cNvPr id="31" name="Text 23"/>
          <p:cNvSpPr/>
          <p:nvPr/>
        </p:nvSpPr>
        <p:spPr>
          <a:xfrm>
            <a:off x="603504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7863840" y="4389120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6327A"/>
          </a:solidFill>
          <a:ln/>
        </p:spPr>
      </p:sp>
      <p:sp>
        <p:nvSpPr>
          <p:cNvPr id="33" name="Text 25"/>
          <p:cNvSpPr/>
          <p:nvPr/>
        </p:nvSpPr>
        <p:spPr>
          <a:xfrm>
            <a:off x="786384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9692640" y="4389120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6327A"/>
          </a:solidFill>
          <a:ln/>
        </p:spPr>
      </p:sp>
      <p:sp>
        <p:nvSpPr>
          <p:cNvPr id="35" name="Text 27"/>
          <p:cNvSpPr/>
          <p:nvPr/>
        </p:nvSpPr>
        <p:spPr>
          <a:xfrm>
            <a:off x="969264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7406640" y="160020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41B49"/>
          </a:solidFill>
          <a:ln/>
        </p:spPr>
      </p:sp>
      <p:sp>
        <p:nvSpPr>
          <p:cNvPr id="37" name="Shape 29"/>
          <p:cNvSpPr/>
          <p:nvPr/>
        </p:nvSpPr>
        <p:spPr>
          <a:xfrm>
            <a:off x="7726680" y="1874520"/>
            <a:ext cx="777240" cy="7772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38" name="Image 6" descr="/home/claude/sql-ppt/images/server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762" y="2076602"/>
            <a:ext cx="373075" cy="37307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686800" y="1920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7680960" y="2880360"/>
            <a:ext cx="3703320" cy="530352"/>
          </a:xfrm>
          <a:prstGeom prst="roundRect">
            <a:avLst>
              <a:gd name="adj" fmla="val 12069"/>
            </a:avLst>
          </a:prstGeom>
          <a:solidFill>
            <a:srgbClr val="26327A"/>
          </a:solidFill>
          <a:ln/>
        </p:spPr>
      </p:sp>
      <p:pic>
        <p:nvPicPr>
          <p:cNvPr id="41" name="Image 7" descr="/home/claude/sql-ppt/images/layer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2999232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229600" y="28803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Table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7680960" y="3593592"/>
            <a:ext cx="3703320" cy="530352"/>
          </a:xfrm>
          <a:prstGeom prst="roundRect">
            <a:avLst>
              <a:gd name="adj" fmla="val 12069"/>
            </a:avLst>
          </a:prstGeom>
          <a:solidFill>
            <a:srgbClr val="26327A"/>
          </a:solidFill>
          <a:ln/>
        </p:spPr>
      </p:sp>
      <p:pic>
        <p:nvPicPr>
          <p:cNvPr id="44" name="Image 8" descr="/home/claude/sql-ppt/images/layer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3712464"/>
            <a:ext cx="292608" cy="29260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229600" y="35935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</a:t>
            </a:r>
            <a:endParaRPr lang="en-US" sz="1250" dirty="0"/>
          </a:p>
        </p:txBody>
      </p:sp>
      <p:sp>
        <p:nvSpPr>
          <p:cNvPr id="46" name="Shape 35"/>
          <p:cNvSpPr/>
          <p:nvPr/>
        </p:nvSpPr>
        <p:spPr>
          <a:xfrm>
            <a:off x="7680960" y="4306824"/>
            <a:ext cx="3703320" cy="530352"/>
          </a:xfrm>
          <a:prstGeom prst="roundRect">
            <a:avLst>
              <a:gd name="adj" fmla="val 12069"/>
            </a:avLst>
          </a:prstGeom>
          <a:solidFill>
            <a:srgbClr val="26327A"/>
          </a:solidFill>
          <a:ln/>
        </p:spPr>
      </p:sp>
      <p:pic>
        <p:nvPicPr>
          <p:cNvPr id="47" name="Image 9" descr="/home/claude/sql-ppt/images/layer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4425696"/>
            <a:ext cx="292608" cy="29260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229600" y="430682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Queries</a:t>
            </a:r>
            <a:endParaRPr lang="en-US" sz="1250" dirty="0"/>
          </a:p>
        </p:txBody>
      </p:sp>
      <p:sp>
        <p:nvSpPr>
          <p:cNvPr id="49" name="Shape 37"/>
          <p:cNvSpPr/>
          <p:nvPr/>
        </p:nvSpPr>
        <p:spPr>
          <a:xfrm>
            <a:off x="7680960" y="5020056"/>
            <a:ext cx="3703320" cy="530352"/>
          </a:xfrm>
          <a:prstGeom prst="roundRect">
            <a:avLst>
              <a:gd name="adj" fmla="val 12069"/>
            </a:avLst>
          </a:prstGeom>
          <a:solidFill>
            <a:srgbClr val="26327A"/>
          </a:solidFill>
          <a:ln/>
        </p:spPr>
      </p:sp>
      <p:pic>
        <p:nvPicPr>
          <p:cNvPr id="50" name="Image 10" descr="/home/claude/sql-ppt/images/layer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5138928"/>
            <a:ext cx="292608" cy="29260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8229600" y="50200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Reports</a:t>
            </a:r>
            <a:endParaRPr lang="en-US" sz="1250" dirty="0"/>
          </a:p>
        </p:txBody>
      </p:sp>
      <p:sp>
        <p:nvSpPr>
          <p:cNvPr id="52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53" name="Text 40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54" name="Text 41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SQL Interview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1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608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0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DBMS?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8434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43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61518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DBMS and RDBMS?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0789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078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5387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Primary Key?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143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14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4622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Foreign Key?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549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549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538581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DELETE and DROP?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&amp; Practical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AF1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ql-ppt/image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INNER JOIN.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GROUP BY.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Aggregate Functions.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1" name="Image 1" descr="/home/claude/sql-ppt/images/cod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0171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SQL Questions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highest salary employee.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duplicate records.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employees department-wise.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Clean, Efficient, Safe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ql-ppt/image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Meaningful Names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tables and columns clearly — avoid ambiguous abbreviations.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15384" y="16002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ql-ppt/image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062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1416" y="2560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SELECT *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71416" y="289864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columns you need for better performance.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82128" y="16002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ql-ppt/image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06" y="1998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560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Define Keys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38160" y="289864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Primary and Foreign Keys to protect data integrity.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ql-ppt/image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433059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92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Wisely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23036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columns used often in WHERE and JOIN conditions.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15384" y="3931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41879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sql-ppt/images/ed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062" y="433059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71416" y="4892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Transactions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71416" y="523036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multi-step changes in transactions with COMMIT/ROLLBACK.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882128" y="3931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EAF1FC"/>
          </a:solidFill>
          <a:ln/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38160" y="41879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sql-ppt/images/clipboar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806" y="433059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892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Your Code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38160" y="5230368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complex queries so others (and future you) understand them.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SQL Skills Take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6" name="Image 0" descr="/home/claude/sql-ppt/images/chart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0036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5623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business data and build reports.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15384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10" name="Shape 7"/>
          <p:cNvSpPr/>
          <p:nvPr/>
        </p:nvSpPr>
        <p:spPr>
          <a:xfrm>
            <a:off x="4471416" y="1856232"/>
            <a:ext cx="566928" cy="566928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1" name="Image 1" descr="/home/claude/sql-ppt/images/server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817" y="20036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2936" y="185623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Administrator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71416" y="2606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Manage, secure and optimize databases.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60020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1856232"/>
            <a:ext cx="566928" cy="566928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16" name="Image 2" descr="/home/claude/sql-ppt/images/code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561" y="20036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5623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38160" y="2606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data-driven applications.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160520"/>
            <a:ext cx="566928" cy="566928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21" name="Image 3" descr="/home/claude/sql-ppt/images/layer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073" y="430792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4160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910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 pipelines and warehouses.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15384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25" name="Shape 19"/>
          <p:cNvSpPr/>
          <p:nvPr/>
        </p:nvSpPr>
        <p:spPr>
          <a:xfrm>
            <a:off x="4471416" y="4160520"/>
            <a:ext cx="566928" cy="566928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26" name="Image 4" descr="/home/claude/sql-ppt/images/grad_sk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817" y="430792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2936" y="4160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Developer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71416" y="4910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dashboards and business insights.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82128" y="3904488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41B49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4160520"/>
            <a:ext cx="566928" cy="566928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31" name="Image 5" descr="/home/claude/sql-ppt/images/usertie_sk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5561" y="430792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4160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Test Engineer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38160" y="4910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through SQL-based testing.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Basics — Databases, DBMS vs RDBMS, tables &amp; keys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234440" y="2258568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860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258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CREATE, ALTER, DROP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34440" y="2825496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529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52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282549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INSERT, UPDATE, DELETE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34440" y="3392424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419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3392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— SELECT, WHERE, ORDER BY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234440" y="3959352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9867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86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4440" y="395935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 — Aggregates &amp; GROUP BY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234440" y="4526280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553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553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34440" y="45262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INNER, LEFT, RIGHT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234440" y="5093208"/>
            <a:ext cx="9875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34440" y="50932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Primary Key, Foreign Key, Unique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5547208" y="1554480"/>
            <a:ext cx="1097280" cy="109728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4" name="Image 0" descr="/home/claude/sql-ppt/images/question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500" y="183977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828800" y="370332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for queries, clarifications and deeper dives into any SQL topic covered today.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417320"/>
            <a:ext cx="1097280" cy="1097280"/>
          </a:xfrm>
          <a:prstGeom prst="ellipse">
            <a:avLst/>
          </a:prstGeom>
          <a:solidFill>
            <a:srgbClr val="26327A"/>
          </a:solidFill>
          <a:ln/>
        </p:spPr>
      </p:sp>
      <p:pic>
        <p:nvPicPr>
          <p:cNvPr id="5" name="Image 0" descr="/home/claude/sql-ppt/images/handshake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500" y="170261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Training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90008" y="4617720"/>
            <a:ext cx="201168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 Further Learning and Support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Programming and Querying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1866</Words>
  <Application>Microsoft Office PowerPoint</Application>
  <PresentationFormat>Widescreen</PresentationFormat>
  <Paragraphs>501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Database Programming and Querying</dc:title>
  <dc:subject>PptxGenJS Presentation</dc:subject>
  <dc:creator>Mr. Venkatesh</dc:creator>
  <cp:lastModifiedBy>Madhuri Yalavarthi</cp:lastModifiedBy>
  <cp:revision>1</cp:revision>
  <dcterms:created xsi:type="dcterms:W3CDTF">2026-07-08T10:43:46Z</dcterms:created>
  <dcterms:modified xsi:type="dcterms:W3CDTF">2026-07-08T10:53:33Z</dcterms:modified>
</cp:coreProperties>
</file>
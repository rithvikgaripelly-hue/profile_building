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0" d="100"/>
          <a:sy n="70" d="100"/>
        </p:scale>
        <p:origin x="244"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557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Module 1 — Introduction to Python. Allocate 1 hour(s) theory + 1 hour(s) practical (total 2h). Cover topics: Programming Fundamentals, What is Python?, Features of Python, Applications of Python, Python Installation, IDE Setup (VS Code, PyCharm, Jupyter). Ensure all students complete the practical exercises before moving to the next module.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Module 2 — Variables and Data Types. Allocate 1 hour(s) theory + 1 hour(s) practical (total 2h). Cover topics: Variables, Input and Output, Operators, Data Types. Ensure all students complete the practical exercises before moving to the next module.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Module 3 — Conditions. Allocate 1 hour(s) theory + 1 hour(s) practical (total 2h). Cover topics: if, else, elif, Nested Conditions, Match Case. Ensure all students complete the practical exercises before moving to the next module.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Module 4 — Loops. Allocate 1 hour(s) theory + 2 hour(s) practical (total 3h). Cover topics: for Loop, while Loop, break, continue. Ensure all students complete the practical exercises before moving to the next module.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Module 5 — Strings. Allocate 1 hour(s) theory + 2 hour(s) practical (total 3h). Cover topics: String Basics, Indexing, Slicing, String Methods. Ensure all students complete the practical exercises before moving to the next module.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Module 6 — Collections. Allocate 2 hour(s) theory + 2 hour(s) practical (total 4h). Cover topics: List, Tuple, Set, Dictionary. Ensure all students complete the practical exercises before moving to the next module.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Module 7 — Functions. Allocate 1 hour(s) theory + 2 hour(s) practical (total 3h). Cover topics: Function Definition, Arguments, Return Statement, Lambda Functions. Ensure all students complete the practical exercises before moving to the next module.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Module 8 — Files and Exception Handling. Allocate 1 hour(s) theory + 2 hour(s) practical (total 3h). Cover topics: File Handling, Read Files, Write Files, Exceptions, Try Except. Ensure all students complete the practical exercises before moving to the next module.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Module 9 — Object Oriented Programming. Allocate 2 hour(s) theory + 2 hour(s) practical (total 4h). Cover topics: Class, Object, Constructor, Inheritance. Ensure all students complete the practical exercises before moving to the next module.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503920" y="-2011680"/>
            <a:ext cx="5943600" cy="5943600"/>
          </a:xfrm>
          <a:prstGeom prst="ellipse">
            <a:avLst/>
          </a:prstGeom>
          <a:solidFill>
            <a:srgbClr val="1E5A96">
              <a:alpha val="45000"/>
            </a:srgbClr>
          </a:solidFill>
          <a:ln/>
        </p:spPr>
      </p:sp>
      <p:sp>
        <p:nvSpPr>
          <p:cNvPr id="3" name="Shape 1"/>
          <p:cNvSpPr/>
          <p:nvPr/>
        </p:nvSpPr>
        <p:spPr>
          <a:xfrm>
            <a:off x="-1828800" y="4389120"/>
            <a:ext cx="5029200" cy="5029200"/>
          </a:xfrm>
          <a:prstGeom prst="ellipse">
            <a:avLst/>
          </a:prstGeom>
          <a:solidFill>
            <a:srgbClr val="1E5A96">
              <a:alpha val="35000"/>
            </a:srgbClr>
          </a:solidFill>
          <a:ln/>
        </p:spPr>
      </p:sp>
      <p:sp>
        <p:nvSpPr>
          <p:cNvPr id="4" name="Text 2"/>
          <p:cNvSpPr/>
          <p:nvPr/>
        </p:nvSpPr>
        <p:spPr>
          <a:xfrm>
            <a:off x="731520" y="1371600"/>
            <a:ext cx="9144000" cy="365760"/>
          </a:xfrm>
          <a:prstGeom prst="rect">
            <a:avLst/>
          </a:prstGeom>
          <a:noFill/>
          <a:ln/>
        </p:spPr>
        <p:txBody>
          <a:bodyPr wrap="square" lIns="0" tIns="0" rIns="0" bIns="0" rtlCol="0" anchor="ctr"/>
          <a:lstStyle/>
          <a:p>
            <a:pPr marL="0" indent="0">
              <a:buNone/>
            </a:pPr>
            <a:r>
              <a:rPr lang="en-US" sz="1400" b="1" kern="0" spc="300" dirty="0">
                <a:solidFill>
                  <a:srgbClr val="F2A93B"/>
                </a:solidFill>
              </a:rPr>
              <a:t>PROFESSIONAL TRAINING PROGRAM</a:t>
            </a:r>
            <a:endParaRPr lang="en-US" sz="1400" dirty="0"/>
          </a:p>
        </p:txBody>
      </p:sp>
      <p:sp>
        <p:nvSpPr>
          <p:cNvPr id="5" name="Text 3"/>
          <p:cNvSpPr/>
          <p:nvPr/>
        </p:nvSpPr>
        <p:spPr>
          <a:xfrm>
            <a:off x="731520" y="178308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Python Programming</a:t>
            </a:r>
            <a:endParaRPr lang="en-US" sz="4400" dirty="0"/>
          </a:p>
        </p:txBody>
      </p:sp>
      <p:sp>
        <p:nvSpPr>
          <p:cNvPr id="6" name="Text 4"/>
          <p:cNvSpPr/>
          <p:nvPr/>
        </p:nvSpPr>
        <p:spPr>
          <a:xfrm>
            <a:off x="731520" y="2606040"/>
            <a:ext cx="10058400" cy="594360"/>
          </a:xfrm>
          <a:prstGeom prst="rect">
            <a:avLst/>
          </a:prstGeom>
          <a:noFill/>
          <a:ln/>
        </p:spPr>
        <p:txBody>
          <a:bodyPr wrap="square" lIns="0" tIns="0" rIns="0" bIns="0" rtlCol="0" anchor="ctr"/>
          <a:lstStyle/>
          <a:p>
            <a:pPr marL="0" indent="0">
              <a:buNone/>
            </a:pPr>
            <a:r>
              <a:rPr lang="en-US" sz="2400" dirty="0">
                <a:solidFill>
                  <a:srgbClr val="CFE3F5"/>
                </a:solidFill>
                <a:latin typeface="Cambria" pitchFamily="34" charset="0"/>
                <a:ea typeface="Cambria" pitchFamily="34" charset="-122"/>
                <a:cs typeface="Cambria" pitchFamily="34" charset="-120"/>
              </a:rPr>
              <a:t>Beginner to Professional Level</a:t>
            </a:r>
            <a:endParaRPr lang="en-US" sz="2400" dirty="0"/>
          </a:p>
        </p:txBody>
      </p:sp>
      <p:sp>
        <p:nvSpPr>
          <p:cNvPr id="7" name="Text 5"/>
          <p:cNvSpPr/>
          <p:nvPr/>
        </p:nvSpPr>
        <p:spPr>
          <a:xfrm>
            <a:off x="731520" y="3383280"/>
            <a:ext cx="9875520" cy="457200"/>
          </a:xfrm>
          <a:prstGeom prst="rect">
            <a:avLst/>
          </a:prstGeom>
          <a:noFill/>
          <a:ln/>
        </p:spPr>
        <p:txBody>
          <a:bodyPr wrap="square" lIns="0" tIns="0" rIns="0" bIns="0" rtlCol="0" anchor="ctr"/>
          <a:lstStyle/>
          <a:p>
            <a:pPr marL="0" indent="0">
              <a:buNone/>
            </a:pPr>
            <a:r>
              <a:rPr lang="en-US" sz="1350" dirty="0">
                <a:solidFill>
                  <a:srgbClr val="AFC4D8"/>
                </a:solidFill>
              </a:rPr>
              <a:t>9 Modules  •  26 Total Hours  •  Theory + Hands-on Practice  •  Mini Projects  •  Interview Preparation</a:t>
            </a:r>
            <a:endParaRPr lang="en-US" sz="1350" dirty="0"/>
          </a:p>
        </p:txBody>
      </p:sp>
      <p:sp>
        <p:nvSpPr>
          <p:cNvPr id="8" name="Shape 6"/>
          <p:cNvSpPr/>
          <p:nvPr/>
        </p:nvSpPr>
        <p:spPr>
          <a:xfrm>
            <a:off x="731520" y="4114800"/>
            <a:ext cx="1147572" cy="402336"/>
          </a:xfrm>
          <a:prstGeom prst="roundRect">
            <a:avLst>
              <a:gd name="adj" fmla="val 50000"/>
            </a:avLst>
          </a:prstGeom>
          <a:solidFill>
            <a:srgbClr val="1D3A5C"/>
          </a:solidFill>
          <a:ln w="12700">
            <a:solidFill>
              <a:srgbClr val="1E5A96"/>
            </a:solidFill>
            <a:prstDash val="solid"/>
          </a:ln>
        </p:spPr>
      </p:sp>
      <p:sp>
        <p:nvSpPr>
          <p:cNvPr id="9" name="Text 7"/>
          <p:cNvSpPr/>
          <p:nvPr/>
        </p:nvSpPr>
        <p:spPr>
          <a:xfrm>
            <a:off x="731520" y="4114800"/>
            <a:ext cx="1147572" cy="402336"/>
          </a:xfrm>
          <a:prstGeom prst="rect">
            <a:avLst/>
          </a:prstGeom>
          <a:noFill/>
          <a:ln/>
        </p:spPr>
        <p:txBody>
          <a:bodyPr wrap="square" lIns="0" tIns="0" rIns="0" bIns="0" rtlCol="0" anchor="ctr"/>
          <a:lstStyle/>
          <a:p>
            <a:pPr marL="0" indent="0" algn="ctr">
              <a:buNone/>
            </a:pPr>
            <a:r>
              <a:rPr lang="en-US" sz="1150" dirty="0">
                <a:solidFill>
                  <a:srgbClr val="FFFFFF"/>
                </a:solidFill>
              </a:rPr>
              <a:t>Beginners</a:t>
            </a:r>
            <a:endParaRPr lang="en-US" sz="1150" dirty="0"/>
          </a:p>
        </p:txBody>
      </p:sp>
      <p:sp>
        <p:nvSpPr>
          <p:cNvPr id="10" name="Shape 8"/>
          <p:cNvSpPr/>
          <p:nvPr/>
        </p:nvSpPr>
        <p:spPr>
          <a:xfrm>
            <a:off x="2043684" y="4114800"/>
            <a:ext cx="1060704" cy="402336"/>
          </a:xfrm>
          <a:prstGeom prst="roundRect">
            <a:avLst>
              <a:gd name="adj" fmla="val 50000"/>
            </a:avLst>
          </a:prstGeom>
          <a:solidFill>
            <a:srgbClr val="1D3A5C"/>
          </a:solidFill>
          <a:ln w="12700">
            <a:solidFill>
              <a:srgbClr val="1E5A96"/>
            </a:solidFill>
            <a:prstDash val="solid"/>
          </a:ln>
        </p:spPr>
      </p:sp>
      <p:sp>
        <p:nvSpPr>
          <p:cNvPr id="11" name="Text 9"/>
          <p:cNvSpPr/>
          <p:nvPr/>
        </p:nvSpPr>
        <p:spPr>
          <a:xfrm>
            <a:off x="2043684" y="4114800"/>
            <a:ext cx="1060704" cy="402336"/>
          </a:xfrm>
          <a:prstGeom prst="rect">
            <a:avLst/>
          </a:prstGeom>
          <a:noFill/>
          <a:ln/>
        </p:spPr>
        <p:txBody>
          <a:bodyPr wrap="square" lIns="0" tIns="0" rIns="0" bIns="0" rtlCol="0" anchor="ctr"/>
          <a:lstStyle/>
          <a:p>
            <a:pPr marL="0" indent="0" algn="ctr">
              <a:buNone/>
            </a:pPr>
            <a:r>
              <a:rPr lang="en-US" sz="1150" dirty="0">
                <a:solidFill>
                  <a:srgbClr val="FFFFFF"/>
                </a:solidFill>
              </a:rPr>
              <a:t>Freshers</a:t>
            </a:r>
            <a:endParaRPr lang="en-US" sz="1150" dirty="0"/>
          </a:p>
        </p:txBody>
      </p:sp>
      <p:sp>
        <p:nvSpPr>
          <p:cNvPr id="12" name="Shape 10"/>
          <p:cNvSpPr/>
          <p:nvPr/>
        </p:nvSpPr>
        <p:spPr>
          <a:xfrm>
            <a:off x="3268980" y="4114800"/>
            <a:ext cx="1060704" cy="402336"/>
          </a:xfrm>
          <a:prstGeom prst="roundRect">
            <a:avLst>
              <a:gd name="adj" fmla="val 50000"/>
            </a:avLst>
          </a:prstGeom>
          <a:solidFill>
            <a:srgbClr val="1D3A5C"/>
          </a:solidFill>
          <a:ln w="12700">
            <a:solidFill>
              <a:srgbClr val="1E5A96"/>
            </a:solidFill>
            <a:prstDash val="solid"/>
          </a:ln>
        </p:spPr>
      </p:sp>
      <p:sp>
        <p:nvSpPr>
          <p:cNvPr id="13" name="Text 11"/>
          <p:cNvSpPr/>
          <p:nvPr/>
        </p:nvSpPr>
        <p:spPr>
          <a:xfrm>
            <a:off x="3268980" y="4114800"/>
            <a:ext cx="1060704" cy="402336"/>
          </a:xfrm>
          <a:prstGeom prst="rect">
            <a:avLst/>
          </a:prstGeom>
          <a:noFill/>
          <a:ln/>
        </p:spPr>
        <p:txBody>
          <a:bodyPr wrap="square" lIns="0" tIns="0" rIns="0" bIns="0" rtlCol="0" anchor="ctr"/>
          <a:lstStyle/>
          <a:p>
            <a:pPr marL="0" indent="0" algn="ctr">
              <a:buNone/>
            </a:pPr>
            <a:r>
              <a:rPr lang="en-US" sz="1150" dirty="0">
                <a:solidFill>
                  <a:srgbClr val="FFFFFF"/>
                </a:solidFill>
              </a:rPr>
              <a:t>Students</a:t>
            </a:r>
            <a:endParaRPr lang="en-US" sz="1150" dirty="0"/>
          </a:p>
        </p:txBody>
      </p:sp>
      <p:sp>
        <p:nvSpPr>
          <p:cNvPr id="14" name="Shape 12"/>
          <p:cNvSpPr/>
          <p:nvPr/>
        </p:nvSpPr>
        <p:spPr>
          <a:xfrm>
            <a:off x="4494276" y="4114800"/>
            <a:ext cx="1321308" cy="402336"/>
          </a:xfrm>
          <a:prstGeom prst="roundRect">
            <a:avLst>
              <a:gd name="adj" fmla="val 50000"/>
            </a:avLst>
          </a:prstGeom>
          <a:solidFill>
            <a:srgbClr val="1D3A5C"/>
          </a:solidFill>
          <a:ln w="12700">
            <a:solidFill>
              <a:srgbClr val="1E5A96"/>
            </a:solidFill>
            <a:prstDash val="solid"/>
          </a:ln>
        </p:spPr>
      </p:sp>
      <p:sp>
        <p:nvSpPr>
          <p:cNvPr id="15" name="Text 13"/>
          <p:cNvSpPr/>
          <p:nvPr/>
        </p:nvSpPr>
        <p:spPr>
          <a:xfrm>
            <a:off x="4494276" y="4114800"/>
            <a:ext cx="1321308" cy="402336"/>
          </a:xfrm>
          <a:prstGeom prst="rect">
            <a:avLst/>
          </a:prstGeom>
          <a:noFill/>
          <a:ln/>
        </p:spPr>
        <p:txBody>
          <a:bodyPr wrap="square" lIns="0" tIns="0" rIns="0" bIns="0" rtlCol="0" anchor="ctr"/>
          <a:lstStyle/>
          <a:p>
            <a:pPr marL="0" indent="0" algn="ctr">
              <a:buNone/>
            </a:pPr>
            <a:r>
              <a:rPr lang="en-US" sz="1150" dirty="0">
                <a:solidFill>
                  <a:srgbClr val="FFFFFF"/>
                </a:solidFill>
              </a:rPr>
              <a:t>Job Seekers</a:t>
            </a:r>
            <a:endParaRPr lang="en-US" sz="1150" dirty="0"/>
          </a:p>
        </p:txBody>
      </p:sp>
      <p:sp>
        <p:nvSpPr>
          <p:cNvPr id="16" name="Shape 14"/>
          <p:cNvSpPr/>
          <p:nvPr/>
        </p:nvSpPr>
        <p:spPr>
          <a:xfrm>
            <a:off x="5980176" y="4114800"/>
            <a:ext cx="2189988" cy="402336"/>
          </a:xfrm>
          <a:prstGeom prst="roundRect">
            <a:avLst>
              <a:gd name="adj" fmla="val 50000"/>
            </a:avLst>
          </a:prstGeom>
          <a:solidFill>
            <a:srgbClr val="1D3A5C"/>
          </a:solidFill>
          <a:ln w="12700">
            <a:solidFill>
              <a:srgbClr val="1E5A96"/>
            </a:solidFill>
            <a:prstDash val="solid"/>
          </a:ln>
        </p:spPr>
      </p:sp>
      <p:sp>
        <p:nvSpPr>
          <p:cNvPr id="17" name="Text 15"/>
          <p:cNvSpPr/>
          <p:nvPr/>
        </p:nvSpPr>
        <p:spPr>
          <a:xfrm>
            <a:off x="5980176" y="4114800"/>
            <a:ext cx="2189988" cy="402336"/>
          </a:xfrm>
          <a:prstGeom prst="rect">
            <a:avLst/>
          </a:prstGeom>
          <a:noFill/>
          <a:ln/>
        </p:spPr>
        <p:txBody>
          <a:bodyPr wrap="square" lIns="0" tIns="0" rIns="0" bIns="0" rtlCol="0" anchor="ctr"/>
          <a:lstStyle/>
          <a:p>
            <a:pPr marL="0" indent="0" algn="ctr">
              <a:buNone/>
            </a:pPr>
            <a:r>
              <a:rPr lang="en-US" sz="1150" dirty="0">
                <a:solidFill>
                  <a:srgbClr val="FFFFFF"/>
                </a:solidFill>
              </a:rPr>
              <a:t>Working Professionals</a:t>
            </a:r>
            <a:endParaRPr lang="en-US" sz="1150" dirty="0"/>
          </a:p>
        </p:txBody>
      </p:sp>
      <p:sp>
        <p:nvSpPr>
          <p:cNvPr id="18" name="Text 16"/>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a:t>
            </a:r>
            <a:endParaRPr lang="en-US" sz="1000" dirty="0"/>
          </a:p>
        </p:txBody>
      </p:sp>
      <p:sp>
        <p:nvSpPr>
          <p:cNvPr id="19" name="Text 17"/>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COURSE OVERVIEW</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What This Course Covers</a:t>
            </a:r>
            <a:endParaRPr lang="en-US" sz="2700" dirty="0"/>
          </a:p>
        </p:txBody>
      </p:sp>
      <p:sp>
        <p:nvSpPr>
          <p:cNvPr id="4" name="Text 2"/>
          <p:cNvSpPr/>
          <p:nvPr/>
        </p:nvSpPr>
        <p:spPr>
          <a:xfrm>
            <a:off x="548640" y="1554480"/>
            <a:ext cx="6035040" cy="420624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B2733"/>
                </a:solidFill>
              </a:rPr>
              <a:t>A complete, hands-on journey from Python fundamentals to Object-Oriented Programming</a:t>
            </a:r>
            <a:endParaRPr lang="en-US" sz="1500" dirty="0"/>
          </a:p>
          <a:p>
            <a:pPr marL="342900" indent="-342900">
              <a:lnSpc>
                <a:spcPct val="115000"/>
              </a:lnSpc>
              <a:spcAft>
                <a:spcPts val="1400"/>
              </a:spcAft>
              <a:buSzPct val="100000"/>
              <a:buChar char="●"/>
            </a:pPr>
            <a:r>
              <a:rPr lang="en-US" sz="1500" dirty="0">
                <a:solidFill>
                  <a:srgbClr val="1B2733"/>
                </a:solidFill>
              </a:rPr>
              <a:t>Every module blends theory, live coding, and practical exercises</a:t>
            </a:r>
            <a:endParaRPr lang="en-US" sz="1500" dirty="0"/>
          </a:p>
          <a:p>
            <a:pPr marL="342900" indent="-342900">
              <a:lnSpc>
                <a:spcPct val="115000"/>
              </a:lnSpc>
              <a:spcAft>
                <a:spcPts val="1400"/>
              </a:spcAft>
              <a:buSzPct val="100000"/>
              <a:buChar char="●"/>
            </a:pPr>
            <a:r>
              <a:rPr lang="en-US" sz="1500" dirty="0">
                <a:solidFill>
                  <a:srgbClr val="1B2733"/>
                </a:solidFill>
              </a:rPr>
              <a:t>Each topic includes real-world examples and interview questions</a:t>
            </a:r>
            <a:endParaRPr lang="en-US" sz="1500" dirty="0"/>
          </a:p>
          <a:p>
            <a:pPr marL="342900" indent="-342900">
              <a:lnSpc>
                <a:spcPct val="115000"/>
              </a:lnSpc>
              <a:spcAft>
                <a:spcPts val="1400"/>
              </a:spcAft>
              <a:buSzPct val="100000"/>
              <a:buChar char="●"/>
            </a:pPr>
            <a:r>
              <a:rPr lang="en-US" sz="1500" dirty="0">
                <a:solidFill>
                  <a:srgbClr val="1B2733"/>
                </a:solidFill>
              </a:rPr>
              <a:t>Culminates in a capstone project combining every core concept</a:t>
            </a:r>
            <a:endParaRPr lang="en-US" sz="1500" dirty="0"/>
          </a:p>
          <a:p>
            <a:pPr marL="342900" indent="-342900">
              <a:lnSpc>
                <a:spcPct val="115000"/>
              </a:lnSpc>
              <a:spcAft>
                <a:spcPts val="1400"/>
              </a:spcAft>
              <a:buSzPct val="100000"/>
              <a:buChar char="●"/>
            </a:pPr>
            <a:r>
              <a:rPr lang="en-US" sz="1500" dirty="0">
                <a:solidFill>
                  <a:srgbClr val="1B2733"/>
                </a:solidFill>
              </a:rPr>
              <a:t>Designed for classroom or self-paced professional training delivery</a:t>
            </a:r>
            <a:endParaRPr lang="en-US" sz="1500" dirty="0"/>
          </a:p>
        </p:txBody>
      </p:sp>
      <p:sp>
        <p:nvSpPr>
          <p:cNvPr id="5" name="Shape 3"/>
          <p:cNvSpPr/>
          <p:nvPr/>
        </p:nvSpPr>
        <p:spPr>
          <a:xfrm>
            <a:off x="6949440" y="1600200"/>
            <a:ext cx="1143000" cy="1234440"/>
          </a:xfrm>
          <a:prstGeom prst="roundRect">
            <a:avLst>
              <a:gd name="adj" fmla="val 8000"/>
            </a:avLst>
          </a:prstGeom>
          <a:solidFill>
            <a:srgbClr val="EEF4FA"/>
          </a:solidFill>
          <a:ln/>
        </p:spPr>
      </p:sp>
      <p:sp>
        <p:nvSpPr>
          <p:cNvPr id="6" name="Text 4"/>
          <p:cNvSpPr/>
          <p:nvPr/>
        </p:nvSpPr>
        <p:spPr>
          <a:xfrm>
            <a:off x="6949440" y="1691640"/>
            <a:ext cx="1143000" cy="594360"/>
          </a:xfrm>
          <a:prstGeom prst="rect">
            <a:avLst/>
          </a:prstGeom>
          <a:noFill/>
          <a:ln/>
        </p:spPr>
        <p:txBody>
          <a:bodyPr wrap="square" lIns="0" tIns="0" rIns="0" bIns="0" rtlCol="0" anchor="ctr"/>
          <a:lstStyle/>
          <a:p>
            <a:pPr marL="0" indent="0" algn="ctr">
              <a:buNone/>
            </a:pPr>
            <a:r>
              <a:rPr lang="en-US" sz="2600" b="1" dirty="0">
                <a:solidFill>
                  <a:srgbClr val="1E5A96"/>
                </a:solidFill>
              </a:rPr>
              <a:t>9</a:t>
            </a:r>
            <a:endParaRPr lang="en-US" sz="2600" dirty="0"/>
          </a:p>
        </p:txBody>
      </p:sp>
      <p:sp>
        <p:nvSpPr>
          <p:cNvPr id="7" name="Text 5"/>
          <p:cNvSpPr/>
          <p:nvPr/>
        </p:nvSpPr>
        <p:spPr>
          <a:xfrm>
            <a:off x="6949440" y="2286000"/>
            <a:ext cx="1143000" cy="457200"/>
          </a:xfrm>
          <a:prstGeom prst="rect">
            <a:avLst/>
          </a:prstGeom>
          <a:noFill/>
          <a:ln/>
        </p:spPr>
        <p:txBody>
          <a:bodyPr wrap="square" lIns="0" tIns="0" rIns="0" bIns="0" rtlCol="0" anchor="ctr"/>
          <a:lstStyle/>
          <a:p>
            <a:pPr marL="0" indent="0" algn="ctr">
              <a:buNone/>
            </a:pPr>
            <a:r>
              <a:rPr lang="en-US" sz="950" dirty="0">
                <a:solidFill>
                  <a:srgbClr val="5C6B7A"/>
                </a:solidFill>
              </a:rPr>
              <a:t>Modules</a:t>
            </a:r>
            <a:endParaRPr lang="en-US" sz="950" dirty="0"/>
          </a:p>
        </p:txBody>
      </p:sp>
      <p:sp>
        <p:nvSpPr>
          <p:cNvPr id="8" name="Shape 6"/>
          <p:cNvSpPr/>
          <p:nvPr/>
        </p:nvSpPr>
        <p:spPr>
          <a:xfrm>
            <a:off x="8229600" y="1600200"/>
            <a:ext cx="1143000" cy="1234440"/>
          </a:xfrm>
          <a:prstGeom prst="roundRect">
            <a:avLst>
              <a:gd name="adj" fmla="val 8000"/>
            </a:avLst>
          </a:prstGeom>
          <a:solidFill>
            <a:srgbClr val="EEF4FA"/>
          </a:solidFill>
          <a:ln/>
        </p:spPr>
      </p:sp>
      <p:sp>
        <p:nvSpPr>
          <p:cNvPr id="9" name="Text 7"/>
          <p:cNvSpPr/>
          <p:nvPr/>
        </p:nvSpPr>
        <p:spPr>
          <a:xfrm>
            <a:off x="8229600" y="1691640"/>
            <a:ext cx="1143000" cy="594360"/>
          </a:xfrm>
          <a:prstGeom prst="rect">
            <a:avLst/>
          </a:prstGeom>
          <a:noFill/>
          <a:ln/>
        </p:spPr>
        <p:txBody>
          <a:bodyPr wrap="square" lIns="0" tIns="0" rIns="0" bIns="0" rtlCol="0" anchor="ctr"/>
          <a:lstStyle/>
          <a:p>
            <a:pPr marL="0" indent="0" algn="ctr">
              <a:buNone/>
            </a:pPr>
            <a:r>
              <a:rPr lang="en-US" sz="2600" b="1" dirty="0">
                <a:solidFill>
                  <a:srgbClr val="1E5A96"/>
                </a:solidFill>
              </a:rPr>
              <a:t>26</a:t>
            </a:r>
            <a:endParaRPr lang="en-US" sz="2600" dirty="0"/>
          </a:p>
        </p:txBody>
      </p:sp>
      <p:sp>
        <p:nvSpPr>
          <p:cNvPr id="10" name="Text 8"/>
          <p:cNvSpPr/>
          <p:nvPr/>
        </p:nvSpPr>
        <p:spPr>
          <a:xfrm>
            <a:off x="8229600" y="2286000"/>
            <a:ext cx="1143000" cy="457200"/>
          </a:xfrm>
          <a:prstGeom prst="rect">
            <a:avLst/>
          </a:prstGeom>
          <a:noFill/>
          <a:ln/>
        </p:spPr>
        <p:txBody>
          <a:bodyPr wrap="square" lIns="0" tIns="0" rIns="0" bIns="0" rtlCol="0" anchor="ctr"/>
          <a:lstStyle/>
          <a:p>
            <a:pPr marL="0" indent="0" algn="ctr">
              <a:buNone/>
            </a:pPr>
            <a:r>
              <a:rPr lang="en-US" sz="950" dirty="0">
                <a:solidFill>
                  <a:srgbClr val="5C6B7A"/>
                </a:solidFill>
              </a:rPr>
              <a:t>Total Hours</a:t>
            </a:r>
            <a:endParaRPr lang="en-US" sz="950" dirty="0"/>
          </a:p>
        </p:txBody>
      </p:sp>
      <p:sp>
        <p:nvSpPr>
          <p:cNvPr id="11" name="Shape 9"/>
          <p:cNvSpPr/>
          <p:nvPr/>
        </p:nvSpPr>
        <p:spPr>
          <a:xfrm>
            <a:off x="9509760" y="1600200"/>
            <a:ext cx="1143000" cy="1234440"/>
          </a:xfrm>
          <a:prstGeom prst="roundRect">
            <a:avLst>
              <a:gd name="adj" fmla="val 8000"/>
            </a:avLst>
          </a:prstGeom>
          <a:solidFill>
            <a:srgbClr val="EEF4FA"/>
          </a:solidFill>
          <a:ln/>
        </p:spPr>
      </p:sp>
      <p:sp>
        <p:nvSpPr>
          <p:cNvPr id="12" name="Text 10"/>
          <p:cNvSpPr/>
          <p:nvPr/>
        </p:nvSpPr>
        <p:spPr>
          <a:xfrm>
            <a:off x="9509760" y="1691640"/>
            <a:ext cx="1143000" cy="594360"/>
          </a:xfrm>
          <a:prstGeom prst="rect">
            <a:avLst/>
          </a:prstGeom>
          <a:noFill/>
          <a:ln/>
        </p:spPr>
        <p:txBody>
          <a:bodyPr wrap="square" lIns="0" tIns="0" rIns="0" bIns="0" rtlCol="0" anchor="ctr"/>
          <a:lstStyle/>
          <a:p>
            <a:pPr marL="0" indent="0" algn="ctr">
              <a:buNone/>
            </a:pPr>
            <a:r>
              <a:rPr lang="en-US" sz="2600" b="1" dirty="0">
                <a:solidFill>
                  <a:srgbClr val="1E5A96"/>
                </a:solidFill>
              </a:rPr>
              <a:t>11</a:t>
            </a:r>
            <a:endParaRPr lang="en-US" sz="2600" dirty="0"/>
          </a:p>
        </p:txBody>
      </p:sp>
      <p:sp>
        <p:nvSpPr>
          <p:cNvPr id="13" name="Text 11"/>
          <p:cNvSpPr/>
          <p:nvPr/>
        </p:nvSpPr>
        <p:spPr>
          <a:xfrm>
            <a:off x="9509760" y="2286000"/>
            <a:ext cx="1143000" cy="457200"/>
          </a:xfrm>
          <a:prstGeom prst="rect">
            <a:avLst/>
          </a:prstGeom>
          <a:noFill/>
          <a:ln/>
        </p:spPr>
        <p:txBody>
          <a:bodyPr wrap="square" lIns="0" tIns="0" rIns="0" bIns="0" rtlCol="0" anchor="ctr"/>
          <a:lstStyle/>
          <a:p>
            <a:pPr marL="0" indent="0" algn="ctr">
              <a:buNone/>
            </a:pPr>
            <a:r>
              <a:rPr lang="en-US" sz="950" dirty="0">
                <a:solidFill>
                  <a:srgbClr val="5C6B7A"/>
                </a:solidFill>
              </a:rPr>
              <a:t>Theory Hrs</a:t>
            </a:r>
            <a:endParaRPr lang="en-US" sz="950" dirty="0"/>
          </a:p>
        </p:txBody>
      </p:sp>
      <p:sp>
        <p:nvSpPr>
          <p:cNvPr id="14" name="Shape 12"/>
          <p:cNvSpPr/>
          <p:nvPr/>
        </p:nvSpPr>
        <p:spPr>
          <a:xfrm>
            <a:off x="10789920" y="1600200"/>
            <a:ext cx="1143000" cy="1234440"/>
          </a:xfrm>
          <a:prstGeom prst="roundRect">
            <a:avLst>
              <a:gd name="adj" fmla="val 8000"/>
            </a:avLst>
          </a:prstGeom>
          <a:solidFill>
            <a:srgbClr val="EEF4FA"/>
          </a:solidFill>
          <a:ln/>
        </p:spPr>
      </p:sp>
      <p:sp>
        <p:nvSpPr>
          <p:cNvPr id="15" name="Text 13"/>
          <p:cNvSpPr/>
          <p:nvPr/>
        </p:nvSpPr>
        <p:spPr>
          <a:xfrm>
            <a:off x="10789920" y="1691640"/>
            <a:ext cx="1143000" cy="594360"/>
          </a:xfrm>
          <a:prstGeom prst="rect">
            <a:avLst/>
          </a:prstGeom>
          <a:noFill/>
          <a:ln/>
        </p:spPr>
        <p:txBody>
          <a:bodyPr wrap="square" lIns="0" tIns="0" rIns="0" bIns="0" rtlCol="0" anchor="ctr"/>
          <a:lstStyle/>
          <a:p>
            <a:pPr marL="0" indent="0" algn="ctr">
              <a:buNone/>
            </a:pPr>
            <a:r>
              <a:rPr lang="en-US" sz="2600" b="1" dirty="0">
                <a:solidFill>
                  <a:srgbClr val="1E5A96"/>
                </a:solidFill>
              </a:rPr>
              <a:t>15</a:t>
            </a:r>
            <a:endParaRPr lang="en-US" sz="2600" dirty="0"/>
          </a:p>
        </p:txBody>
      </p:sp>
      <p:sp>
        <p:nvSpPr>
          <p:cNvPr id="16" name="Text 14"/>
          <p:cNvSpPr/>
          <p:nvPr/>
        </p:nvSpPr>
        <p:spPr>
          <a:xfrm>
            <a:off x="10789920" y="2286000"/>
            <a:ext cx="1143000" cy="457200"/>
          </a:xfrm>
          <a:prstGeom prst="rect">
            <a:avLst/>
          </a:prstGeom>
          <a:noFill/>
          <a:ln/>
        </p:spPr>
        <p:txBody>
          <a:bodyPr wrap="square" lIns="0" tIns="0" rIns="0" bIns="0" rtlCol="0" anchor="ctr"/>
          <a:lstStyle/>
          <a:p>
            <a:pPr marL="0" indent="0" algn="ctr">
              <a:buNone/>
            </a:pPr>
            <a:r>
              <a:rPr lang="en-US" sz="950" dirty="0">
                <a:solidFill>
                  <a:srgbClr val="5C6B7A"/>
                </a:solidFill>
              </a:rPr>
              <a:t>Practical Hrs</a:t>
            </a:r>
            <a:endParaRPr lang="en-US" sz="950" dirty="0"/>
          </a:p>
        </p:txBody>
      </p:sp>
      <p:sp>
        <p:nvSpPr>
          <p:cNvPr id="17" name="Shape 15"/>
          <p:cNvSpPr/>
          <p:nvPr/>
        </p:nvSpPr>
        <p:spPr>
          <a:xfrm>
            <a:off x="6949440" y="3200400"/>
            <a:ext cx="384048" cy="384048"/>
          </a:xfrm>
          <a:prstGeom prst="ellipse">
            <a:avLst/>
          </a:prstGeom>
          <a:solidFill>
            <a:srgbClr val="1E5A96"/>
          </a:solidFill>
          <a:ln/>
        </p:spPr>
      </p:sp>
      <p:pic>
        <p:nvPicPr>
          <p:cNvPr id="18" name="Image 0" descr="preencoded.png"/>
          <p:cNvPicPr>
            <a:picLocks noChangeAspect="1"/>
          </p:cNvPicPr>
          <p:nvPr/>
        </p:nvPicPr>
        <p:blipFill>
          <a:blip r:embed="rId3"/>
          <a:stretch>
            <a:fillRect/>
          </a:stretch>
        </p:blipFill>
        <p:spPr>
          <a:xfrm>
            <a:off x="7031736" y="3282696"/>
            <a:ext cx="219456" cy="219456"/>
          </a:xfrm>
          <a:prstGeom prst="rect">
            <a:avLst/>
          </a:prstGeom>
        </p:spPr>
      </p:pic>
      <p:sp>
        <p:nvSpPr>
          <p:cNvPr id="19" name="Text 16"/>
          <p:cNvSpPr/>
          <p:nvPr/>
        </p:nvSpPr>
        <p:spPr>
          <a:xfrm>
            <a:off x="7461504" y="3172968"/>
            <a:ext cx="4023360" cy="457200"/>
          </a:xfrm>
          <a:prstGeom prst="rect">
            <a:avLst/>
          </a:prstGeom>
          <a:noFill/>
          <a:ln/>
        </p:spPr>
        <p:txBody>
          <a:bodyPr wrap="square" lIns="0" tIns="0" rIns="0" bIns="0" rtlCol="0" anchor="ctr"/>
          <a:lstStyle/>
          <a:p>
            <a:pPr marL="0" indent="0">
              <a:buNone/>
            </a:pPr>
            <a:r>
              <a:rPr lang="en-US" sz="1500" b="1" dirty="0">
                <a:solidFill>
                  <a:srgbClr val="1B2733"/>
                </a:solidFill>
              </a:rPr>
              <a:t>Who This Course Is For</a:t>
            </a:r>
            <a:endParaRPr lang="en-US" sz="1500" dirty="0"/>
          </a:p>
        </p:txBody>
      </p:sp>
      <p:sp>
        <p:nvSpPr>
          <p:cNvPr id="20" name="Text 17"/>
          <p:cNvSpPr/>
          <p:nvPr/>
        </p:nvSpPr>
        <p:spPr>
          <a:xfrm>
            <a:off x="6949440" y="3703320"/>
            <a:ext cx="4663440" cy="201168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250" dirty="0">
                <a:solidFill>
                  <a:srgbClr val="1B2733"/>
                </a:solidFill>
              </a:rPr>
              <a:t>Beginners with zero coding background</a:t>
            </a:r>
            <a:endParaRPr lang="en-US" sz="1250" dirty="0"/>
          </a:p>
          <a:p>
            <a:pPr marL="342900" indent="-342900">
              <a:lnSpc>
                <a:spcPct val="115000"/>
              </a:lnSpc>
              <a:spcAft>
                <a:spcPts val="600"/>
              </a:spcAft>
              <a:buSzPct val="100000"/>
              <a:buChar char="●"/>
            </a:pPr>
            <a:r>
              <a:rPr lang="en-US" sz="1250" dirty="0">
                <a:solidFill>
                  <a:srgbClr val="1B2733"/>
                </a:solidFill>
              </a:rPr>
              <a:t>Degree &amp; engineering students</a:t>
            </a:r>
            <a:endParaRPr lang="en-US" sz="1250" dirty="0"/>
          </a:p>
          <a:p>
            <a:pPr marL="342900" indent="-342900">
              <a:lnSpc>
                <a:spcPct val="115000"/>
              </a:lnSpc>
              <a:spcAft>
                <a:spcPts val="600"/>
              </a:spcAft>
              <a:buSzPct val="100000"/>
              <a:buChar char="●"/>
            </a:pPr>
            <a:r>
              <a:rPr lang="en-US" sz="1250" dirty="0">
                <a:solidFill>
                  <a:srgbClr val="1B2733"/>
                </a:solidFill>
              </a:rPr>
              <a:t>Job seekers preparing for interviews</a:t>
            </a:r>
            <a:endParaRPr lang="en-US" sz="1250" dirty="0"/>
          </a:p>
          <a:p>
            <a:pPr marL="342900" indent="-342900">
              <a:lnSpc>
                <a:spcPct val="115000"/>
              </a:lnSpc>
              <a:spcAft>
                <a:spcPts val="600"/>
              </a:spcAft>
              <a:buSzPct val="100000"/>
              <a:buChar char="●"/>
            </a:pPr>
            <a:r>
              <a:rPr lang="en-US" sz="1250" dirty="0">
                <a:solidFill>
                  <a:srgbClr val="1B2733"/>
                </a:solidFill>
              </a:rPr>
              <a:t>Working professionals reskilling in Python</a:t>
            </a:r>
            <a:endParaRPr lang="en-US" sz="1250" dirty="0"/>
          </a:p>
        </p:txBody>
      </p:sp>
      <p:sp>
        <p:nvSpPr>
          <p:cNvPr id="21" name="Text 1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a:t>
            </a:r>
            <a:endParaRPr lang="en-US" sz="1000" dirty="0"/>
          </a:p>
        </p:txBody>
      </p:sp>
      <p:sp>
        <p:nvSpPr>
          <p:cNvPr id="22" name="Text 1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LEARNING PATH</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Your 9-Module Journey</a:t>
            </a:r>
            <a:endParaRPr lang="en-US" sz="2700" dirty="0"/>
          </a:p>
        </p:txBody>
      </p:sp>
      <p:sp>
        <p:nvSpPr>
          <p:cNvPr id="4" name="Shape 2"/>
          <p:cNvSpPr/>
          <p:nvPr/>
        </p:nvSpPr>
        <p:spPr>
          <a:xfrm>
            <a:off x="548640" y="1508760"/>
            <a:ext cx="3566160" cy="1417320"/>
          </a:xfrm>
          <a:prstGeom prst="roundRect">
            <a:avLst>
              <a:gd name="adj" fmla="val 5161"/>
            </a:avLst>
          </a:prstGeom>
          <a:solidFill>
            <a:srgbClr val="EEF4FA"/>
          </a:solidFill>
          <a:ln/>
          <a:effectLst>
            <a:outerShdw blurRad="63500" dist="25400" dir="5400000" algn="bl" rotWithShape="0">
              <a:srgbClr val="000000">
                <a:alpha val="10000"/>
              </a:srgbClr>
            </a:outerShdw>
          </a:effectLst>
        </p:spPr>
      </p:sp>
      <p:sp>
        <p:nvSpPr>
          <p:cNvPr id="5" name="Shape 3"/>
          <p:cNvSpPr/>
          <p:nvPr/>
        </p:nvSpPr>
        <p:spPr>
          <a:xfrm>
            <a:off x="713232" y="1673352"/>
            <a:ext cx="457200" cy="457200"/>
          </a:xfrm>
          <a:prstGeom prst="ellipse">
            <a:avLst/>
          </a:prstGeom>
          <a:solidFill>
            <a:srgbClr val="1E5A96"/>
          </a:solidFill>
          <a:ln/>
        </p:spPr>
      </p:sp>
      <p:sp>
        <p:nvSpPr>
          <p:cNvPr id="6" name="Text 4"/>
          <p:cNvSpPr/>
          <p:nvPr/>
        </p:nvSpPr>
        <p:spPr>
          <a:xfrm>
            <a:off x="713232" y="16733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280160" y="1636776"/>
            <a:ext cx="2651760" cy="594360"/>
          </a:xfrm>
          <a:prstGeom prst="rect">
            <a:avLst/>
          </a:prstGeom>
          <a:noFill/>
          <a:ln/>
        </p:spPr>
        <p:txBody>
          <a:bodyPr wrap="square" lIns="0" tIns="0" rIns="0" bIns="0" rtlCol="0" anchor="t"/>
          <a:lstStyle/>
          <a:p>
            <a:pPr marL="0" indent="0">
              <a:buNone/>
            </a:pPr>
            <a:r>
              <a:rPr lang="en-US" sz="1250" b="1" dirty="0">
                <a:solidFill>
                  <a:srgbClr val="1B2733"/>
                </a:solidFill>
              </a:rPr>
              <a:t>Introduction to Python</a:t>
            </a:r>
            <a:endParaRPr lang="en-US" sz="1250" dirty="0"/>
          </a:p>
        </p:txBody>
      </p:sp>
      <p:sp>
        <p:nvSpPr>
          <p:cNvPr id="8" name="Shape 6"/>
          <p:cNvSpPr/>
          <p:nvPr/>
        </p:nvSpPr>
        <p:spPr>
          <a:xfrm>
            <a:off x="713232" y="2542032"/>
            <a:ext cx="1371600" cy="256032"/>
          </a:xfrm>
          <a:prstGeom prst="roundRect">
            <a:avLst>
              <a:gd name="adj" fmla="val 50000"/>
            </a:avLst>
          </a:prstGeom>
          <a:solidFill>
            <a:srgbClr val="DCEAF7"/>
          </a:solidFill>
          <a:ln/>
        </p:spPr>
      </p:sp>
      <p:sp>
        <p:nvSpPr>
          <p:cNvPr id="9" name="Text 7"/>
          <p:cNvSpPr/>
          <p:nvPr/>
        </p:nvSpPr>
        <p:spPr>
          <a:xfrm>
            <a:off x="713232" y="2542032"/>
            <a:ext cx="1371600" cy="256032"/>
          </a:xfrm>
          <a:prstGeom prst="rect">
            <a:avLst/>
          </a:prstGeom>
          <a:noFill/>
          <a:ln/>
        </p:spPr>
        <p:txBody>
          <a:bodyPr wrap="square" lIns="0" tIns="0" rIns="0" bIns="0" rtlCol="0" anchor="ctr"/>
          <a:lstStyle/>
          <a:p>
            <a:pPr marL="0" indent="0" algn="ctr">
              <a:buNone/>
            </a:pPr>
            <a:r>
              <a:rPr lang="en-US" sz="1100" b="1" dirty="0">
                <a:solidFill>
                  <a:srgbClr val="1E5A96"/>
                </a:solidFill>
              </a:rPr>
              <a:t>2 hrs total</a:t>
            </a:r>
            <a:endParaRPr lang="en-US" sz="1100" dirty="0"/>
          </a:p>
        </p:txBody>
      </p:sp>
      <p:sp>
        <p:nvSpPr>
          <p:cNvPr id="10" name="Shape 8"/>
          <p:cNvSpPr/>
          <p:nvPr/>
        </p:nvSpPr>
        <p:spPr>
          <a:xfrm>
            <a:off x="4343400" y="1508760"/>
            <a:ext cx="3566160" cy="1417320"/>
          </a:xfrm>
          <a:prstGeom prst="roundRect">
            <a:avLst>
              <a:gd name="adj" fmla="val 5161"/>
            </a:avLst>
          </a:prstGeom>
          <a:solidFill>
            <a:srgbClr val="EEF4FA"/>
          </a:solidFill>
          <a:ln/>
          <a:effectLst>
            <a:outerShdw blurRad="63500" dist="25400" dir="5400000" algn="bl" rotWithShape="0">
              <a:srgbClr val="000000">
                <a:alpha val="10000"/>
              </a:srgbClr>
            </a:outerShdw>
          </a:effectLst>
        </p:spPr>
      </p:sp>
      <p:sp>
        <p:nvSpPr>
          <p:cNvPr id="11" name="Shape 9"/>
          <p:cNvSpPr/>
          <p:nvPr/>
        </p:nvSpPr>
        <p:spPr>
          <a:xfrm>
            <a:off x="4507992" y="1673352"/>
            <a:ext cx="457200" cy="457200"/>
          </a:xfrm>
          <a:prstGeom prst="ellipse">
            <a:avLst/>
          </a:prstGeom>
          <a:solidFill>
            <a:srgbClr val="1E5A96"/>
          </a:solidFill>
          <a:ln/>
        </p:spPr>
      </p:sp>
      <p:sp>
        <p:nvSpPr>
          <p:cNvPr id="12" name="Text 10"/>
          <p:cNvSpPr/>
          <p:nvPr/>
        </p:nvSpPr>
        <p:spPr>
          <a:xfrm>
            <a:off x="4507992" y="16733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Text 11"/>
          <p:cNvSpPr/>
          <p:nvPr/>
        </p:nvSpPr>
        <p:spPr>
          <a:xfrm>
            <a:off x="5074920" y="1636776"/>
            <a:ext cx="2651760" cy="594360"/>
          </a:xfrm>
          <a:prstGeom prst="rect">
            <a:avLst/>
          </a:prstGeom>
          <a:noFill/>
          <a:ln/>
        </p:spPr>
        <p:txBody>
          <a:bodyPr wrap="square" lIns="0" tIns="0" rIns="0" bIns="0" rtlCol="0" anchor="t"/>
          <a:lstStyle/>
          <a:p>
            <a:pPr marL="0" indent="0">
              <a:buNone/>
            </a:pPr>
            <a:r>
              <a:rPr lang="en-US" sz="1250" b="1" dirty="0">
                <a:solidFill>
                  <a:srgbClr val="1B2733"/>
                </a:solidFill>
              </a:rPr>
              <a:t>Variables and Data Types</a:t>
            </a:r>
            <a:endParaRPr lang="en-US" sz="1250" dirty="0"/>
          </a:p>
        </p:txBody>
      </p:sp>
      <p:sp>
        <p:nvSpPr>
          <p:cNvPr id="14" name="Shape 12"/>
          <p:cNvSpPr/>
          <p:nvPr/>
        </p:nvSpPr>
        <p:spPr>
          <a:xfrm>
            <a:off x="4507992" y="2542032"/>
            <a:ext cx="1371600" cy="256032"/>
          </a:xfrm>
          <a:prstGeom prst="roundRect">
            <a:avLst>
              <a:gd name="adj" fmla="val 50000"/>
            </a:avLst>
          </a:prstGeom>
          <a:solidFill>
            <a:srgbClr val="DCEAF7"/>
          </a:solidFill>
          <a:ln/>
        </p:spPr>
      </p:sp>
      <p:sp>
        <p:nvSpPr>
          <p:cNvPr id="15" name="Text 13"/>
          <p:cNvSpPr/>
          <p:nvPr/>
        </p:nvSpPr>
        <p:spPr>
          <a:xfrm>
            <a:off x="4507992" y="2542032"/>
            <a:ext cx="1371600" cy="256032"/>
          </a:xfrm>
          <a:prstGeom prst="rect">
            <a:avLst/>
          </a:prstGeom>
          <a:noFill/>
          <a:ln/>
        </p:spPr>
        <p:txBody>
          <a:bodyPr wrap="square" lIns="0" tIns="0" rIns="0" bIns="0" rtlCol="0" anchor="ctr"/>
          <a:lstStyle/>
          <a:p>
            <a:pPr marL="0" indent="0" algn="ctr">
              <a:buNone/>
            </a:pPr>
            <a:r>
              <a:rPr lang="en-US" sz="1100" b="1" dirty="0">
                <a:solidFill>
                  <a:srgbClr val="1E5A96"/>
                </a:solidFill>
              </a:rPr>
              <a:t>2 hrs total</a:t>
            </a:r>
            <a:endParaRPr lang="en-US" sz="1100" dirty="0"/>
          </a:p>
        </p:txBody>
      </p:sp>
      <p:sp>
        <p:nvSpPr>
          <p:cNvPr id="16" name="Shape 14"/>
          <p:cNvSpPr/>
          <p:nvPr/>
        </p:nvSpPr>
        <p:spPr>
          <a:xfrm>
            <a:off x="8138160" y="1508760"/>
            <a:ext cx="3566160" cy="1417320"/>
          </a:xfrm>
          <a:prstGeom prst="roundRect">
            <a:avLst>
              <a:gd name="adj" fmla="val 5161"/>
            </a:avLst>
          </a:prstGeom>
          <a:solidFill>
            <a:srgbClr val="EEF4FA"/>
          </a:solidFill>
          <a:ln/>
          <a:effectLst>
            <a:outerShdw blurRad="63500" dist="25400" dir="5400000" algn="bl" rotWithShape="0">
              <a:srgbClr val="000000">
                <a:alpha val="10000"/>
              </a:srgbClr>
            </a:outerShdw>
          </a:effectLst>
        </p:spPr>
      </p:sp>
      <p:sp>
        <p:nvSpPr>
          <p:cNvPr id="17" name="Shape 15"/>
          <p:cNvSpPr/>
          <p:nvPr/>
        </p:nvSpPr>
        <p:spPr>
          <a:xfrm>
            <a:off x="8302752" y="1673352"/>
            <a:ext cx="457200" cy="457200"/>
          </a:xfrm>
          <a:prstGeom prst="ellipse">
            <a:avLst/>
          </a:prstGeom>
          <a:solidFill>
            <a:srgbClr val="1E5A96"/>
          </a:solidFill>
          <a:ln/>
        </p:spPr>
      </p:sp>
      <p:sp>
        <p:nvSpPr>
          <p:cNvPr id="18" name="Text 16"/>
          <p:cNvSpPr/>
          <p:nvPr/>
        </p:nvSpPr>
        <p:spPr>
          <a:xfrm>
            <a:off x="8302752" y="16733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9" name="Text 17"/>
          <p:cNvSpPr/>
          <p:nvPr/>
        </p:nvSpPr>
        <p:spPr>
          <a:xfrm>
            <a:off x="8869680" y="1636776"/>
            <a:ext cx="2651760" cy="594360"/>
          </a:xfrm>
          <a:prstGeom prst="rect">
            <a:avLst/>
          </a:prstGeom>
          <a:noFill/>
          <a:ln/>
        </p:spPr>
        <p:txBody>
          <a:bodyPr wrap="square" lIns="0" tIns="0" rIns="0" bIns="0" rtlCol="0" anchor="t"/>
          <a:lstStyle/>
          <a:p>
            <a:pPr marL="0" indent="0">
              <a:buNone/>
            </a:pPr>
            <a:r>
              <a:rPr lang="en-US" sz="1250" b="1" dirty="0">
                <a:solidFill>
                  <a:srgbClr val="1B2733"/>
                </a:solidFill>
              </a:rPr>
              <a:t>Conditions</a:t>
            </a:r>
            <a:endParaRPr lang="en-US" sz="1250" dirty="0"/>
          </a:p>
        </p:txBody>
      </p:sp>
      <p:sp>
        <p:nvSpPr>
          <p:cNvPr id="20" name="Shape 18"/>
          <p:cNvSpPr/>
          <p:nvPr/>
        </p:nvSpPr>
        <p:spPr>
          <a:xfrm>
            <a:off x="8302752" y="2542032"/>
            <a:ext cx="1371600" cy="256032"/>
          </a:xfrm>
          <a:prstGeom prst="roundRect">
            <a:avLst>
              <a:gd name="adj" fmla="val 50000"/>
            </a:avLst>
          </a:prstGeom>
          <a:solidFill>
            <a:srgbClr val="DCEAF7"/>
          </a:solidFill>
          <a:ln/>
        </p:spPr>
      </p:sp>
      <p:sp>
        <p:nvSpPr>
          <p:cNvPr id="21" name="Text 19"/>
          <p:cNvSpPr/>
          <p:nvPr/>
        </p:nvSpPr>
        <p:spPr>
          <a:xfrm>
            <a:off x="8302752" y="2542032"/>
            <a:ext cx="1371600" cy="256032"/>
          </a:xfrm>
          <a:prstGeom prst="rect">
            <a:avLst/>
          </a:prstGeom>
          <a:noFill/>
          <a:ln/>
        </p:spPr>
        <p:txBody>
          <a:bodyPr wrap="square" lIns="0" tIns="0" rIns="0" bIns="0" rtlCol="0" anchor="ctr"/>
          <a:lstStyle/>
          <a:p>
            <a:pPr marL="0" indent="0" algn="ctr">
              <a:buNone/>
            </a:pPr>
            <a:r>
              <a:rPr lang="en-US" sz="1100" b="1" dirty="0">
                <a:solidFill>
                  <a:srgbClr val="1E5A96"/>
                </a:solidFill>
              </a:rPr>
              <a:t>2 hrs total</a:t>
            </a:r>
            <a:endParaRPr lang="en-US" sz="1100" dirty="0"/>
          </a:p>
        </p:txBody>
      </p:sp>
      <p:sp>
        <p:nvSpPr>
          <p:cNvPr id="22" name="Shape 20"/>
          <p:cNvSpPr/>
          <p:nvPr/>
        </p:nvSpPr>
        <p:spPr>
          <a:xfrm>
            <a:off x="548640" y="3154680"/>
            <a:ext cx="3566160" cy="1417320"/>
          </a:xfrm>
          <a:prstGeom prst="roundRect">
            <a:avLst>
              <a:gd name="adj" fmla="val 5161"/>
            </a:avLst>
          </a:prstGeom>
          <a:solidFill>
            <a:srgbClr val="EEF4FA"/>
          </a:solidFill>
          <a:ln/>
          <a:effectLst>
            <a:outerShdw blurRad="63500" dist="25400" dir="5400000" algn="bl" rotWithShape="0">
              <a:srgbClr val="000000">
                <a:alpha val="10000"/>
              </a:srgbClr>
            </a:outerShdw>
          </a:effectLst>
        </p:spPr>
      </p:sp>
      <p:sp>
        <p:nvSpPr>
          <p:cNvPr id="23" name="Shape 21"/>
          <p:cNvSpPr/>
          <p:nvPr/>
        </p:nvSpPr>
        <p:spPr>
          <a:xfrm>
            <a:off x="713232" y="3319272"/>
            <a:ext cx="457200" cy="457200"/>
          </a:xfrm>
          <a:prstGeom prst="ellipse">
            <a:avLst/>
          </a:prstGeom>
          <a:solidFill>
            <a:srgbClr val="1E5A96"/>
          </a:solidFill>
          <a:ln/>
        </p:spPr>
      </p:sp>
      <p:sp>
        <p:nvSpPr>
          <p:cNvPr id="24" name="Text 22"/>
          <p:cNvSpPr/>
          <p:nvPr/>
        </p:nvSpPr>
        <p:spPr>
          <a:xfrm>
            <a:off x="713232" y="33192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5" name="Text 23"/>
          <p:cNvSpPr/>
          <p:nvPr/>
        </p:nvSpPr>
        <p:spPr>
          <a:xfrm>
            <a:off x="1280160" y="3282696"/>
            <a:ext cx="2651760" cy="594360"/>
          </a:xfrm>
          <a:prstGeom prst="rect">
            <a:avLst/>
          </a:prstGeom>
          <a:noFill/>
          <a:ln/>
        </p:spPr>
        <p:txBody>
          <a:bodyPr wrap="square" lIns="0" tIns="0" rIns="0" bIns="0" rtlCol="0" anchor="t"/>
          <a:lstStyle/>
          <a:p>
            <a:pPr marL="0" indent="0">
              <a:buNone/>
            </a:pPr>
            <a:r>
              <a:rPr lang="en-US" sz="1250" b="1" dirty="0">
                <a:solidFill>
                  <a:srgbClr val="1B2733"/>
                </a:solidFill>
              </a:rPr>
              <a:t>Loops</a:t>
            </a:r>
            <a:endParaRPr lang="en-US" sz="1250" dirty="0"/>
          </a:p>
        </p:txBody>
      </p:sp>
      <p:sp>
        <p:nvSpPr>
          <p:cNvPr id="26" name="Shape 24"/>
          <p:cNvSpPr/>
          <p:nvPr/>
        </p:nvSpPr>
        <p:spPr>
          <a:xfrm>
            <a:off x="713232" y="4187952"/>
            <a:ext cx="1371600" cy="256032"/>
          </a:xfrm>
          <a:prstGeom prst="roundRect">
            <a:avLst>
              <a:gd name="adj" fmla="val 50000"/>
            </a:avLst>
          </a:prstGeom>
          <a:solidFill>
            <a:srgbClr val="DCEAF7"/>
          </a:solidFill>
          <a:ln/>
        </p:spPr>
      </p:sp>
      <p:sp>
        <p:nvSpPr>
          <p:cNvPr id="27" name="Text 25"/>
          <p:cNvSpPr/>
          <p:nvPr/>
        </p:nvSpPr>
        <p:spPr>
          <a:xfrm>
            <a:off x="713232" y="4187952"/>
            <a:ext cx="1371600" cy="256032"/>
          </a:xfrm>
          <a:prstGeom prst="rect">
            <a:avLst/>
          </a:prstGeom>
          <a:noFill/>
          <a:ln/>
        </p:spPr>
        <p:txBody>
          <a:bodyPr wrap="square" lIns="0" tIns="0" rIns="0" bIns="0" rtlCol="0" anchor="ctr"/>
          <a:lstStyle/>
          <a:p>
            <a:pPr marL="0" indent="0" algn="ctr">
              <a:buNone/>
            </a:pPr>
            <a:r>
              <a:rPr lang="en-US" sz="1100" b="1" dirty="0">
                <a:solidFill>
                  <a:srgbClr val="1E5A96"/>
                </a:solidFill>
              </a:rPr>
              <a:t>3 hrs total</a:t>
            </a:r>
            <a:endParaRPr lang="en-US" sz="1100" dirty="0"/>
          </a:p>
        </p:txBody>
      </p:sp>
      <p:sp>
        <p:nvSpPr>
          <p:cNvPr id="28" name="Shape 26"/>
          <p:cNvSpPr/>
          <p:nvPr/>
        </p:nvSpPr>
        <p:spPr>
          <a:xfrm>
            <a:off x="4343400" y="3154680"/>
            <a:ext cx="3566160" cy="1417320"/>
          </a:xfrm>
          <a:prstGeom prst="roundRect">
            <a:avLst>
              <a:gd name="adj" fmla="val 5161"/>
            </a:avLst>
          </a:prstGeom>
          <a:solidFill>
            <a:srgbClr val="EEF4FA"/>
          </a:solidFill>
          <a:ln/>
          <a:effectLst>
            <a:outerShdw blurRad="63500" dist="25400" dir="5400000" algn="bl" rotWithShape="0">
              <a:srgbClr val="000000">
                <a:alpha val="10000"/>
              </a:srgbClr>
            </a:outerShdw>
          </a:effectLst>
        </p:spPr>
      </p:sp>
      <p:sp>
        <p:nvSpPr>
          <p:cNvPr id="29" name="Shape 27"/>
          <p:cNvSpPr/>
          <p:nvPr/>
        </p:nvSpPr>
        <p:spPr>
          <a:xfrm>
            <a:off x="4507992" y="3319272"/>
            <a:ext cx="457200" cy="457200"/>
          </a:xfrm>
          <a:prstGeom prst="ellipse">
            <a:avLst/>
          </a:prstGeom>
          <a:solidFill>
            <a:srgbClr val="1E5A96"/>
          </a:solidFill>
          <a:ln/>
        </p:spPr>
      </p:sp>
      <p:sp>
        <p:nvSpPr>
          <p:cNvPr id="30" name="Text 28"/>
          <p:cNvSpPr/>
          <p:nvPr/>
        </p:nvSpPr>
        <p:spPr>
          <a:xfrm>
            <a:off x="4507992" y="33192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31" name="Text 29"/>
          <p:cNvSpPr/>
          <p:nvPr/>
        </p:nvSpPr>
        <p:spPr>
          <a:xfrm>
            <a:off x="5074920" y="3282696"/>
            <a:ext cx="2651760" cy="594360"/>
          </a:xfrm>
          <a:prstGeom prst="rect">
            <a:avLst/>
          </a:prstGeom>
          <a:noFill/>
          <a:ln/>
        </p:spPr>
        <p:txBody>
          <a:bodyPr wrap="square" lIns="0" tIns="0" rIns="0" bIns="0" rtlCol="0" anchor="t"/>
          <a:lstStyle/>
          <a:p>
            <a:pPr marL="0" indent="0">
              <a:buNone/>
            </a:pPr>
            <a:r>
              <a:rPr lang="en-US" sz="1250" b="1" dirty="0">
                <a:solidFill>
                  <a:srgbClr val="1B2733"/>
                </a:solidFill>
              </a:rPr>
              <a:t>Strings</a:t>
            </a:r>
            <a:endParaRPr lang="en-US" sz="1250" dirty="0"/>
          </a:p>
        </p:txBody>
      </p:sp>
      <p:sp>
        <p:nvSpPr>
          <p:cNvPr id="32" name="Shape 30"/>
          <p:cNvSpPr/>
          <p:nvPr/>
        </p:nvSpPr>
        <p:spPr>
          <a:xfrm>
            <a:off x="4507992" y="4187952"/>
            <a:ext cx="1371600" cy="256032"/>
          </a:xfrm>
          <a:prstGeom prst="roundRect">
            <a:avLst>
              <a:gd name="adj" fmla="val 50000"/>
            </a:avLst>
          </a:prstGeom>
          <a:solidFill>
            <a:srgbClr val="DCEAF7"/>
          </a:solidFill>
          <a:ln/>
        </p:spPr>
      </p:sp>
      <p:sp>
        <p:nvSpPr>
          <p:cNvPr id="33" name="Text 31"/>
          <p:cNvSpPr/>
          <p:nvPr/>
        </p:nvSpPr>
        <p:spPr>
          <a:xfrm>
            <a:off x="4507992" y="4187952"/>
            <a:ext cx="1371600" cy="256032"/>
          </a:xfrm>
          <a:prstGeom prst="rect">
            <a:avLst/>
          </a:prstGeom>
          <a:noFill/>
          <a:ln/>
        </p:spPr>
        <p:txBody>
          <a:bodyPr wrap="square" lIns="0" tIns="0" rIns="0" bIns="0" rtlCol="0" anchor="ctr"/>
          <a:lstStyle/>
          <a:p>
            <a:pPr marL="0" indent="0" algn="ctr">
              <a:buNone/>
            </a:pPr>
            <a:r>
              <a:rPr lang="en-US" sz="1100" b="1" dirty="0">
                <a:solidFill>
                  <a:srgbClr val="1E5A96"/>
                </a:solidFill>
              </a:rPr>
              <a:t>3 hrs total</a:t>
            </a:r>
            <a:endParaRPr lang="en-US" sz="1100" dirty="0"/>
          </a:p>
        </p:txBody>
      </p:sp>
      <p:sp>
        <p:nvSpPr>
          <p:cNvPr id="34" name="Shape 32"/>
          <p:cNvSpPr/>
          <p:nvPr/>
        </p:nvSpPr>
        <p:spPr>
          <a:xfrm>
            <a:off x="8138160" y="3154680"/>
            <a:ext cx="3566160" cy="1417320"/>
          </a:xfrm>
          <a:prstGeom prst="roundRect">
            <a:avLst>
              <a:gd name="adj" fmla="val 5161"/>
            </a:avLst>
          </a:prstGeom>
          <a:solidFill>
            <a:srgbClr val="EEF4FA"/>
          </a:solidFill>
          <a:ln/>
          <a:effectLst>
            <a:outerShdw blurRad="63500" dist="25400" dir="5400000" algn="bl" rotWithShape="0">
              <a:srgbClr val="000000">
                <a:alpha val="10000"/>
              </a:srgbClr>
            </a:outerShdw>
          </a:effectLst>
        </p:spPr>
      </p:sp>
      <p:sp>
        <p:nvSpPr>
          <p:cNvPr id="35" name="Shape 33"/>
          <p:cNvSpPr/>
          <p:nvPr/>
        </p:nvSpPr>
        <p:spPr>
          <a:xfrm>
            <a:off x="8302752" y="3319272"/>
            <a:ext cx="457200" cy="457200"/>
          </a:xfrm>
          <a:prstGeom prst="ellipse">
            <a:avLst/>
          </a:prstGeom>
          <a:solidFill>
            <a:srgbClr val="1E5A96"/>
          </a:solidFill>
          <a:ln/>
        </p:spPr>
      </p:sp>
      <p:sp>
        <p:nvSpPr>
          <p:cNvPr id="36" name="Text 34"/>
          <p:cNvSpPr/>
          <p:nvPr/>
        </p:nvSpPr>
        <p:spPr>
          <a:xfrm>
            <a:off x="8302752" y="33192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6</a:t>
            </a:r>
            <a:endParaRPr lang="en-US" sz="1600" dirty="0"/>
          </a:p>
        </p:txBody>
      </p:sp>
      <p:sp>
        <p:nvSpPr>
          <p:cNvPr id="37" name="Text 35"/>
          <p:cNvSpPr/>
          <p:nvPr/>
        </p:nvSpPr>
        <p:spPr>
          <a:xfrm>
            <a:off x="8869680" y="3282696"/>
            <a:ext cx="2651760" cy="594360"/>
          </a:xfrm>
          <a:prstGeom prst="rect">
            <a:avLst/>
          </a:prstGeom>
          <a:noFill/>
          <a:ln/>
        </p:spPr>
        <p:txBody>
          <a:bodyPr wrap="square" lIns="0" tIns="0" rIns="0" bIns="0" rtlCol="0" anchor="t"/>
          <a:lstStyle/>
          <a:p>
            <a:pPr marL="0" indent="0">
              <a:buNone/>
            </a:pPr>
            <a:r>
              <a:rPr lang="en-US" sz="1250" b="1" dirty="0">
                <a:solidFill>
                  <a:srgbClr val="1B2733"/>
                </a:solidFill>
              </a:rPr>
              <a:t>Collections</a:t>
            </a:r>
            <a:endParaRPr lang="en-US" sz="1250" dirty="0"/>
          </a:p>
        </p:txBody>
      </p:sp>
      <p:sp>
        <p:nvSpPr>
          <p:cNvPr id="38" name="Shape 36"/>
          <p:cNvSpPr/>
          <p:nvPr/>
        </p:nvSpPr>
        <p:spPr>
          <a:xfrm>
            <a:off x="8302752" y="4187952"/>
            <a:ext cx="1371600" cy="256032"/>
          </a:xfrm>
          <a:prstGeom prst="roundRect">
            <a:avLst>
              <a:gd name="adj" fmla="val 50000"/>
            </a:avLst>
          </a:prstGeom>
          <a:solidFill>
            <a:srgbClr val="DCEAF7"/>
          </a:solidFill>
          <a:ln/>
        </p:spPr>
      </p:sp>
      <p:sp>
        <p:nvSpPr>
          <p:cNvPr id="39" name="Text 37"/>
          <p:cNvSpPr/>
          <p:nvPr/>
        </p:nvSpPr>
        <p:spPr>
          <a:xfrm>
            <a:off x="8302752" y="4187952"/>
            <a:ext cx="1371600" cy="256032"/>
          </a:xfrm>
          <a:prstGeom prst="rect">
            <a:avLst/>
          </a:prstGeom>
          <a:noFill/>
          <a:ln/>
        </p:spPr>
        <p:txBody>
          <a:bodyPr wrap="square" lIns="0" tIns="0" rIns="0" bIns="0" rtlCol="0" anchor="ctr"/>
          <a:lstStyle/>
          <a:p>
            <a:pPr marL="0" indent="0" algn="ctr">
              <a:buNone/>
            </a:pPr>
            <a:r>
              <a:rPr lang="en-US" sz="1100" b="1" dirty="0">
                <a:solidFill>
                  <a:srgbClr val="1E5A96"/>
                </a:solidFill>
              </a:rPr>
              <a:t>4 hrs total</a:t>
            </a:r>
            <a:endParaRPr lang="en-US" sz="1100" dirty="0"/>
          </a:p>
        </p:txBody>
      </p:sp>
      <p:sp>
        <p:nvSpPr>
          <p:cNvPr id="40" name="Shape 38"/>
          <p:cNvSpPr/>
          <p:nvPr/>
        </p:nvSpPr>
        <p:spPr>
          <a:xfrm>
            <a:off x="548640" y="4800600"/>
            <a:ext cx="3566160" cy="1417320"/>
          </a:xfrm>
          <a:prstGeom prst="roundRect">
            <a:avLst>
              <a:gd name="adj" fmla="val 5161"/>
            </a:avLst>
          </a:prstGeom>
          <a:solidFill>
            <a:srgbClr val="EEF4FA"/>
          </a:solidFill>
          <a:ln/>
          <a:effectLst>
            <a:outerShdw blurRad="63500" dist="25400" dir="5400000" algn="bl" rotWithShape="0">
              <a:srgbClr val="000000">
                <a:alpha val="10000"/>
              </a:srgbClr>
            </a:outerShdw>
          </a:effectLst>
        </p:spPr>
      </p:sp>
      <p:sp>
        <p:nvSpPr>
          <p:cNvPr id="41" name="Shape 39"/>
          <p:cNvSpPr/>
          <p:nvPr/>
        </p:nvSpPr>
        <p:spPr>
          <a:xfrm>
            <a:off x="713232" y="4965192"/>
            <a:ext cx="457200" cy="457200"/>
          </a:xfrm>
          <a:prstGeom prst="ellipse">
            <a:avLst/>
          </a:prstGeom>
          <a:solidFill>
            <a:srgbClr val="1E5A96"/>
          </a:solidFill>
          <a:ln/>
        </p:spPr>
      </p:sp>
      <p:sp>
        <p:nvSpPr>
          <p:cNvPr id="42" name="Text 40"/>
          <p:cNvSpPr/>
          <p:nvPr/>
        </p:nvSpPr>
        <p:spPr>
          <a:xfrm>
            <a:off x="713232" y="4965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7</a:t>
            </a:r>
            <a:endParaRPr lang="en-US" sz="1600" dirty="0"/>
          </a:p>
        </p:txBody>
      </p:sp>
      <p:sp>
        <p:nvSpPr>
          <p:cNvPr id="43" name="Text 41"/>
          <p:cNvSpPr/>
          <p:nvPr/>
        </p:nvSpPr>
        <p:spPr>
          <a:xfrm>
            <a:off x="1280160" y="4928616"/>
            <a:ext cx="2651760" cy="594360"/>
          </a:xfrm>
          <a:prstGeom prst="rect">
            <a:avLst/>
          </a:prstGeom>
          <a:noFill/>
          <a:ln/>
        </p:spPr>
        <p:txBody>
          <a:bodyPr wrap="square" lIns="0" tIns="0" rIns="0" bIns="0" rtlCol="0" anchor="t"/>
          <a:lstStyle/>
          <a:p>
            <a:pPr marL="0" indent="0">
              <a:buNone/>
            </a:pPr>
            <a:r>
              <a:rPr lang="en-US" sz="1250" b="1" dirty="0">
                <a:solidFill>
                  <a:srgbClr val="1B2733"/>
                </a:solidFill>
              </a:rPr>
              <a:t>Functions</a:t>
            </a:r>
            <a:endParaRPr lang="en-US" sz="1250" dirty="0"/>
          </a:p>
        </p:txBody>
      </p:sp>
      <p:sp>
        <p:nvSpPr>
          <p:cNvPr id="44" name="Shape 42"/>
          <p:cNvSpPr/>
          <p:nvPr/>
        </p:nvSpPr>
        <p:spPr>
          <a:xfrm>
            <a:off x="713232" y="5833872"/>
            <a:ext cx="1371600" cy="256032"/>
          </a:xfrm>
          <a:prstGeom prst="roundRect">
            <a:avLst>
              <a:gd name="adj" fmla="val 50000"/>
            </a:avLst>
          </a:prstGeom>
          <a:solidFill>
            <a:srgbClr val="DCEAF7"/>
          </a:solidFill>
          <a:ln/>
        </p:spPr>
      </p:sp>
      <p:sp>
        <p:nvSpPr>
          <p:cNvPr id="45" name="Text 43"/>
          <p:cNvSpPr/>
          <p:nvPr/>
        </p:nvSpPr>
        <p:spPr>
          <a:xfrm>
            <a:off x="713232" y="5833872"/>
            <a:ext cx="1371600" cy="256032"/>
          </a:xfrm>
          <a:prstGeom prst="rect">
            <a:avLst/>
          </a:prstGeom>
          <a:noFill/>
          <a:ln/>
        </p:spPr>
        <p:txBody>
          <a:bodyPr wrap="square" lIns="0" tIns="0" rIns="0" bIns="0" rtlCol="0" anchor="ctr"/>
          <a:lstStyle/>
          <a:p>
            <a:pPr marL="0" indent="0" algn="ctr">
              <a:buNone/>
            </a:pPr>
            <a:r>
              <a:rPr lang="en-US" sz="1100" b="1" dirty="0">
                <a:solidFill>
                  <a:srgbClr val="1E5A96"/>
                </a:solidFill>
              </a:rPr>
              <a:t>3 hrs total</a:t>
            </a:r>
            <a:endParaRPr lang="en-US" sz="1100" dirty="0"/>
          </a:p>
        </p:txBody>
      </p:sp>
      <p:sp>
        <p:nvSpPr>
          <p:cNvPr id="46" name="Shape 44"/>
          <p:cNvSpPr/>
          <p:nvPr/>
        </p:nvSpPr>
        <p:spPr>
          <a:xfrm>
            <a:off x="4343400" y="4800600"/>
            <a:ext cx="3566160" cy="1417320"/>
          </a:xfrm>
          <a:prstGeom prst="roundRect">
            <a:avLst>
              <a:gd name="adj" fmla="val 5161"/>
            </a:avLst>
          </a:prstGeom>
          <a:solidFill>
            <a:srgbClr val="EEF4FA"/>
          </a:solidFill>
          <a:ln/>
          <a:effectLst>
            <a:outerShdw blurRad="63500" dist="25400" dir="5400000" algn="bl" rotWithShape="0">
              <a:srgbClr val="000000">
                <a:alpha val="10000"/>
              </a:srgbClr>
            </a:outerShdw>
          </a:effectLst>
        </p:spPr>
      </p:sp>
      <p:sp>
        <p:nvSpPr>
          <p:cNvPr id="47" name="Shape 45"/>
          <p:cNvSpPr/>
          <p:nvPr/>
        </p:nvSpPr>
        <p:spPr>
          <a:xfrm>
            <a:off x="4507992" y="4965192"/>
            <a:ext cx="457200" cy="457200"/>
          </a:xfrm>
          <a:prstGeom prst="ellipse">
            <a:avLst/>
          </a:prstGeom>
          <a:solidFill>
            <a:srgbClr val="1E5A96"/>
          </a:solidFill>
          <a:ln/>
        </p:spPr>
      </p:sp>
      <p:sp>
        <p:nvSpPr>
          <p:cNvPr id="48" name="Text 46"/>
          <p:cNvSpPr/>
          <p:nvPr/>
        </p:nvSpPr>
        <p:spPr>
          <a:xfrm>
            <a:off x="4507992" y="4965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8</a:t>
            </a:r>
            <a:endParaRPr lang="en-US" sz="1600" dirty="0"/>
          </a:p>
        </p:txBody>
      </p:sp>
      <p:sp>
        <p:nvSpPr>
          <p:cNvPr id="49" name="Text 47"/>
          <p:cNvSpPr/>
          <p:nvPr/>
        </p:nvSpPr>
        <p:spPr>
          <a:xfrm>
            <a:off x="5074920" y="4928616"/>
            <a:ext cx="2651760" cy="594360"/>
          </a:xfrm>
          <a:prstGeom prst="rect">
            <a:avLst/>
          </a:prstGeom>
          <a:noFill/>
          <a:ln/>
        </p:spPr>
        <p:txBody>
          <a:bodyPr wrap="square" lIns="0" tIns="0" rIns="0" bIns="0" rtlCol="0" anchor="t"/>
          <a:lstStyle/>
          <a:p>
            <a:pPr marL="0" indent="0">
              <a:buNone/>
            </a:pPr>
            <a:r>
              <a:rPr lang="en-US" sz="1250" b="1" dirty="0">
                <a:solidFill>
                  <a:srgbClr val="1B2733"/>
                </a:solidFill>
              </a:rPr>
              <a:t>Files and Exception Handling</a:t>
            </a:r>
            <a:endParaRPr lang="en-US" sz="1250" dirty="0"/>
          </a:p>
        </p:txBody>
      </p:sp>
      <p:sp>
        <p:nvSpPr>
          <p:cNvPr id="50" name="Shape 48"/>
          <p:cNvSpPr/>
          <p:nvPr/>
        </p:nvSpPr>
        <p:spPr>
          <a:xfrm>
            <a:off x="4507992" y="5833872"/>
            <a:ext cx="1371600" cy="256032"/>
          </a:xfrm>
          <a:prstGeom prst="roundRect">
            <a:avLst>
              <a:gd name="adj" fmla="val 50000"/>
            </a:avLst>
          </a:prstGeom>
          <a:solidFill>
            <a:srgbClr val="DCEAF7"/>
          </a:solidFill>
          <a:ln/>
        </p:spPr>
      </p:sp>
      <p:sp>
        <p:nvSpPr>
          <p:cNvPr id="51" name="Text 49"/>
          <p:cNvSpPr/>
          <p:nvPr/>
        </p:nvSpPr>
        <p:spPr>
          <a:xfrm>
            <a:off x="4507992" y="5833872"/>
            <a:ext cx="1371600" cy="256032"/>
          </a:xfrm>
          <a:prstGeom prst="rect">
            <a:avLst/>
          </a:prstGeom>
          <a:noFill/>
          <a:ln/>
        </p:spPr>
        <p:txBody>
          <a:bodyPr wrap="square" lIns="0" tIns="0" rIns="0" bIns="0" rtlCol="0" anchor="ctr"/>
          <a:lstStyle/>
          <a:p>
            <a:pPr marL="0" indent="0" algn="ctr">
              <a:buNone/>
            </a:pPr>
            <a:r>
              <a:rPr lang="en-US" sz="1100" b="1" dirty="0">
                <a:solidFill>
                  <a:srgbClr val="1E5A96"/>
                </a:solidFill>
              </a:rPr>
              <a:t>3 hrs total</a:t>
            </a:r>
            <a:endParaRPr lang="en-US" sz="1100" dirty="0"/>
          </a:p>
        </p:txBody>
      </p:sp>
      <p:sp>
        <p:nvSpPr>
          <p:cNvPr id="52" name="Shape 50"/>
          <p:cNvSpPr/>
          <p:nvPr/>
        </p:nvSpPr>
        <p:spPr>
          <a:xfrm>
            <a:off x="8138160" y="4800600"/>
            <a:ext cx="3566160" cy="1417320"/>
          </a:xfrm>
          <a:prstGeom prst="roundRect">
            <a:avLst>
              <a:gd name="adj" fmla="val 5161"/>
            </a:avLst>
          </a:prstGeom>
          <a:solidFill>
            <a:srgbClr val="EEF4FA"/>
          </a:solidFill>
          <a:ln/>
          <a:effectLst>
            <a:outerShdw blurRad="63500" dist="25400" dir="5400000" algn="bl" rotWithShape="0">
              <a:srgbClr val="000000">
                <a:alpha val="10000"/>
              </a:srgbClr>
            </a:outerShdw>
          </a:effectLst>
        </p:spPr>
      </p:sp>
      <p:sp>
        <p:nvSpPr>
          <p:cNvPr id="53" name="Shape 51"/>
          <p:cNvSpPr/>
          <p:nvPr/>
        </p:nvSpPr>
        <p:spPr>
          <a:xfrm>
            <a:off x="8302752" y="4965192"/>
            <a:ext cx="457200" cy="457200"/>
          </a:xfrm>
          <a:prstGeom prst="ellipse">
            <a:avLst/>
          </a:prstGeom>
          <a:solidFill>
            <a:srgbClr val="1E5A96"/>
          </a:solidFill>
          <a:ln/>
        </p:spPr>
      </p:sp>
      <p:sp>
        <p:nvSpPr>
          <p:cNvPr id="54" name="Text 52"/>
          <p:cNvSpPr/>
          <p:nvPr/>
        </p:nvSpPr>
        <p:spPr>
          <a:xfrm>
            <a:off x="8302752" y="4965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9</a:t>
            </a:r>
            <a:endParaRPr lang="en-US" sz="1600" dirty="0"/>
          </a:p>
        </p:txBody>
      </p:sp>
      <p:sp>
        <p:nvSpPr>
          <p:cNvPr id="55" name="Text 53"/>
          <p:cNvSpPr/>
          <p:nvPr/>
        </p:nvSpPr>
        <p:spPr>
          <a:xfrm>
            <a:off x="8869680" y="4928616"/>
            <a:ext cx="2651760" cy="594360"/>
          </a:xfrm>
          <a:prstGeom prst="rect">
            <a:avLst/>
          </a:prstGeom>
          <a:noFill/>
          <a:ln/>
        </p:spPr>
        <p:txBody>
          <a:bodyPr wrap="square" lIns="0" tIns="0" rIns="0" bIns="0" rtlCol="0" anchor="t"/>
          <a:lstStyle/>
          <a:p>
            <a:pPr marL="0" indent="0">
              <a:buNone/>
            </a:pPr>
            <a:r>
              <a:rPr lang="en-US" sz="1250" b="1" dirty="0">
                <a:solidFill>
                  <a:srgbClr val="1B2733"/>
                </a:solidFill>
              </a:rPr>
              <a:t>Object Oriented Programming</a:t>
            </a:r>
            <a:endParaRPr lang="en-US" sz="1250" dirty="0"/>
          </a:p>
        </p:txBody>
      </p:sp>
      <p:sp>
        <p:nvSpPr>
          <p:cNvPr id="56" name="Shape 54"/>
          <p:cNvSpPr/>
          <p:nvPr/>
        </p:nvSpPr>
        <p:spPr>
          <a:xfrm>
            <a:off x="8302752" y="5833872"/>
            <a:ext cx="1371600" cy="256032"/>
          </a:xfrm>
          <a:prstGeom prst="roundRect">
            <a:avLst>
              <a:gd name="adj" fmla="val 50000"/>
            </a:avLst>
          </a:prstGeom>
          <a:solidFill>
            <a:srgbClr val="DCEAF7"/>
          </a:solidFill>
          <a:ln/>
        </p:spPr>
      </p:sp>
      <p:sp>
        <p:nvSpPr>
          <p:cNvPr id="57" name="Text 55"/>
          <p:cNvSpPr/>
          <p:nvPr/>
        </p:nvSpPr>
        <p:spPr>
          <a:xfrm>
            <a:off x="8302752" y="5833872"/>
            <a:ext cx="1371600" cy="256032"/>
          </a:xfrm>
          <a:prstGeom prst="rect">
            <a:avLst/>
          </a:prstGeom>
          <a:noFill/>
          <a:ln/>
        </p:spPr>
        <p:txBody>
          <a:bodyPr wrap="square" lIns="0" tIns="0" rIns="0" bIns="0" rtlCol="0" anchor="ctr"/>
          <a:lstStyle/>
          <a:p>
            <a:pPr marL="0" indent="0" algn="ctr">
              <a:buNone/>
            </a:pPr>
            <a:r>
              <a:rPr lang="en-US" sz="1100" b="1" dirty="0">
                <a:solidFill>
                  <a:srgbClr val="1E5A96"/>
                </a:solidFill>
              </a:rPr>
              <a:t>4 hrs total</a:t>
            </a:r>
            <a:endParaRPr lang="en-US" sz="1100" dirty="0"/>
          </a:p>
        </p:txBody>
      </p:sp>
      <p:sp>
        <p:nvSpPr>
          <p:cNvPr id="58" name="Text 56"/>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a:t>
            </a:r>
            <a:endParaRPr lang="en-US" sz="1000" dirty="0"/>
          </a:p>
        </p:txBody>
      </p:sp>
      <p:sp>
        <p:nvSpPr>
          <p:cNvPr id="59" name="Text 57"/>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1E5A96">
              <a:alpha val="45000"/>
            </a:srgbClr>
          </a:solidFill>
          <a:ln/>
        </p:spPr>
      </p:sp>
      <p:sp>
        <p:nvSpPr>
          <p:cNvPr id="3" name="Shape 1"/>
          <p:cNvSpPr/>
          <p:nvPr/>
        </p:nvSpPr>
        <p:spPr>
          <a:xfrm>
            <a:off x="731520" y="914400"/>
            <a:ext cx="1554480" cy="365760"/>
          </a:xfrm>
          <a:prstGeom prst="roundRect">
            <a:avLst>
              <a:gd name="adj" fmla="val 50000"/>
            </a:avLst>
          </a:prstGeom>
          <a:solidFill>
            <a:srgbClr val="1D3A5C"/>
          </a:solidFill>
          <a:ln/>
        </p:spPr>
      </p:sp>
      <p:sp>
        <p:nvSpPr>
          <p:cNvPr id="4" name="Text 2"/>
          <p:cNvSpPr/>
          <p:nvPr/>
        </p:nvSpPr>
        <p:spPr>
          <a:xfrm>
            <a:off x="731520" y="914400"/>
            <a:ext cx="1554480" cy="365760"/>
          </a:xfrm>
          <a:prstGeom prst="rect">
            <a:avLst/>
          </a:prstGeom>
          <a:noFill/>
          <a:ln/>
        </p:spPr>
        <p:txBody>
          <a:bodyPr wrap="square" lIns="0" tIns="0" rIns="0" bIns="0" rtlCol="0" anchor="ctr"/>
          <a:lstStyle/>
          <a:p>
            <a:pPr marL="0" indent="0" algn="ctr">
              <a:buNone/>
            </a:pPr>
            <a:r>
              <a:rPr lang="en-US" sz="1100" b="1" dirty="0">
                <a:solidFill>
                  <a:srgbClr val="F2A93B"/>
                </a:solidFill>
              </a:rPr>
              <a:t>MODULE 1 OF 9</a:t>
            </a:r>
            <a:endParaRPr lang="en-US" sz="1100" dirty="0"/>
          </a:p>
        </p:txBody>
      </p:sp>
      <p:sp>
        <p:nvSpPr>
          <p:cNvPr id="5" name="Shape 3"/>
          <p:cNvSpPr/>
          <p:nvPr/>
        </p:nvSpPr>
        <p:spPr>
          <a:xfrm>
            <a:off x="731520" y="1508760"/>
            <a:ext cx="960120" cy="960120"/>
          </a:xfrm>
          <a:prstGeom prst="roundRect">
            <a:avLst>
              <a:gd name="adj" fmla="val 19048"/>
            </a:avLst>
          </a:prstGeom>
          <a:solidFill>
            <a:srgbClr val="1E5A96"/>
          </a:solidFill>
          <a:ln/>
        </p:spPr>
      </p:sp>
      <p:pic>
        <p:nvPicPr>
          <p:cNvPr id="6" name="Image 0" descr="preencoded.png"/>
          <p:cNvPicPr>
            <a:picLocks noChangeAspect="1"/>
          </p:cNvPicPr>
          <p:nvPr/>
        </p:nvPicPr>
        <p:blipFill>
          <a:blip r:embed="rId3"/>
          <a:stretch>
            <a:fillRect/>
          </a:stretch>
        </p:blipFill>
        <p:spPr>
          <a:xfrm>
            <a:off x="960120" y="1737360"/>
            <a:ext cx="502920" cy="502920"/>
          </a:xfrm>
          <a:prstGeom prst="rect">
            <a:avLst/>
          </a:prstGeom>
        </p:spPr>
      </p:pic>
      <p:sp>
        <p:nvSpPr>
          <p:cNvPr id="7" name="Text 4"/>
          <p:cNvSpPr/>
          <p:nvPr/>
        </p:nvSpPr>
        <p:spPr>
          <a:xfrm>
            <a:off x="1874520" y="1463040"/>
            <a:ext cx="91440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Introduction to Python</a:t>
            </a:r>
            <a:endParaRPr lang="en-US" sz="3200" dirty="0"/>
          </a:p>
        </p:txBody>
      </p:sp>
      <p:sp>
        <p:nvSpPr>
          <p:cNvPr id="8" name="Shape 5"/>
          <p:cNvSpPr/>
          <p:nvPr/>
        </p:nvSpPr>
        <p:spPr>
          <a:xfrm>
            <a:off x="1874520" y="2514600"/>
            <a:ext cx="1417320" cy="594360"/>
          </a:xfrm>
          <a:prstGeom prst="roundRect">
            <a:avLst>
              <a:gd name="adj" fmla="val 12308"/>
            </a:avLst>
          </a:prstGeom>
          <a:solidFill>
            <a:srgbClr val="1D3A5C"/>
          </a:solidFill>
          <a:ln w="12700">
            <a:solidFill>
              <a:srgbClr val="1E5A96"/>
            </a:solidFill>
            <a:prstDash val="solid"/>
          </a:ln>
        </p:spPr>
      </p:sp>
      <p:sp>
        <p:nvSpPr>
          <p:cNvPr id="9" name="Text 6"/>
          <p:cNvSpPr/>
          <p:nvPr/>
        </p:nvSpPr>
        <p:spPr>
          <a:xfrm>
            <a:off x="187452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0" name="Text 7"/>
          <p:cNvSpPr/>
          <p:nvPr/>
        </p:nvSpPr>
        <p:spPr>
          <a:xfrm>
            <a:off x="187452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Theory</a:t>
            </a:r>
            <a:endParaRPr lang="en-US" sz="900" dirty="0"/>
          </a:p>
        </p:txBody>
      </p:sp>
      <p:sp>
        <p:nvSpPr>
          <p:cNvPr id="11" name="Shape 8"/>
          <p:cNvSpPr/>
          <p:nvPr/>
        </p:nvSpPr>
        <p:spPr>
          <a:xfrm>
            <a:off x="3429000" y="2514600"/>
            <a:ext cx="1417320" cy="594360"/>
          </a:xfrm>
          <a:prstGeom prst="roundRect">
            <a:avLst>
              <a:gd name="adj" fmla="val 12308"/>
            </a:avLst>
          </a:prstGeom>
          <a:solidFill>
            <a:srgbClr val="1D3A5C"/>
          </a:solidFill>
          <a:ln w="12700">
            <a:solidFill>
              <a:srgbClr val="1E5A96"/>
            </a:solidFill>
            <a:prstDash val="solid"/>
          </a:ln>
        </p:spPr>
      </p:sp>
      <p:sp>
        <p:nvSpPr>
          <p:cNvPr id="12" name="Text 9"/>
          <p:cNvSpPr/>
          <p:nvPr/>
        </p:nvSpPr>
        <p:spPr>
          <a:xfrm>
            <a:off x="342900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3" name="Text 10"/>
          <p:cNvSpPr/>
          <p:nvPr/>
        </p:nvSpPr>
        <p:spPr>
          <a:xfrm>
            <a:off x="342900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Practical</a:t>
            </a:r>
            <a:endParaRPr lang="en-US" sz="900" dirty="0"/>
          </a:p>
        </p:txBody>
      </p:sp>
      <p:sp>
        <p:nvSpPr>
          <p:cNvPr id="14" name="Shape 11"/>
          <p:cNvSpPr/>
          <p:nvPr/>
        </p:nvSpPr>
        <p:spPr>
          <a:xfrm>
            <a:off x="4983480" y="2514600"/>
            <a:ext cx="1417320" cy="594360"/>
          </a:xfrm>
          <a:prstGeom prst="roundRect">
            <a:avLst>
              <a:gd name="adj" fmla="val 12308"/>
            </a:avLst>
          </a:prstGeom>
          <a:solidFill>
            <a:srgbClr val="1D3A5C"/>
          </a:solidFill>
          <a:ln w="12700">
            <a:solidFill>
              <a:srgbClr val="1E5A96"/>
            </a:solidFill>
            <a:prstDash val="solid"/>
          </a:ln>
        </p:spPr>
      </p:sp>
      <p:sp>
        <p:nvSpPr>
          <p:cNvPr id="15" name="Text 12"/>
          <p:cNvSpPr/>
          <p:nvPr/>
        </p:nvSpPr>
        <p:spPr>
          <a:xfrm>
            <a:off x="498348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6" name="Text 13"/>
          <p:cNvSpPr/>
          <p:nvPr/>
        </p:nvSpPr>
        <p:spPr>
          <a:xfrm>
            <a:off x="498348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Total</a:t>
            </a:r>
            <a:endParaRPr lang="en-US" sz="900" dirty="0"/>
          </a:p>
        </p:txBody>
      </p:sp>
      <p:sp>
        <p:nvSpPr>
          <p:cNvPr id="17" name="Text 14"/>
          <p:cNvSpPr/>
          <p:nvPr/>
        </p:nvSpPr>
        <p:spPr>
          <a:xfrm>
            <a:off x="731520" y="3566160"/>
            <a:ext cx="5486400" cy="274320"/>
          </a:xfrm>
          <a:prstGeom prst="rect">
            <a:avLst/>
          </a:prstGeom>
          <a:noFill/>
          <a:ln/>
        </p:spPr>
        <p:txBody>
          <a:bodyPr wrap="square" lIns="0" tIns="0" rIns="0" bIns="0" rtlCol="0" anchor="ctr"/>
          <a:lstStyle/>
          <a:p>
            <a:pPr marL="0" indent="0">
              <a:buNone/>
            </a:pPr>
            <a:r>
              <a:rPr lang="en-US" sz="1150" b="1" kern="0" spc="150" dirty="0">
                <a:solidFill>
                  <a:srgbClr val="F2A93B"/>
                </a:solidFill>
              </a:rPr>
              <a:t>TOPICS COVERED</a:t>
            </a:r>
            <a:endParaRPr lang="en-US" sz="1150" dirty="0"/>
          </a:p>
        </p:txBody>
      </p:sp>
      <p:sp>
        <p:nvSpPr>
          <p:cNvPr id="18" name="Shape 15"/>
          <p:cNvSpPr/>
          <p:nvPr/>
        </p:nvSpPr>
        <p:spPr>
          <a:xfrm>
            <a:off x="731520" y="4005072"/>
            <a:ext cx="91440" cy="91440"/>
          </a:xfrm>
          <a:prstGeom prst="ellipse">
            <a:avLst/>
          </a:prstGeom>
          <a:solidFill>
            <a:srgbClr val="F2A93B"/>
          </a:solidFill>
          <a:ln/>
        </p:spPr>
      </p:sp>
      <p:sp>
        <p:nvSpPr>
          <p:cNvPr id="19" name="Text 16"/>
          <p:cNvSpPr/>
          <p:nvPr/>
        </p:nvSpPr>
        <p:spPr>
          <a:xfrm>
            <a:off x="100584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Programming Fundamentals</a:t>
            </a:r>
            <a:endParaRPr lang="en-US" sz="1300" dirty="0"/>
          </a:p>
        </p:txBody>
      </p:sp>
      <p:sp>
        <p:nvSpPr>
          <p:cNvPr id="20" name="Shape 17"/>
          <p:cNvSpPr/>
          <p:nvPr/>
        </p:nvSpPr>
        <p:spPr>
          <a:xfrm>
            <a:off x="5943600" y="4005072"/>
            <a:ext cx="91440" cy="91440"/>
          </a:xfrm>
          <a:prstGeom prst="ellipse">
            <a:avLst/>
          </a:prstGeom>
          <a:solidFill>
            <a:srgbClr val="F2A93B"/>
          </a:solidFill>
          <a:ln/>
        </p:spPr>
      </p:sp>
      <p:sp>
        <p:nvSpPr>
          <p:cNvPr id="21" name="Text 18"/>
          <p:cNvSpPr/>
          <p:nvPr/>
        </p:nvSpPr>
        <p:spPr>
          <a:xfrm>
            <a:off x="621792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What is Python?</a:t>
            </a:r>
            <a:endParaRPr lang="en-US" sz="1300" dirty="0"/>
          </a:p>
        </p:txBody>
      </p:sp>
      <p:sp>
        <p:nvSpPr>
          <p:cNvPr id="22" name="Shape 19"/>
          <p:cNvSpPr/>
          <p:nvPr/>
        </p:nvSpPr>
        <p:spPr>
          <a:xfrm>
            <a:off x="731520" y="4462272"/>
            <a:ext cx="91440" cy="91440"/>
          </a:xfrm>
          <a:prstGeom prst="ellipse">
            <a:avLst/>
          </a:prstGeom>
          <a:solidFill>
            <a:srgbClr val="F2A93B"/>
          </a:solidFill>
          <a:ln/>
        </p:spPr>
      </p:sp>
      <p:sp>
        <p:nvSpPr>
          <p:cNvPr id="23" name="Text 20"/>
          <p:cNvSpPr/>
          <p:nvPr/>
        </p:nvSpPr>
        <p:spPr>
          <a:xfrm>
            <a:off x="100584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Features of Python</a:t>
            </a:r>
            <a:endParaRPr lang="en-US" sz="1300" dirty="0"/>
          </a:p>
        </p:txBody>
      </p:sp>
      <p:sp>
        <p:nvSpPr>
          <p:cNvPr id="24" name="Shape 21"/>
          <p:cNvSpPr/>
          <p:nvPr/>
        </p:nvSpPr>
        <p:spPr>
          <a:xfrm>
            <a:off x="5943600" y="4462272"/>
            <a:ext cx="91440" cy="91440"/>
          </a:xfrm>
          <a:prstGeom prst="ellipse">
            <a:avLst/>
          </a:prstGeom>
          <a:solidFill>
            <a:srgbClr val="F2A93B"/>
          </a:solidFill>
          <a:ln/>
        </p:spPr>
      </p:sp>
      <p:sp>
        <p:nvSpPr>
          <p:cNvPr id="25" name="Text 22"/>
          <p:cNvSpPr/>
          <p:nvPr/>
        </p:nvSpPr>
        <p:spPr>
          <a:xfrm>
            <a:off x="621792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Applications of Python</a:t>
            </a:r>
            <a:endParaRPr lang="en-US" sz="1300" dirty="0"/>
          </a:p>
        </p:txBody>
      </p:sp>
      <p:sp>
        <p:nvSpPr>
          <p:cNvPr id="26" name="Shape 23"/>
          <p:cNvSpPr/>
          <p:nvPr/>
        </p:nvSpPr>
        <p:spPr>
          <a:xfrm>
            <a:off x="731520" y="4919472"/>
            <a:ext cx="91440" cy="91440"/>
          </a:xfrm>
          <a:prstGeom prst="ellipse">
            <a:avLst/>
          </a:prstGeom>
          <a:solidFill>
            <a:srgbClr val="F2A93B"/>
          </a:solidFill>
          <a:ln/>
        </p:spPr>
      </p:sp>
      <p:sp>
        <p:nvSpPr>
          <p:cNvPr id="27" name="Text 24"/>
          <p:cNvSpPr/>
          <p:nvPr/>
        </p:nvSpPr>
        <p:spPr>
          <a:xfrm>
            <a:off x="1005840" y="48463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Python Installation</a:t>
            </a:r>
            <a:endParaRPr lang="en-US" sz="1300" dirty="0"/>
          </a:p>
        </p:txBody>
      </p:sp>
      <p:sp>
        <p:nvSpPr>
          <p:cNvPr id="28" name="Shape 25"/>
          <p:cNvSpPr/>
          <p:nvPr/>
        </p:nvSpPr>
        <p:spPr>
          <a:xfrm>
            <a:off x="5943600" y="4919472"/>
            <a:ext cx="91440" cy="91440"/>
          </a:xfrm>
          <a:prstGeom prst="ellipse">
            <a:avLst/>
          </a:prstGeom>
          <a:solidFill>
            <a:srgbClr val="F2A93B"/>
          </a:solidFill>
          <a:ln/>
        </p:spPr>
      </p:sp>
      <p:sp>
        <p:nvSpPr>
          <p:cNvPr id="29" name="Text 26"/>
          <p:cNvSpPr/>
          <p:nvPr/>
        </p:nvSpPr>
        <p:spPr>
          <a:xfrm>
            <a:off x="6217920" y="48463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IDE Setup (VS Code, PyCharm, Jupyter)</a:t>
            </a:r>
            <a:endParaRPr lang="en-US" sz="1300" dirty="0"/>
          </a:p>
        </p:txBody>
      </p:sp>
      <p:sp>
        <p:nvSpPr>
          <p:cNvPr id="31" name="Text 2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a:t>
            </a:r>
            <a:endParaRPr lang="en-US" sz="1000" dirty="0"/>
          </a:p>
        </p:txBody>
      </p:sp>
      <p:sp>
        <p:nvSpPr>
          <p:cNvPr id="32" name="Text 2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1 — INTRODUCTION TO PYTHON</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Learning Objectives &amp; Theory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846320" cy="457200"/>
          </a:xfrm>
          <a:prstGeom prst="rect">
            <a:avLst/>
          </a:prstGeom>
          <a:noFill/>
          <a:ln/>
        </p:spPr>
        <p:txBody>
          <a:bodyPr wrap="square" lIns="0" tIns="0" rIns="0" bIns="0" rtlCol="0" anchor="ctr"/>
          <a:lstStyle/>
          <a:p>
            <a:pPr marL="0" indent="0">
              <a:buNone/>
            </a:pPr>
            <a:r>
              <a:rPr lang="en-US" sz="1500" b="1" dirty="0">
                <a:solidFill>
                  <a:srgbClr val="1B2733"/>
                </a:solidFill>
              </a:rPr>
              <a:t>Learning Objectives</a:t>
            </a:r>
            <a:endParaRPr lang="en-US" sz="1500" dirty="0"/>
          </a:p>
        </p:txBody>
      </p:sp>
      <p:sp>
        <p:nvSpPr>
          <p:cNvPr id="7" name="Text 4"/>
          <p:cNvSpPr/>
          <p:nvPr/>
        </p:nvSpPr>
        <p:spPr>
          <a:xfrm>
            <a:off x="548640" y="2011680"/>
            <a:ext cx="539496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Understand what Python is and why it is so popular</a:t>
            </a:r>
            <a:endParaRPr lang="en-US" sz="1300" dirty="0"/>
          </a:p>
          <a:p>
            <a:pPr marL="342900" indent="-342900">
              <a:lnSpc>
                <a:spcPct val="115000"/>
              </a:lnSpc>
              <a:spcAft>
                <a:spcPts val="1000"/>
              </a:spcAft>
              <a:buSzPct val="100000"/>
              <a:buChar char="●"/>
            </a:pPr>
            <a:r>
              <a:rPr lang="en-US" sz="1300" dirty="0">
                <a:solidFill>
                  <a:srgbClr val="1B2733"/>
                </a:solidFill>
              </a:rPr>
              <a:t>Learn the difference between interpreted and compiled languages</a:t>
            </a:r>
            <a:endParaRPr lang="en-US" sz="1300" dirty="0"/>
          </a:p>
          <a:p>
            <a:pPr marL="342900" indent="-342900">
              <a:lnSpc>
                <a:spcPct val="115000"/>
              </a:lnSpc>
              <a:spcAft>
                <a:spcPts val="1000"/>
              </a:spcAft>
              <a:buSzPct val="100000"/>
              <a:buChar char="●"/>
            </a:pPr>
            <a:r>
              <a:rPr lang="en-US" sz="1300" dirty="0">
                <a:solidFill>
                  <a:srgbClr val="1B2733"/>
                </a:solidFill>
              </a:rPr>
              <a:t>Explore real-world applications of Python across industries</a:t>
            </a:r>
            <a:endParaRPr lang="en-US" sz="1300" dirty="0"/>
          </a:p>
          <a:p>
            <a:pPr marL="342900" indent="-342900">
              <a:lnSpc>
                <a:spcPct val="115000"/>
              </a:lnSpc>
              <a:spcAft>
                <a:spcPts val="1000"/>
              </a:spcAft>
              <a:buSzPct val="100000"/>
              <a:buChar char="●"/>
            </a:pPr>
            <a:r>
              <a:rPr lang="en-US" sz="1300" dirty="0">
                <a:solidFill>
                  <a:srgbClr val="1B2733"/>
                </a:solidFill>
              </a:rPr>
              <a:t>Install Python and set up VS Code / PyCharm / Jupyter</a:t>
            </a:r>
            <a:endParaRPr lang="en-US" sz="1300" dirty="0"/>
          </a:p>
          <a:p>
            <a:pPr marL="342900" indent="-342900">
              <a:lnSpc>
                <a:spcPct val="115000"/>
              </a:lnSpc>
              <a:spcAft>
                <a:spcPts val="1000"/>
              </a:spcAft>
              <a:buSzPct val="100000"/>
              <a:buChar char="●"/>
            </a:pPr>
            <a:r>
              <a:rPr lang="en-US" sz="1300" dirty="0">
                <a:solidFill>
                  <a:srgbClr val="1B2733"/>
                </a:solidFill>
              </a:rPr>
              <a:t>Write and run your very first Python program</a:t>
            </a:r>
            <a:endParaRPr lang="en-US" sz="1300" dirty="0"/>
          </a:p>
        </p:txBody>
      </p:sp>
      <p:sp>
        <p:nvSpPr>
          <p:cNvPr id="8" name="Shape 5"/>
          <p:cNvSpPr/>
          <p:nvPr/>
        </p:nvSpPr>
        <p:spPr>
          <a:xfrm>
            <a:off x="6172200" y="1417320"/>
            <a:ext cx="13716" cy="4663440"/>
          </a:xfrm>
          <a:prstGeom prst="rect">
            <a:avLst/>
          </a:prstGeom>
          <a:solidFill>
            <a:srgbClr val="DCE6F0"/>
          </a:solidFill>
          <a:ln/>
        </p:spPr>
      </p:sp>
      <p:sp>
        <p:nvSpPr>
          <p:cNvPr id="9" name="Shape 6"/>
          <p:cNvSpPr/>
          <p:nvPr/>
        </p:nvSpPr>
        <p:spPr>
          <a:xfrm>
            <a:off x="6400800" y="1463040"/>
            <a:ext cx="384048" cy="384048"/>
          </a:xfrm>
          <a:prstGeom prst="ellipse">
            <a:avLst/>
          </a:prstGeom>
          <a:solidFill>
            <a:srgbClr val="1E5A96"/>
          </a:solidFill>
          <a:ln/>
        </p:spPr>
      </p:sp>
      <p:pic>
        <p:nvPicPr>
          <p:cNvPr id="10" name="Image 1" descr="preencoded.png"/>
          <p:cNvPicPr>
            <a:picLocks noChangeAspect="1"/>
          </p:cNvPicPr>
          <p:nvPr/>
        </p:nvPicPr>
        <p:blipFill>
          <a:blip r:embed="rId4"/>
          <a:stretch>
            <a:fillRect/>
          </a:stretch>
        </p:blipFill>
        <p:spPr>
          <a:xfrm>
            <a:off x="6483096" y="1545336"/>
            <a:ext cx="219456" cy="219456"/>
          </a:xfrm>
          <a:prstGeom prst="rect">
            <a:avLst/>
          </a:prstGeom>
        </p:spPr>
      </p:pic>
      <p:sp>
        <p:nvSpPr>
          <p:cNvPr id="11" name="Text 7"/>
          <p:cNvSpPr/>
          <p:nvPr/>
        </p:nvSpPr>
        <p:spPr>
          <a:xfrm>
            <a:off x="6912864" y="1435608"/>
            <a:ext cx="4663440" cy="457200"/>
          </a:xfrm>
          <a:prstGeom prst="rect">
            <a:avLst/>
          </a:prstGeom>
          <a:noFill/>
          <a:ln/>
        </p:spPr>
        <p:txBody>
          <a:bodyPr wrap="square" lIns="0" tIns="0" rIns="0" bIns="0" rtlCol="0" anchor="ctr"/>
          <a:lstStyle/>
          <a:p>
            <a:pPr marL="0" indent="0">
              <a:buNone/>
            </a:pPr>
            <a:r>
              <a:rPr lang="en-US" sz="1500" b="1" dirty="0">
                <a:solidFill>
                  <a:srgbClr val="1B2733"/>
                </a:solidFill>
              </a:rPr>
              <a:t>Theory Explanation</a:t>
            </a:r>
            <a:endParaRPr lang="en-US" sz="1500" dirty="0"/>
          </a:p>
        </p:txBody>
      </p:sp>
      <p:sp>
        <p:nvSpPr>
          <p:cNvPr id="12" name="Text 8"/>
          <p:cNvSpPr/>
          <p:nvPr/>
        </p:nvSpPr>
        <p:spPr>
          <a:xfrm>
            <a:off x="6400800" y="2011680"/>
            <a:ext cx="521208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Created by Guido van Rossum, first released in 1991</a:t>
            </a:r>
            <a:endParaRPr lang="en-US" sz="1300" dirty="0"/>
          </a:p>
          <a:p>
            <a:pPr marL="342900" indent="-342900">
              <a:lnSpc>
                <a:spcPct val="115000"/>
              </a:lnSpc>
              <a:spcAft>
                <a:spcPts val="1000"/>
              </a:spcAft>
              <a:buSzPct val="100000"/>
              <a:buChar char="●"/>
            </a:pPr>
            <a:r>
              <a:rPr lang="en-US" sz="1300" dirty="0">
                <a:solidFill>
                  <a:srgbClr val="1B2733"/>
                </a:solidFill>
              </a:rPr>
              <a:t>Popular because of simple syntax, huge community, and versatility</a:t>
            </a:r>
            <a:endParaRPr lang="en-US" sz="1300" dirty="0"/>
          </a:p>
          <a:p>
            <a:pPr marL="342900" indent="-342900">
              <a:lnSpc>
                <a:spcPct val="115000"/>
              </a:lnSpc>
              <a:spcAft>
                <a:spcPts val="1000"/>
              </a:spcAft>
              <a:buSzPct val="100000"/>
              <a:buChar char="●"/>
            </a:pPr>
            <a:r>
              <a:rPr lang="en-US" sz="1300" dirty="0">
                <a:solidFill>
                  <a:srgbClr val="1B2733"/>
                </a:solidFill>
              </a:rPr>
              <a:t>Python is dynamically typed and open-source</a:t>
            </a:r>
            <a:endParaRPr lang="en-US" sz="1300" dirty="0"/>
          </a:p>
          <a:p>
            <a:pPr marL="342900" indent="-342900">
              <a:lnSpc>
                <a:spcPct val="115000"/>
              </a:lnSpc>
              <a:spcAft>
                <a:spcPts val="1000"/>
              </a:spcAft>
              <a:buSzPct val="100000"/>
              <a:buChar char="●"/>
            </a:pPr>
            <a:r>
              <a:rPr lang="en-US" sz="1300" dirty="0">
                <a:solidFill>
                  <a:srgbClr val="1B2733"/>
                </a:solidFill>
              </a:rPr>
              <a:t>General-purpose: used for scripting, apps, data, and AI</a:t>
            </a:r>
            <a:endParaRPr lang="en-US" sz="1300" dirty="0"/>
          </a:p>
        </p:txBody>
      </p:sp>
      <p:sp>
        <p:nvSpPr>
          <p:cNvPr id="13" name="Text 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a:t>
            </a:r>
            <a:endParaRPr lang="en-US" sz="10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1 — INTRODUCTION TO PYTHON</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Concept Diagram</a:t>
            </a:r>
            <a:endParaRPr lang="en-US" sz="2700" dirty="0"/>
          </a:p>
        </p:txBody>
      </p:sp>
      <p:sp>
        <p:nvSpPr>
          <p:cNvPr id="4" name="Shape 2"/>
          <p:cNvSpPr/>
          <p:nvPr/>
        </p:nvSpPr>
        <p:spPr>
          <a:xfrm>
            <a:off x="457200" y="1417320"/>
            <a:ext cx="11247120" cy="4663440"/>
          </a:xfrm>
          <a:prstGeom prst="roundRect">
            <a:avLst>
              <a:gd name="adj" fmla="val 1961"/>
            </a:avLst>
          </a:prstGeom>
          <a:solidFill>
            <a:srgbClr val="EEF4FA"/>
          </a:solidFill>
          <a:ln/>
        </p:spPr>
      </p:sp>
      <p:sp>
        <p:nvSpPr>
          <p:cNvPr id="5" name="Shape 3"/>
          <p:cNvSpPr/>
          <p:nvPr/>
        </p:nvSpPr>
        <p:spPr>
          <a:xfrm>
            <a:off x="822960" y="3246120"/>
            <a:ext cx="1664208" cy="1005840"/>
          </a:xfrm>
          <a:prstGeom prst="roundRect">
            <a:avLst>
              <a:gd name="adj" fmla="val 7273"/>
            </a:avLst>
          </a:prstGeom>
          <a:solidFill>
            <a:srgbClr val="1E5A96"/>
          </a:solidFill>
          <a:ln/>
        </p:spPr>
      </p:sp>
      <p:sp>
        <p:nvSpPr>
          <p:cNvPr id="6" name="Text 4"/>
          <p:cNvSpPr/>
          <p:nvPr/>
        </p:nvSpPr>
        <p:spPr>
          <a:xfrm>
            <a:off x="822960" y="3246120"/>
            <a:ext cx="1664208" cy="1005840"/>
          </a:xfrm>
          <a:prstGeom prst="rect">
            <a:avLst/>
          </a:prstGeom>
          <a:noFill/>
          <a:ln/>
        </p:spPr>
        <p:txBody>
          <a:bodyPr wrap="square" lIns="0" tIns="0" rIns="0" bIns="0" rtlCol="0" anchor="ctr"/>
          <a:lstStyle/>
          <a:p>
            <a:pPr marL="0" indent="0" algn="ctr">
              <a:buNone/>
            </a:pPr>
            <a:r>
              <a:rPr lang="en-US" sz="1150" b="1" dirty="0">
                <a:solidFill>
                  <a:srgbClr val="FFFFFF"/>
                </a:solidFill>
              </a:rPr>
              <a:t>Source Code</a:t>
            </a:r>
            <a:endParaRPr lang="en-US" sz="1150" dirty="0"/>
          </a:p>
          <a:p>
            <a:pPr marL="0" indent="0" algn="ctr">
              <a:buNone/>
            </a:pPr>
            <a:r>
              <a:rPr lang="en-US" sz="1150" b="1" dirty="0">
                <a:solidFill>
                  <a:srgbClr val="FFFFFF"/>
                </a:solidFill>
              </a:rPr>
              <a:t>(.py)</a:t>
            </a:r>
            <a:endParaRPr lang="en-US" sz="1150" dirty="0"/>
          </a:p>
        </p:txBody>
      </p:sp>
      <p:sp>
        <p:nvSpPr>
          <p:cNvPr id="7" name="Shape 5"/>
          <p:cNvSpPr/>
          <p:nvPr/>
        </p:nvSpPr>
        <p:spPr>
          <a:xfrm>
            <a:off x="2514600" y="3749040"/>
            <a:ext cx="493776" cy="0"/>
          </a:xfrm>
          <a:prstGeom prst="line">
            <a:avLst/>
          </a:prstGeom>
          <a:noFill/>
          <a:ln w="25400">
            <a:solidFill>
              <a:srgbClr val="1E5A96"/>
            </a:solidFill>
            <a:prstDash val="solid"/>
            <a:tailEnd type="triangle"/>
          </a:ln>
        </p:spPr>
      </p:sp>
      <p:sp>
        <p:nvSpPr>
          <p:cNvPr id="8" name="Shape 6"/>
          <p:cNvSpPr/>
          <p:nvPr/>
        </p:nvSpPr>
        <p:spPr>
          <a:xfrm>
            <a:off x="3035808" y="3246120"/>
            <a:ext cx="1664208" cy="1005840"/>
          </a:xfrm>
          <a:prstGeom prst="roundRect">
            <a:avLst>
              <a:gd name="adj" fmla="val 7273"/>
            </a:avLst>
          </a:prstGeom>
          <a:solidFill>
            <a:srgbClr val="132A46"/>
          </a:solidFill>
          <a:ln/>
        </p:spPr>
      </p:sp>
      <p:sp>
        <p:nvSpPr>
          <p:cNvPr id="9" name="Text 7"/>
          <p:cNvSpPr/>
          <p:nvPr/>
        </p:nvSpPr>
        <p:spPr>
          <a:xfrm>
            <a:off x="3035808" y="3246120"/>
            <a:ext cx="1664208" cy="1005840"/>
          </a:xfrm>
          <a:prstGeom prst="rect">
            <a:avLst/>
          </a:prstGeom>
          <a:noFill/>
          <a:ln/>
        </p:spPr>
        <p:txBody>
          <a:bodyPr wrap="square" lIns="0" tIns="0" rIns="0" bIns="0" rtlCol="0" anchor="ctr"/>
          <a:lstStyle/>
          <a:p>
            <a:pPr marL="0" indent="0" algn="ctr">
              <a:buNone/>
            </a:pPr>
            <a:r>
              <a:rPr lang="en-US" sz="1150" b="1" dirty="0">
                <a:solidFill>
                  <a:srgbClr val="FFFFFF"/>
                </a:solidFill>
              </a:rPr>
              <a:t>Python</a:t>
            </a:r>
            <a:endParaRPr lang="en-US" sz="1150" dirty="0"/>
          </a:p>
          <a:p>
            <a:pPr marL="0" indent="0" algn="ctr">
              <a:buNone/>
            </a:pPr>
            <a:r>
              <a:rPr lang="en-US" sz="1150" b="1" dirty="0">
                <a:solidFill>
                  <a:srgbClr val="FFFFFF"/>
                </a:solidFill>
              </a:rPr>
              <a:t>Compiler</a:t>
            </a:r>
            <a:endParaRPr lang="en-US" sz="1150" dirty="0"/>
          </a:p>
        </p:txBody>
      </p:sp>
      <p:sp>
        <p:nvSpPr>
          <p:cNvPr id="10" name="Shape 8"/>
          <p:cNvSpPr/>
          <p:nvPr/>
        </p:nvSpPr>
        <p:spPr>
          <a:xfrm>
            <a:off x="4727448" y="3749040"/>
            <a:ext cx="493776" cy="0"/>
          </a:xfrm>
          <a:prstGeom prst="line">
            <a:avLst/>
          </a:prstGeom>
          <a:noFill/>
          <a:ln w="25400">
            <a:solidFill>
              <a:srgbClr val="1E5A96"/>
            </a:solidFill>
            <a:prstDash val="solid"/>
            <a:tailEnd type="triangle"/>
          </a:ln>
        </p:spPr>
      </p:sp>
      <p:sp>
        <p:nvSpPr>
          <p:cNvPr id="11" name="Shape 9"/>
          <p:cNvSpPr/>
          <p:nvPr/>
        </p:nvSpPr>
        <p:spPr>
          <a:xfrm>
            <a:off x="5248656" y="3246120"/>
            <a:ext cx="1664208" cy="1005840"/>
          </a:xfrm>
          <a:prstGeom prst="roundRect">
            <a:avLst>
              <a:gd name="adj" fmla="val 7273"/>
            </a:avLst>
          </a:prstGeom>
          <a:solidFill>
            <a:srgbClr val="1E5A96"/>
          </a:solidFill>
          <a:ln/>
        </p:spPr>
      </p:sp>
      <p:sp>
        <p:nvSpPr>
          <p:cNvPr id="12" name="Text 10"/>
          <p:cNvSpPr/>
          <p:nvPr/>
        </p:nvSpPr>
        <p:spPr>
          <a:xfrm>
            <a:off x="5248656" y="3246120"/>
            <a:ext cx="1664208" cy="1005840"/>
          </a:xfrm>
          <a:prstGeom prst="rect">
            <a:avLst/>
          </a:prstGeom>
          <a:noFill/>
          <a:ln/>
        </p:spPr>
        <p:txBody>
          <a:bodyPr wrap="square" lIns="0" tIns="0" rIns="0" bIns="0" rtlCol="0" anchor="ctr"/>
          <a:lstStyle/>
          <a:p>
            <a:pPr marL="0" indent="0" algn="ctr">
              <a:buNone/>
            </a:pPr>
            <a:r>
              <a:rPr lang="en-US" sz="1150" b="1" dirty="0">
                <a:solidFill>
                  <a:srgbClr val="FFFFFF"/>
                </a:solidFill>
              </a:rPr>
              <a:t>Bytecode</a:t>
            </a:r>
            <a:endParaRPr lang="en-US" sz="1150" dirty="0"/>
          </a:p>
          <a:p>
            <a:pPr marL="0" indent="0" algn="ctr">
              <a:buNone/>
            </a:pPr>
            <a:r>
              <a:rPr lang="en-US" sz="1150" b="1" dirty="0">
                <a:solidFill>
                  <a:srgbClr val="FFFFFF"/>
                </a:solidFill>
              </a:rPr>
              <a:t>(.pyc)</a:t>
            </a:r>
            <a:endParaRPr lang="en-US" sz="1150" dirty="0"/>
          </a:p>
        </p:txBody>
      </p:sp>
      <p:sp>
        <p:nvSpPr>
          <p:cNvPr id="13" name="Shape 11"/>
          <p:cNvSpPr/>
          <p:nvPr/>
        </p:nvSpPr>
        <p:spPr>
          <a:xfrm>
            <a:off x="6940296" y="3749040"/>
            <a:ext cx="493776" cy="0"/>
          </a:xfrm>
          <a:prstGeom prst="line">
            <a:avLst/>
          </a:prstGeom>
          <a:noFill/>
          <a:ln w="25400">
            <a:solidFill>
              <a:srgbClr val="1E5A96"/>
            </a:solidFill>
            <a:prstDash val="solid"/>
            <a:tailEnd type="triangle"/>
          </a:ln>
        </p:spPr>
      </p:sp>
      <p:sp>
        <p:nvSpPr>
          <p:cNvPr id="14" name="Shape 12"/>
          <p:cNvSpPr/>
          <p:nvPr/>
        </p:nvSpPr>
        <p:spPr>
          <a:xfrm>
            <a:off x="7461504" y="3246120"/>
            <a:ext cx="1664208" cy="1005840"/>
          </a:xfrm>
          <a:prstGeom prst="roundRect">
            <a:avLst>
              <a:gd name="adj" fmla="val 7273"/>
            </a:avLst>
          </a:prstGeom>
          <a:solidFill>
            <a:srgbClr val="132A46"/>
          </a:solidFill>
          <a:ln/>
        </p:spPr>
      </p:sp>
      <p:sp>
        <p:nvSpPr>
          <p:cNvPr id="15" name="Text 13"/>
          <p:cNvSpPr/>
          <p:nvPr/>
        </p:nvSpPr>
        <p:spPr>
          <a:xfrm>
            <a:off x="7461504" y="3246120"/>
            <a:ext cx="1664208" cy="1005840"/>
          </a:xfrm>
          <a:prstGeom prst="rect">
            <a:avLst/>
          </a:prstGeom>
          <a:noFill/>
          <a:ln/>
        </p:spPr>
        <p:txBody>
          <a:bodyPr wrap="square" lIns="0" tIns="0" rIns="0" bIns="0" rtlCol="0" anchor="ctr"/>
          <a:lstStyle/>
          <a:p>
            <a:pPr marL="0" indent="0" algn="ctr">
              <a:buNone/>
            </a:pPr>
            <a:r>
              <a:rPr lang="en-US" sz="1150" b="1" dirty="0">
                <a:solidFill>
                  <a:srgbClr val="FFFFFF"/>
                </a:solidFill>
              </a:rPr>
              <a:t>Python Virtual</a:t>
            </a:r>
            <a:endParaRPr lang="en-US" sz="1150" dirty="0"/>
          </a:p>
          <a:p>
            <a:pPr marL="0" indent="0" algn="ctr">
              <a:buNone/>
            </a:pPr>
            <a:r>
              <a:rPr lang="en-US" sz="1150" b="1" dirty="0">
                <a:solidFill>
                  <a:srgbClr val="FFFFFF"/>
                </a:solidFill>
              </a:rPr>
              <a:t>Machine (PVM)</a:t>
            </a:r>
            <a:endParaRPr lang="en-US" sz="1150" dirty="0"/>
          </a:p>
        </p:txBody>
      </p:sp>
      <p:sp>
        <p:nvSpPr>
          <p:cNvPr id="16" name="Shape 14"/>
          <p:cNvSpPr/>
          <p:nvPr/>
        </p:nvSpPr>
        <p:spPr>
          <a:xfrm>
            <a:off x="9153144" y="3749040"/>
            <a:ext cx="493776" cy="0"/>
          </a:xfrm>
          <a:prstGeom prst="line">
            <a:avLst/>
          </a:prstGeom>
          <a:noFill/>
          <a:ln w="25400">
            <a:solidFill>
              <a:srgbClr val="1E5A96"/>
            </a:solidFill>
            <a:prstDash val="solid"/>
            <a:tailEnd type="triangle"/>
          </a:ln>
        </p:spPr>
      </p:sp>
      <p:sp>
        <p:nvSpPr>
          <p:cNvPr id="17" name="Shape 15"/>
          <p:cNvSpPr/>
          <p:nvPr/>
        </p:nvSpPr>
        <p:spPr>
          <a:xfrm>
            <a:off x="9674352" y="3246120"/>
            <a:ext cx="1664208" cy="1005840"/>
          </a:xfrm>
          <a:prstGeom prst="roundRect">
            <a:avLst>
              <a:gd name="adj" fmla="val 7273"/>
            </a:avLst>
          </a:prstGeom>
          <a:solidFill>
            <a:srgbClr val="1E5A96"/>
          </a:solidFill>
          <a:ln/>
        </p:spPr>
      </p:sp>
      <p:sp>
        <p:nvSpPr>
          <p:cNvPr id="18" name="Text 16"/>
          <p:cNvSpPr/>
          <p:nvPr/>
        </p:nvSpPr>
        <p:spPr>
          <a:xfrm>
            <a:off x="9674352" y="3246120"/>
            <a:ext cx="1664208" cy="1005840"/>
          </a:xfrm>
          <a:prstGeom prst="rect">
            <a:avLst/>
          </a:prstGeom>
          <a:noFill/>
          <a:ln/>
        </p:spPr>
        <p:txBody>
          <a:bodyPr wrap="square" lIns="0" tIns="0" rIns="0" bIns="0" rtlCol="0" anchor="ctr"/>
          <a:lstStyle/>
          <a:p>
            <a:pPr marL="0" indent="0" algn="ctr">
              <a:buNone/>
            </a:pPr>
            <a:r>
              <a:rPr lang="en-US" sz="1150" b="1" dirty="0">
                <a:solidFill>
                  <a:srgbClr val="FFFFFF"/>
                </a:solidFill>
              </a:rPr>
              <a:t>Output</a:t>
            </a:r>
            <a:endParaRPr lang="en-US" sz="1150" dirty="0"/>
          </a:p>
        </p:txBody>
      </p:sp>
      <p:sp>
        <p:nvSpPr>
          <p:cNvPr id="19"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a:t>
            </a:r>
            <a:endParaRPr lang="en-US" sz="1000" dirty="0"/>
          </a:p>
        </p:txBody>
      </p:sp>
      <p:sp>
        <p:nvSpPr>
          <p:cNvPr id="20"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1 — INTRODUCTION TO PYTHON</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Where Python Is Used</a:t>
            </a:r>
            <a:endParaRPr lang="en-US" sz="2700" dirty="0"/>
          </a:p>
        </p:txBody>
      </p:sp>
      <p:sp>
        <p:nvSpPr>
          <p:cNvPr id="4" name="Shape 2"/>
          <p:cNvSpPr/>
          <p:nvPr/>
        </p:nvSpPr>
        <p:spPr>
          <a:xfrm>
            <a:off x="548640" y="1645920"/>
            <a:ext cx="1993392" cy="3566160"/>
          </a:xfrm>
          <a:prstGeom prst="roundRect">
            <a:avLst>
              <a:gd name="adj" fmla="val 4587"/>
            </a:avLst>
          </a:prstGeom>
          <a:solidFill>
            <a:srgbClr val="1E5A96"/>
          </a:solidFill>
          <a:ln/>
        </p:spPr>
      </p:sp>
      <p:sp>
        <p:nvSpPr>
          <p:cNvPr id="5" name="Shape 3"/>
          <p:cNvSpPr/>
          <p:nvPr/>
        </p:nvSpPr>
        <p:spPr>
          <a:xfrm>
            <a:off x="1225296" y="1965960"/>
            <a:ext cx="640080" cy="640080"/>
          </a:xfrm>
          <a:prstGeom prst="ellipse">
            <a:avLst/>
          </a:prstGeom>
          <a:solidFill>
            <a:srgbClr val="FFFFFF">
              <a:alpha val="88000"/>
            </a:srgbClr>
          </a:solidFill>
          <a:ln/>
        </p:spPr>
      </p:sp>
      <p:pic>
        <p:nvPicPr>
          <p:cNvPr id="6" name="Image 0" descr="preencoded.png"/>
          <p:cNvPicPr>
            <a:picLocks noChangeAspect="1"/>
          </p:cNvPicPr>
          <p:nvPr/>
        </p:nvPicPr>
        <p:blipFill>
          <a:blip r:embed="rId3"/>
          <a:stretch>
            <a:fillRect/>
          </a:stretch>
        </p:blipFill>
        <p:spPr>
          <a:xfrm>
            <a:off x="1362456" y="2103120"/>
            <a:ext cx="365760" cy="365760"/>
          </a:xfrm>
          <a:prstGeom prst="rect">
            <a:avLst/>
          </a:prstGeom>
        </p:spPr>
      </p:pic>
      <p:sp>
        <p:nvSpPr>
          <p:cNvPr id="7" name="Text 4"/>
          <p:cNvSpPr/>
          <p:nvPr/>
        </p:nvSpPr>
        <p:spPr>
          <a:xfrm>
            <a:off x="731520" y="2788920"/>
            <a:ext cx="1627632" cy="731520"/>
          </a:xfrm>
          <a:prstGeom prst="rect">
            <a:avLst/>
          </a:prstGeom>
          <a:noFill/>
          <a:ln/>
        </p:spPr>
        <p:txBody>
          <a:bodyPr wrap="square" lIns="0" tIns="0" rIns="0" bIns="0" rtlCol="0" anchor="ctr"/>
          <a:lstStyle/>
          <a:p>
            <a:pPr marL="0" indent="0" algn="ctr">
              <a:buNone/>
            </a:pPr>
            <a:r>
              <a:rPr lang="en-US" sz="1500" b="1" dirty="0">
                <a:solidFill>
                  <a:srgbClr val="FFFFFF"/>
                </a:solidFill>
              </a:rPr>
              <a:t>Web Development</a:t>
            </a:r>
            <a:endParaRPr lang="en-US" sz="1500" dirty="0"/>
          </a:p>
        </p:txBody>
      </p:sp>
      <p:sp>
        <p:nvSpPr>
          <p:cNvPr id="8" name="Text 5"/>
          <p:cNvSpPr/>
          <p:nvPr/>
        </p:nvSpPr>
        <p:spPr>
          <a:xfrm>
            <a:off x="777240" y="3520440"/>
            <a:ext cx="1536192" cy="1463040"/>
          </a:xfrm>
          <a:prstGeom prst="rect">
            <a:avLst/>
          </a:prstGeom>
          <a:noFill/>
          <a:ln/>
        </p:spPr>
        <p:txBody>
          <a:bodyPr wrap="square" lIns="0" tIns="0" rIns="0" bIns="0" rtlCol="0" anchor="ctr"/>
          <a:lstStyle/>
          <a:p>
            <a:pPr marL="0" indent="0" algn="ctr">
              <a:buNone/>
            </a:pPr>
            <a:r>
              <a:rPr lang="en-US" sz="1200" dirty="0">
                <a:solidFill>
                  <a:srgbClr val="DCE8F5"/>
                </a:solidFill>
              </a:rPr>
              <a:t>Django, Flask powering websites &amp; APIs</a:t>
            </a:r>
            <a:endParaRPr lang="en-US" sz="1200" dirty="0"/>
          </a:p>
        </p:txBody>
      </p:sp>
      <p:sp>
        <p:nvSpPr>
          <p:cNvPr id="9" name="Shape 6"/>
          <p:cNvSpPr/>
          <p:nvPr/>
        </p:nvSpPr>
        <p:spPr>
          <a:xfrm>
            <a:off x="2816352" y="1645920"/>
            <a:ext cx="1993392" cy="3566160"/>
          </a:xfrm>
          <a:prstGeom prst="roundRect">
            <a:avLst>
              <a:gd name="adj" fmla="val 4587"/>
            </a:avLst>
          </a:prstGeom>
          <a:solidFill>
            <a:srgbClr val="132A46"/>
          </a:solidFill>
          <a:ln/>
        </p:spPr>
      </p:sp>
      <p:sp>
        <p:nvSpPr>
          <p:cNvPr id="10" name="Shape 7"/>
          <p:cNvSpPr/>
          <p:nvPr/>
        </p:nvSpPr>
        <p:spPr>
          <a:xfrm>
            <a:off x="3493008" y="1965960"/>
            <a:ext cx="640080" cy="640080"/>
          </a:xfrm>
          <a:prstGeom prst="ellipse">
            <a:avLst/>
          </a:prstGeom>
          <a:solidFill>
            <a:srgbClr val="FFFFFF">
              <a:alpha val="88000"/>
            </a:srgbClr>
          </a:solidFill>
          <a:ln/>
        </p:spPr>
      </p:sp>
      <p:pic>
        <p:nvPicPr>
          <p:cNvPr id="11" name="Image 1" descr="preencoded.png"/>
          <p:cNvPicPr>
            <a:picLocks noChangeAspect="1"/>
          </p:cNvPicPr>
          <p:nvPr/>
        </p:nvPicPr>
        <p:blipFill>
          <a:blip r:embed="rId3"/>
          <a:stretch>
            <a:fillRect/>
          </a:stretch>
        </p:blipFill>
        <p:spPr>
          <a:xfrm>
            <a:off x="3630168" y="2103120"/>
            <a:ext cx="365760" cy="365760"/>
          </a:xfrm>
          <a:prstGeom prst="rect">
            <a:avLst/>
          </a:prstGeom>
        </p:spPr>
      </p:pic>
      <p:sp>
        <p:nvSpPr>
          <p:cNvPr id="12" name="Text 8"/>
          <p:cNvSpPr/>
          <p:nvPr/>
        </p:nvSpPr>
        <p:spPr>
          <a:xfrm>
            <a:off x="2999232" y="2788920"/>
            <a:ext cx="1627632" cy="731520"/>
          </a:xfrm>
          <a:prstGeom prst="rect">
            <a:avLst/>
          </a:prstGeom>
          <a:noFill/>
          <a:ln/>
        </p:spPr>
        <p:txBody>
          <a:bodyPr wrap="square" lIns="0" tIns="0" rIns="0" bIns="0" rtlCol="0" anchor="ctr"/>
          <a:lstStyle/>
          <a:p>
            <a:pPr marL="0" indent="0" algn="ctr">
              <a:buNone/>
            </a:pPr>
            <a:r>
              <a:rPr lang="en-US" sz="1500" b="1" dirty="0">
                <a:solidFill>
                  <a:srgbClr val="FFFFFF"/>
                </a:solidFill>
              </a:rPr>
              <a:t>Data Science</a:t>
            </a:r>
            <a:endParaRPr lang="en-US" sz="1500" dirty="0"/>
          </a:p>
        </p:txBody>
      </p:sp>
      <p:sp>
        <p:nvSpPr>
          <p:cNvPr id="13" name="Text 9"/>
          <p:cNvSpPr/>
          <p:nvPr/>
        </p:nvSpPr>
        <p:spPr>
          <a:xfrm>
            <a:off x="3044952" y="3520440"/>
            <a:ext cx="1536192" cy="1463040"/>
          </a:xfrm>
          <a:prstGeom prst="rect">
            <a:avLst/>
          </a:prstGeom>
          <a:noFill/>
          <a:ln/>
        </p:spPr>
        <p:txBody>
          <a:bodyPr wrap="square" lIns="0" tIns="0" rIns="0" bIns="0" rtlCol="0" anchor="ctr"/>
          <a:lstStyle/>
          <a:p>
            <a:pPr marL="0" indent="0" algn="ctr">
              <a:buNone/>
            </a:pPr>
            <a:r>
              <a:rPr lang="en-US" sz="1200" dirty="0">
                <a:solidFill>
                  <a:srgbClr val="DCE8F5"/>
                </a:solidFill>
              </a:rPr>
              <a:t>Pandas, NumPy for analysing data</a:t>
            </a:r>
            <a:endParaRPr lang="en-US" sz="1200" dirty="0"/>
          </a:p>
        </p:txBody>
      </p:sp>
      <p:sp>
        <p:nvSpPr>
          <p:cNvPr id="14" name="Shape 10"/>
          <p:cNvSpPr/>
          <p:nvPr/>
        </p:nvSpPr>
        <p:spPr>
          <a:xfrm>
            <a:off x="5084064" y="1645920"/>
            <a:ext cx="1993392" cy="3566160"/>
          </a:xfrm>
          <a:prstGeom prst="roundRect">
            <a:avLst>
              <a:gd name="adj" fmla="val 4587"/>
            </a:avLst>
          </a:prstGeom>
          <a:solidFill>
            <a:srgbClr val="1E5A96"/>
          </a:solidFill>
          <a:ln/>
        </p:spPr>
      </p:sp>
      <p:sp>
        <p:nvSpPr>
          <p:cNvPr id="15" name="Shape 11"/>
          <p:cNvSpPr/>
          <p:nvPr/>
        </p:nvSpPr>
        <p:spPr>
          <a:xfrm>
            <a:off x="5760720" y="1965960"/>
            <a:ext cx="640080" cy="640080"/>
          </a:xfrm>
          <a:prstGeom prst="ellipse">
            <a:avLst/>
          </a:prstGeom>
          <a:solidFill>
            <a:srgbClr val="FFFFFF">
              <a:alpha val="88000"/>
            </a:srgbClr>
          </a:solidFill>
          <a:ln/>
        </p:spPr>
      </p:sp>
      <p:pic>
        <p:nvPicPr>
          <p:cNvPr id="16" name="Image 2" descr="preencoded.png"/>
          <p:cNvPicPr>
            <a:picLocks noChangeAspect="1"/>
          </p:cNvPicPr>
          <p:nvPr/>
        </p:nvPicPr>
        <p:blipFill>
          <a:blip r:embed="rId3"/>
          <a:stretch>
            <a:fillRect/>
          </a:stretch>
        </p:blipFill>
        <p:spPr>
          <a:xfrm>
            <a:off x="5897880" y="2103120"/>
            <a:ext cx="365760" cy="365760"/>
          </a:xfrm>
          <a:prstGeom prst="rect">
            <a:avLst/>
          </a:prstGeom>
        </p:spPr>
      </p:pic>
      <p:sp>
        <p:nvSpPr>
          <p:cNvPr id="17" name="Text 12"/>
          <p:cNvSpPr/>
          <p:nvPr/>
        </p:nvSpPr>
        <p:spPr>
          <a:xfrm>
            <a:off x="5266944" y="2788920"/>
            <a:ext cx="1627632" cy="731520"/>
          </a:xfrm>
          <a:prstGeom prst="rect">
            <a:avLst/>
          </a:prstGeom>
          <a:noFill/>
          <a:ln/>
        </p:spPr>
        <p:txBody>
          <a:bodyPr wrap="square" lIns="0" tIns="0" rIns="0" bIns="0" rtlCol="0" anchor="ctr"/>
          <a:lstStyle/>
          <a:p>
            <a:pPr marL="0" indent="0" algn="ctr">
              <a:buNone/>
            </a:pPr>
            <a:r>
              <a:rPr lang="en-US" sz="1500" b="1" dirty="0">
                <a:solidFill>
                  <a:srgbClr val="FFFFFF"/>
                </a:solidFill>
              </a:rPr>
              <a:t>AI &amp; Machine Learning</a:t>
            </a:r>
            <a:endParaRPr lang="en-US" sz="1500" dirty="0"/>
          </a:p>
        </p:txBody>
      </p:sp>
      <p:sp>
        <p:nvSpPr>
          <p:cNvPr id="18" name="Text 13"/>
          <p:cNvSpPr/>
          <p:nvPr/>
        </p:nvSpPr>
        <p:spPr>
          <a:xfrm>
            <a:off x="5312664" y="3520440"/>
            <a:ext cx="1536192" cy="1463040"/>
          </a:xfrm>
          <a:prstGeom prst="rect">
            <a:avLst/>
          </a:prstGeom>
          <a:noFill/>
          <a:ln/>
        </p:spPr>
        <p:txBody>
          <a:bodyPr wrap="square" lIns="0" tIns="0" rIns="0" bIns="0" rtlCol="0" anchor="ctr"/>
          <a:lstStyle/>
          <a:p>
            <a:pPr marL="0" indent="0" algn="ctr">
              <a:buNone/>
            </a:pPr>
            <a:r>
              <a:rPr lang="en-US" sz="1200" dirty="0">
                <a:solidFill>
                  <a:srgbClr val="DCE8F5"/>
                </a:solidFill>
              </a:rPr>
              <a:t>TensorFlow, PyTorch for smart systems</a:t>
            </a:r>
            <a:endParaRPr lang="en-US" sz="1200" dirty="0"/>
          </a:p>
        </p:txBody>
      </p:sp>
      <p:sp>
        <p:nvSpPr>
          <p:cNvPr id="19" name="Shape 14"/>
          <p:cNvSpPr/>
          <p:nvPr/>
        </p:nvSpPr>
        <p:spPr>
          <a:xfrm>
            <a:off x="7351776" y="1645920"/>
            <a:ext cx="1993392" cy="3566160"/>
          </a:xfrm>
          <a:prstGeom prst="roundRect">
            <a:avLst>
              <a:gd name="adj" fmla="val 4587"/>
            </a:avLst>
          </a:prstGeom>
          <a:solidFill>
            <a:srgbClr val="132A46"/>
          </a:solidFill>
          <a:ln/>
        </p:spPr>
      </p:sp>
      <p:sp>
        <p:nvSpPr>
          <p:cNvPr id="20" name="Shape 15"/>
          <p:cNvSpPr/>
          <p:nvPr/>
        </p:nvSpPr>
        <p:spPr>
          <a:xfrm>
            <a:off x="8028432" y="1965960"/>
            <a:ext cx="640080" cy="640080"/>
          </a:xfrm>
          <a:prstGeom prst="ellipse">
            <a:avLst/>
          </a:prstGeom>
          <a:solidFill>
            <a:srgbClr val="FFFFFF">
              <a:alpha val="88000"/>
            </a:srgbClr>
          </a:solidFill>
          <a:ln/>
        </p:spPr>
      </p:sp>
      <p:pic>
        <p:nvPicPr>
          <p:cNvPr id="21" name="Image 3" descr="preencoded.png"/>
          <p:cNvPicPr>
            <a:picLocks noChangeAspect="1"/>
          </p:cNvPicPr>
          <p:nvPr/>
        </p:nvPicPr>
        <p:blipFill>
          <a:blip r:embed="rId3"/>
          <a:stretch>
            <a:fillRect/>
          </a:stretch>
        </p:blipFill>
        <p:spPr>
          <a:xfrm>
            <a:off x="8165592" y="2103120"/>
            <a:ext cx="365760" cy="365760"/>
          </a:xfrm>
          <a:prstGeom prst="rect">
            <a:avLst/>
          </a:prstGeom>
        </p:spPr>
      </p:pic>
      <p:sp>
        <p:nvSpPr>
          <p:cNvPr id="22" name="Text 16"/>
          <p:cNvSpPr/>
          <p:nvPr/>
        </p:nvSpPr>
        <p:spPr>
          <a:xfrm>
            <a:off x="7534656" y="2788920"/>
            <a:ext cx="1627632" cy="731520"/>
          </a:xfrm>
          <a:prstGeom prst="rect">
            <a:avLst/>
          </a:prstGeom>
          <a:noFill/>
          <a:ln/>
        </p:spPr>
        <p:txBody>
          <a:bodyPr wrap="square" lIns="0" tIns="0" rIns="0" bIns="0" rtlCol="0" anchor="ctr"/>
          <a:lstStyle/>
          <a:p>
            <a:pPr marL="0" indent="0" algn="ctr">
              <a:buNone/>
            </a:pPr>
            <a:r>
              <a:rPr lang="en-US" sz="1500" b="1" dirty="0">
                <a:solidFill>
                  <a:srgbClr val="FFFFFF"/>
                </a:solidFill>
              </a:rPr>
              <a:t>Automation</a:t>
            </a:r>
            <a:endParaRPr lang="en-US" sz="1500" dirty="0"/>
          </a:p>
        </p:txBody>
      </p:sp>
      <p:sp>
        <p:nvSpPr>
          <p:cNvPr id="23" name="Text 17"/>
          <p:cNvSpPr/>
          <p:nvPr/>
        </p:nvSpPr>
        <p:spPr>
          <a:xfrm>
            <a:off x="7580376" y="3520440"/>
            <a:ext cx="1536192" cy="1463040"/>
          </a:xfrm>
          <a:prstGeom prst="rect">
            <a:avLst/>
          </a:prstGeom>
          <a:noFill/>
          <a:ln/>
        </p:spPr>
        <p:txBody>
          <a:bodyPr wrap="square" lIns="0" tIns="0" rIns="0" bIns="0" rtlCol="0" anchor="ctr"/>
          <a:lstStyle/>
          <a:p>
            <a:pPr marL="0" indent="0" algn="ctr">
              <a:buNone/>
            </a:pPr>
            <a:r>
              <a:rPr lang="en-US" sz="1200" dirty="0">
                <a:solidFill>
                  <a:srgbClr val="DCE8F5"/>
                </a:solidFill>
              </a:rPr>
              <a:t>Scripts that save hours of manual work</a:t>
            </a:r>
            <a:endParaRPr lang="en-US" sz="1200" dirty="0"/>
          </a:p>
        </p:txBody>
      </p:sp>
      <p:sp>
        <p:nvSpPr>
          <p:cNvPr id="24" name="Shape 18"/>
          <p:cNvSpPr/>
          <p:nvPr/>
        </p:nvSpPr>
        <p:spPr>
          <a:xfrm>
            <a:off x="9619488" y="1645920"/>
            <a:ext cx="1993392" cy="3566160"/>
          </a:xfrm>
          <a:prstGeom prst="roundRect">
            <a:avLst>
              <a:gd name="adj" fmla="val 4587"/>
            </a:avLst>
          </a:prstGeom>
          <a:solidFill>
            <a:srgbClr val="1E5A96"/>
          </a:solidFill>
          <a:ln/>
        </p:spPr>
      </p:sp>
      <p:sp>
        <p:nvSpPr>
          <p:cNvPr id="25" name="Shape 19"/>
          <p:cNvSpPr/>
          <p:nvPr/>
        </p:nvSpPr>
        <p:spPr>
          <a:xfrm>
            <a:off x="10296144" y="1965960"/>
            <a:ext cx="640080" cy="640080"/>
          </a:xfrm>
          <a:prstGeom prst="ellipse">
            <a:avLst/>
          </a:prstGeom>
          <a:solidFill>
            <a:srgbClr val="FFFFFF">
              <a:alpha val="88000"/>
            </a:srgbClr>
          </a:solidFill>
          <a:ln/>
        </p:spPr>
      </p:sp>
      <p:pic>
        <p:nvPicPr>
          <p:cNvPr id="26" name="Image 4" descr="preencoded.png"/>
          <p:cNvPicPr>
            <a:picLocks noChangeAspect="1"/>
          </p:cNvPicPr>
          <p:nvPr/>
        </p:nvPicPr>
        <p:blipFill>
          <a:blip r:embed="rId3"/>
          <a:stretch>
            <a:fillRect/>
          </a:stretch>
        </p:blipFill>
        <p:spPr>
          <a:xfrm>
            <a:off x="10433304" y="2103120"/>
            <a:ext cx="365760" cy="365760"/>
          </a:xfrm>
          <a:prstGeom prst="rect">
            <a:avLst/>
          </a:prstGeom>
        </p:spPr>
      </p:pic>
      <p:sp>
        <p:nvSpPr>
          <p:cNvPr id="27" name="Text 20"/>
          <p:cNvSpPr/>
          <p:nvPr/>
        </p:nvSpPr>
        <p:spPr>
          <a:xfrm>
            <a:off x="9802368" y="2788920"/>
            <a:ext cx="1627632" cy="731520"/>
          </a:xfrm>
          <a:prstGeom prst="rect">
            <a:avLst/>
          </a:prstGeom>
          <a:noFill/>
          <a:ln/>
        </p:spPr>
        <p:txBody>
          <a:bodyPr wrap="square" lIns="0" tIns="0" rIns="0" bIns="0" rtlCol="0" anchor="ctr"/>
          <a:lstStyle/>
          <a:p>
            <a:pPr marL="0" indent="0" algn="ctr">
              <a:buNone/>
            </a:pPr>
            <a:r>
              <a:rPr lang="en-US" sz="1500" b="1" dirty="0">
                <a:solidFill>
                  <a:srgbClr val="FFFFFF"/>
                </a:solidFill>
              </a:rPr>
              <a:t>Cybersecurity</a:t>
            </a:r>
            <a:endParaRPr lang="en-US" sz="1500" dirty="0"/>
          </a:p>
        </p:txBody>
      </p:sp>
      <p:sp>
        <p:nvSpPr>
          <p:cNvPr id="28" name="Text 21"/>
          <p:cNvSpPr/>
          <p:nvPr/>
        </p:nvSpPr>
        <p:spPr>
          <a:xfrm>
            <a:off x="9848088" y="3520440"/>
            <a:ext cx="1536192" cy="1463040"/>
          </a:xfrm>
          <a:prstGeom prst="rect">
            <a:avLst/>
          </a:prstGeom>
          <a:noFill/>
          <a:ln/>
        </p:spPr>
        <p:txBody>
          <a:bodyPr wrap="square" lIns="0" tIns="0" rIns="0" bIns="0" rtlCol="0" anchor="ctr"/>
          <a:lstStyle/>
          <a:p>
            <a:pPr marL="0" indent="0" algn="ctr">
              <a:buNone/>
            </a:pPr>
            <a:r>
              <a:rPr lang="en-US" sz="1200" dirty="0">
                <a:solidFill>
                  <a:srgbClr val="DCE8F5"/>
                </a:solidFill>
              </a:rPr>
              <a:t>Tools for testing &amp; securing systems</a:t>
            </a:r>
            <a:endParaRPr lang="en-US" sz="1200" dirty="0"/>
          </a:p>
        </p:txBody>
      </p:sp>
      <p:sp>
        <p:nvSpPr>
          <p:cNvPr id="29" name="Text 2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7</a:t>
            </a:r>
            <a:endParaRPr lang="en-US" sz="1000" dirty="0"/>
          </a:p>
        </p:txBody>
      </p:sp>
      <p:sp>
        <p:nvSpPr>
          <p:cNvPr id="30" name="Text 2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1 — INTRODUCTION TO PYTHON</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Coding Example &amp; Practical Exercises</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937760" cy="457200"/>
          </a:xfrm>
          <a:prstGeom prst="rect">
            <a:avLst/>
          </a:prstGeom>
          <a:noFill/>
          <a:ln/>
        </p:spPr>
        <p:txBody>
          <a:bodyPr wrap="square" lIns="0" tIns="0" rIns="0" bIns="0" rtlCol="0" anchor="ctr"/>
          <a:lstStyle/>
          <a:p>
            <a:pPr marL="0" indent="0">
              <a:buNone/>
            </a:pPr>
            <a:r>
              <a:rPr lang="en-US" sz="1500" b="1" dirty="0">
                <a:solidFill>
                  <a:srgbClr val="1B2733"/>
                </a:solidFill>
              </a:rPr>
              <a:t>Coding Example</a:t>
            </a:r>
            <a:endParaRPr lang="en-US" sz="1500" dirty="0"/>
          </a:p>
        </p:txBody>
      </p:sp>
      <p:sp>
        <p:nvSpPr>
          <p:cNvPr id="7" name="Shape 4"/>
          <p:cNvSpPr/>
          <p:nvPr/>
        </p:nvSpPr>
        <p:spPr>
          <a:xfrm>
            <a:off x="548640" y="2011680"/>
            <a:ext cx="5486400" cy="3108960"/>
          </a:xfrm>
          <a:prstGeom prst="roundRect">
            <a:avLst>
              <a:gd name="adj" fmla="val 2353"/>
            </a:avLst>
          </a:prstGeom>
          <a:solidFill>
            <a:srgbClr val="1E1E2E"/>
          </a:solidFill>
          <a:ln/>
          <a:effectLst>
            <a:outerShdw blurRad="101600" dist="38100" dir="5400000" algn="bl" rotWithShape="0">
              <a:srgbClr val="000000">
                <a:alpha val="18000"/>
              </a:srgbClr>
            </a:outerShdw>
          </a:effectLst>
        </p:spPr>
      </p:sp>
      <p:sp>
        <p:nvSpPr>
          <p:cNvPr id="8" name="Text 5"/>
          <p:cNvSpPr/>
          <p:nvPr/>
        </p:nvSpPr>
        <p:spPr>
          <a:xfrm>
            <a:off x="731520" y="2103120"/>
            <a:ext cx="5120640" cy="274320"/>
          </a:xfrm>
          <a:prstGeom prst="rect">
            <a:avLst/>
          </a:prstGeom>
          <a:noFill/>
          <a:ln/>
        </p:spPr>
        <p:txBody>
          <a:bodyPr wrap="square" lIns="0" tIns="0" rIns="0" bIns="0" rtlCol="0" anchor="ctr"/>
          <a:lstStyle/>
          <a:p>
            <a:pPr marL="0" indent="0">
              <a:buNone/>
            </a:pPr>
            <a:r>
              <a:rPr lang="en-US" sz="1050" dirty="0">
                <a:solidFill>
                  <a:srgbClr val="8FA3B8"/>
                </a:solidFill>
                <a:latin typeface="Courier New" pitchFamily="34" charset="0"/>
                <a:ea typeface="Courier New" pitchFamily="34" charset="-122"/>
                <a:cs typeface="Courier New" pitchFamily="34" charset="-120"/>
              </a:rPr>
              <a:t>hello.py</a:t>
            </a:r>
            <a:endParaRPr lang="en-US" sz="1050" dirty="0"/>
          </a:p>
        </p:txBody>
      </p:sp>
      <p:sp>
        <p:nvSpPr>
          <p:cNvPr id="9" name="Text 6"/>
          <p:cNvSpPr/>
          <p:nvPr/>
        </p:nvSpPr>
        <p:spPr>
          <a:xfrm>
            <a:off x="777240" y="2395728"/>
            <a:ext cx="5029200" cy="2560320"/>
          </a:xfrm>
          <a:prstGeom prst="rect">
            <a:avLst/>
          </a:prstGeom>
          <a:noFill/>
          <a:ln/>
        </p:spPr>
        <p:txBody>
          <a:bodyPr wrap="square" lIns="0" tIns="0" rIns="0" bIns="0" rtlCol="0" anchor="t"/>
          <a:lstStyle/>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print("Hello World")</a:t>
            </a:r>
            <a:endParaRPr lang="en-US" sz="1300" dirty="0"/>
          </a:p>
        </p:txBody>
      </p:sp>
      <p:sp>
        <p:nvSpPr>
          <p:cNvPr id="10" name="Shape 7"/>
          <p:cNvSpPr/>
          <p:nvPr/>
        </p:nvSpPr>
        <p:spPr>
          <a:xfrm>
            <a:off x="6355080" y="1463040"/>
            <a:ext cx="384048" cy="384048"/>
          </a:xfrm>
          <a:prstGeom prst="ellipse">
            <a:avLst/>
          </a:prstGeom>
          <a:solidFill>
            <a:srgbClr val="1E5A96"/>
          </a:solidFill>
          <a:ln/>
        </p:spPr>
      </p:sp>
      <p:pic>
        <p:nvPicPr>
          <p:cNvPr id="11"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2" name="Text 8"/>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Practical Exercises</a:t>
            </a:r>
            <a:endParaRPr lang="en-US" sz="1500" dirty="0"/>
          </a:p>
        </p:txBody>
      </p:sp>
      <p:sp>
        <p:nvSpPr>
          <p:cNvPr id="13" name="Shape 9"/>
          <p:cNvSpPr/>
          <p:nvPr/>
        </p:nvSpPr>
        <p:spPr>
          <a:xfrm>
            <a:off x="6355080" y="2011680"/>
            <a:ext cx="5257800" cy="3108960"/>
          </a:xfrm>
          <a:prstGeom prst="roundRect">
            <a:avLst>
              <a:gd name="adj" fmla="val 2353"/>
            </a:avLst>
          </a:prstGeom>
          <a:solidFill>
            <a:srgbClr val="EEF4FA"/>
          </a:solidFill>
          <a:ln/>
        </p:spPr>
      </p:sp>
      <p:sp>
        <p:nvSpPr>
          <p:cNvPr id="14" name="Text 10"/>
          <p:cNvSpPr/>
          <p:nvPr/>
        </p:nvSpPr>
        <p:spPr>
          <a:xfrm>
            <a:off x="6583680" y="2212848"/>
            <a:ext cx="4846320" cy="27432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B2733"/>
                </a:solidFill>
              </a:rPr>
              <a:t>Install Python &amp; verify with python --version</a:t>
            </a:r>
            <a:endParaRPr lang="en-US" sz="1350" dirty="0"/>
          </a:p>
          <a:p>
            <a:pPr marL="342900" indent="-342900">
              <a:lnSpc>
                <a:spcPct val="120000"/>
              </a:lnSpc>
              <a:spcAft>
                <a:spcPts val="1200"/>
              </a:spcAft>
              <a:buSzPct val="100000"/>
              <a:buChar char="•"/>
            </a:pPr>
            <a:r>
              <a:rPr lang="en-US" sz="1350" dirty="0">
                <a:solidFill>
                  <a:srgbClr val="1B2733"/>
                </a:solidFill>
              </a:rPr>
              <a:t>Install VS Code + Python extension</a:t>
            </a:r>
            <a:endParaRPr lang="en-US" sz="1350" dirty="0"/>
          </a:p>
          <a:p>
            <a:pPr marL="342900" indent="-342900">
              <a:lnSpc>
                <a:spcPct val="120000"/>
              </a:lnSpc>
              <a:spcAft>
                <a:spcPts val="1200"/>
              </a:spcAft>
              <a:buSzPct val="100000"/>
              <a:buChar char="•"/>
            </a:pPr>
            <a:r>
              <a:rPr lang="en-US" sz="1350" dirty="0">
                <a:solidFill>
                  <a:srgbClr val="1B2733"/>
                </a:solidFill>
              </a:rPr>
              <a:t>Create and run your first .py file</a:t>
            </a:r>
            <a:endParaRPr lang="en-US" sz="1350" dirty="0"/>
          </a:p>
        </p:txBody>
      </p:sp>
      <p:sp>
        <p:nvSpPr>
          <p:cNvPr id="15" name="Text 11"/>
          <p:cNvSpPr/>
          <p:nvPr/>
        </p:nvSpPr>
        <p:spPr>
          <a:xfrm>
            <a:off x="548640" y="5257800"/>
            <a:ext cx="5486400" cy="274320"/>
          </a:xfrm>
          <a:prstGeom prst="rect">
            <a:avLst/>
          </a:prstGeom>
          <a:noFill/>
          <a:ln/>
        </p:spPr>
        <p:txBody>
          <a:bodyPr wrap="square" lIns="0" tIns="0" rIns="0" bIns="0" rtlCol="0" anchor="ctr"/>
          <a:lstStyle/>
          <a:p>
            <a:pPr marL="0" indent="0">
              <a:buNone/>
            </a:pPr>
            <a:r>
              <a:rPr lang="en-US" sz="1050" i="1" dirty="0">
                <a:solidFill>
                  <a:srgbClr val="5C6B7A"/>
                </a:solidFill>
              </a:rPr>
              <a:t>Theory: 1h  •  Practical: 1h</a:t>
            </a:r>
            <a:endParaRPr lang="en-US" sz="1050" dirty="0"/>
          </a:p>
        </p:txBody>
      </p:sp>
      <p:sp>
        <p:nvSpPr>
          <p:cNvPr id="16"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8</a:t>
            </a:r>
            <a:endParaRPr lang="en-US" sz="1000" dirty="0"/>
          </a:p>
        </p:txBody>
      </p:sp>
      <p:sp>
        <p:nvSpPr>
          <p:cNvPr id="17"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1 — INTRODUCTION TO PYTHON</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Mini Activity &amp; Expected Outcome</a:t>
            </a:r>
            <a:endParaRPr lang="en-US" sz="2700" dirty="0"/>
          </a:p>
        </p:txBody>
      </p:sp>
      <p:sp>
        <p:nvSpPr>
          <p:cNvPr id="4" name="Shape 2"/>
          <p:cNvSpPr/>
          <p:nvPr/>
        </p:nvSpPr>
        <p:spPr>
          <a:xfrm>
            <a:off x="548640" y="1600200"/>
            <a:ext cx="11064240" cy="1920240"/>
          </a:xfrm>
          <a:prstGeom prst="roundRect">
            <a:avLst>
              <a:gd name="adj" fmla="val 4762"/>
            </a:avLst>
          </a:prstGeom>
          <a:solidFill>
            <a:srgbClr val="1E5A96"/>
          </a:solidFill>
          <a:ln/>
        </p:spPr>
      </p:sp>
      <p:pic>
        <p:nvPicPr>
          <p:cNvPr id="5" name="Image 0" descr="preencoded.png"/>
          <p:cNvPicPr>
            <a:picLocks noChangeAspect="1"/>
          </p:cNvPicPr>
          <p:nvPr/>
        </p:nvPicPr>
        <p:blipFill>
          <a:blip r:embed="rId3"/>
          <a:stretch>
            <a:fillRect/>
          </a:stretch>
        </p:blipFill>
        <p:spPr>
          <a:xfrm>
            <a:off x="868680" y="1965960"/>
            <a:ext cx="502920" cy="502920"/>
          </a:xfrm>
          <a:prstGeom prst="rect">
            <a:avLst/>
          </a:prstGeom>
        </p:spPr>
      </p:pic>
      <p:sp>
        <p:nvSpPr>
          <p:cNvPr id="6" name="Text 3"/>
          <p:cNvSpPr/>
          <p:nvPr/>
        </p:nvSpPr>
        <p:spPr>
          <a:xfrm>
            <a:off x="1554480" y="1874520"/>
            <a:ext cx="3657600" cy="320040"/>
          </a:xfrm>
          <a:prstGeom prst="rect">
            <a:avLst/>
          </a:prstGeom>
          <a:noFill/>
          <a:ln/>
        </p:spPr>
        <p:txBody>
          <a:bodyPr wrap="square" lIns="0" tIns="0" rIns="0" bIns="0" rtlCol="0" anchor="ctr"/>
          <a:lstStyle/>
          <a:p>
            <a:pPr marL="0" indent="0">
              <a:buNone/>
            </a:pPr>
            <a:r>
              <a:rPr lang="en-US" sz="1250" b="1" kern="0" spc="150" dirty="0">
                <a:solidFill>
                  <a:srgbClr val="F2A93B"/>
                </a:solidFill>
              </a:rPr>
              <a:t>MINI ACTIVITY</a:t>
            </a:r>
            <a:endParaRPr lang="en-US" sz="1250" dirty="0"/>
          </a:p>
        </p:txBody>
      </p:sp>
      <p:sp>
        <p:nvSpPr>
          <p:cNvPr id="7" name="Text 4"/>
          <p:cNvSpPr/>
          <p:nvPr/>
        </p:nvSpPr>
        <p:spPr>
          <a:xfrm>
            <a:off x="1554480" y="2240280"/>
            <a:ext cx="9692640" cy="1143000"/>
          </a:xfrm>
          <a:prstGeom prst="rect">
            <a:avLst/>
          </a:prstGeom>
          <a:noFill/>
          <a:ln/>
        </p:spPr>
        <p:txBody>
          <a:bodyPr wrap="square" lIns="0" tIns="0" rIns="0" bIns="0" rtlCol="0" anchor="t"/>
          <a:lstStyle/>
          <a:p>
            <a:pPr marL="0" indent="0">
              <a:buNone/>
            </a:pPr>
            <a:r>
              <a:rPr lang="en-US" sz="1550" dirty="0">
                <a:solidFill>
                  <a:srgbClr val="FFFFFF"/>
                </a:solidFill>
              </a:rPr>
              <a:t>Run your first Python program and print your own name and course batch.</a:t>
            </a:r>
            <a:endParaRPr lang="en-US" sz="1550" dirty="0"/>
          </a:p>
        </p:txBody>
      </p:sp>
      <p:sp>
        <p:nvSpPr>
          <p:cNvPr id="8" name="Shape 5"/>
          <p:cNvSpPr/>
          <p:nvPr/>
        </p:nvSpPr>
        <p:spPr>
          <a:xfrm>
            <a:off x="548640" y="3794760"/>
            <a:ext cx="11064240" cy="1691640"/>
          </a:xfrm>
          <a:prstGeom prst="roundRect">
            <a:avLst>
              <a:gd name="adj" fmla="val 5405"/>
            </a:avLst>
          </a:prstGeom>
          <a:solidFill>
            <a:srgbClr val="EEF4FA"/>
          </a:solidFill>
          <a:ln/>
        </p:spPr>
      </p:sp>
      <p:pic>
        <p:nvPicPr>
          <p:cNvPr id="9" name="Image 1" descr="preencoded.png"/>
          <p:cNvPicPr>
            <a:picLocks noChangeAspect="1"/>
          </p:cNvPicPr>
          <p:nvPr/>
        </p:nvPicPr>
        <p:blipFill>
          <a:blip r:embed="rId4"/>
          <a:stretch>
            <a:fillRect/>
          </a:stretch>
        </p:blipFill>
        <p:spPr>
          <a:xfrm>
            <a:off x="868680" y="4114800"/>
            <a:ext cx="457200" cy="457200"/>
          </a:xfrm>
          <a:prstGeom prst="rect">
            <a:avLst/>
          </a:prstGeom>
        </p:spPr>
      </p:pic>
      <p:sp>
        <p:nvSpPr>
          <p:cNvPr id="10" name="Text 6"/>
          <p:cNvSpPr/>
          <p:nvPr/>
        </p:nvSpPr>
        <p:spPr>
          <a:xfrm>
            <a:off x="1508760" y="4041648"/>
            <a:ext cx="3657600" cy="320040"/>
          </a:xfrm>
          <a:prstGeom prst="rect">
            <a:avLst/>
          </a:prstGeom>
          <a:noFill/>
          <a:ln/>
        </p:spPr>
        <p:txBody>
          <a:bodyPr wrap="square" lIns="0" tIns="0" rIns="0" bIns="0" rtlCol="0" anchor="ctr"/>
          <a:lstStyle/>
          <a:p>
            <a:pPr marL="0" indent="0">
              <a:buNone/>
            </a:pPr>
            <a:r>
              <a:rPr lang="en-US" sz="1250" b="1" kern="0" spc="150" dirty="0">
                <a:solidFill>
                  <a:srgbClr val="1E7D32"/>
                </a:solidFill>
              </a:rPr>
              <a:t>EXPECTED OUTCOME</a:t>
            </a:r>
            <a:endParaRPr lang="en-US" sz="1250" dirty="0"/>
          </a:p>
        </p:txBody>
      </p:sp>
      <p:sp>
        <p:nvSpPr>
          <p:cNvPr id="11" name="Text 7"/>
          <p:cNvSpPr/>
          <p:nvPr/>
        </p:nvSpPr>
        <p:spPr>
          <a:xfrm>
            <a:off x="1508760" y="4389120"/>
            <a:ext cx="9784080" cy="914400"/>
          </a:xfrm>
          <a:prstGeom prst="rect">
            <a:avLst/>
          </a:prstGeom>
          <a:noFill/>
          <a:ln/>
        </p:spPr>
        <p:txBody>
          <a:bodyPr wrap="square" lIns="0" tIns="0" rIns="0" bIns="0" rtlCol="0" anchor="t"/>
          <a:lstStyle/>
          <a:p>
            <a:pPr marL="0" indent="0">
              <a:buNone/>
            </a:pPr>
            <a:r>
              <a:rPr lang="en-US" sz="1550" dirty="0">
                <a:solidFill>
                  <a:srgbClr val="1B2733"/>
                </a:solidFill>
              </a:rPr>
              <a:t>Students can install Python and execute programs independently.</a:t>
            </a:r>
            <a:endParaRPr lang="en-US" sz="1550" dirty="0"/>
          </a:p>
        </p:txBody>
      </p:sp>
      <p:sp>
        <p:nvSpPr>
          <p:cNvPr id="12" name="Text 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9</a:t>
            </a:r>
            <a:endParaRPr lang="en-US" sz="100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1 — INTRODUCTION TO PYTHON</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Interview Questions &amp; Summary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6126480" cy="457200"/>
          </a:xfrm>
          <a:prstGeom prst="rect">
            <a:avLst/>
          </a:prstGeom>
          <a:noFill/>
          <a:ln/>
        </p:spPr>
        <p:txBody>
          <a:bodyPr wrap="square" lIns="0" tIns="0" rIns="0" bIns="0" rtlCol="0" anchor="ctr"/>
          <a:lstStyle/>
          <a:p>
            <a:pPr marL="0" indent="0">
              <a:buNone/>
            </a:pPr>
            <a:r>
              <a:rPr lang="en-US" sz="1500" b="1" dirty="0">
                <a:solidFill>
                  <a:srgbClr val="1B2733"/>
                </a:solidFill>
              </a:rPr>
              <a:t>Interview Questions</a:t>
            </a:r>
            <a:endParaRPr lang="en-US" sz="1500" dirty="0"/>
          </a:p>
        </p:txBody>
      </p:sp>
      <p:sp>
        <p:nvSpPr>
          <p:cNvPr id="7" name="Shape 4"/>
          <p:cNvSpPr/>
          <p:nvPr/>
        </p:nvSpPr>
        <p:spPr>
          <a:xfrm>
            <a:off x="548640" y="1965960"/>
            <a:ext cx="6675120" cy="1170432"/>
          </a:xfrm>
          <a:prstGeom prst="roundRect">
            <a:avLst>
              <a:gd name="adj" fmla="val 5469"/>
            </a:avLst>
          </a:prstGeom>
          <a:solidFill>
            <a:srgbClr val="EEF4FA"/>
          </a:solidFill>
          <a:ln/>
        </p:spPr>
      </p:sp>
      <p:sp>
        <p:nvSpPr>
          <p:cNvPr id="8" name="Text 5"/>
          <p:cNvSpPr/>
          <p:nvPr/>
        </p:nvSpPr>
        <p:spPr>
          <a:xfrm>
            <a:off x="731520" y="2057400"/>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Is Python interpreted or compiled?</a:t>
            </a:r>
            <a:endParaRPr lang="en-US" sz="1250" dirty="0"/>
          </a:p>
        </p:txBody>
      </p:sp>
      <p:sp>
        <p:nvSpPr>
          <p:cNvPr id="9" name="Text 6"/>
          <p:cNvSpPr/>
          <p:nvPr/>
        </p:nvSpPr>
        <p:spPr>
          <a:xfrm>
            <a:off x="731520" y="2441448"/>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Python source is first compiled to bytecode, then executed by the Python Virtual Machine — a hybrid approach.</a:t>
            </a:r>
            <a:endParaRPr lang="en-US" sz="1150" dirty="0"/>
          </a:p>
        </p:txBody>
      </p:sp>
      <p:sp>
        <p:nvSpPr>
          <p:cNvPr id="10" name="Shape 7"/>
          <p:cNvSpPr/>
          <p:nvPr/>
        </p:nvSpPr>
        <p:spPr>
          <a:xfrm>
            <a:off x="548640" y="3264408"/>
            <a:ext cx="6675120" cy="1170432"/>
          </a:xfrm>
          <a:prstGeom prst="roundRect">
            <a:avLst>
              <a:gd name="adj" fmla="val 5469"/>
            </a:avLst>
          </a:prstGeom>
          <a:solidFill>
            <a:srgbClr val="EEF4FA"/>
          </a:solidFill>
          <a:ln/>
        </p:spPr>
      </p:sp>
      <p:sp>
        <p:nvSpPr>
          <p:cNvPr id="11" name="Text 8"/>
          <p:cNvSpPr/>
          <p:nvPr/>
        </p:nvSpPr>
        <p:spPr>
          <a:xfrm>
            <a:off x="731520" y="3355848"/>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Name three real-world uses of Python.</a:t>
            </a:r>
            <a:endParaRPr lang="en-US" sz="1250" dirty="0"/>
          </a:p>
        </p:txBody>
      </p:sp>
      <p:sp>
        <p:nvSpPr>
          <p:cNvPr id="12" name="Text 9"/>
          <p:cNvSpPr/>
          <p:nvPr/>
        </p:nvSpPr>
        <p:spPr>
          <a:xfrm>
            <a:off x="731520" y="3739896"/>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Web development, data science, and automation are common examples.</a:t>
            </a:r>
            <a:endParaRPr lang="en-US" sz="1150" dirty="0"/>
          </a:p>
        </p:txBody>
      </p:sp>
      <p:sp>
        <p:nvSpPr>
          <p:cNvPr id="13" name="Shape 10"/>
          <p:cNvSpPr/>
          <p:nvPr/>
        </p:nvSpPr>
        <p:spPr>
          <a:xfrm>
            <a:off x="548640" y="4562856"/>
            <a:ext cx="6675120" cy="1170432"/>
          </a:xfrm>
          <a:prstGeom prst="roundRect">
            <a:avLst>
              <a:gd name="adj" fmla="val 5469"/>
            </a:avLst>
          </a:prstGeom>
          <a:solidFill>
            <a:srgbClr val="EEF4FA"/>
          </a:solidFill>
          <a:ln/>
        </p:spPr>
      </p:sp>
      <p:sp>
        <p:nvSpPr>
          <p:cNvPr id="14" name="Text 11"/>
          <p:cNvSpPr/>
          <p:nvPr/>
        </p:nvSpPr>
        <p:spPr>
          <a:xfrm>
            <a:off x="731520" y="4654296"/>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makes Python beginner-friendly?</a:t>
            </a:r>
            <a:endParaRPr lang="en-US" sz="1250" dirty="0"/>
          </a:p>
        </p:txBody>
      </p:sp>
      <p:sp>
        <p:nvSpPr>
          <p:cNvPr id="15" name="Text 12"/>
          <p:cNvSpPr/>
          <p:nvPr/>
        </p:nvSpPr>
        <p:spPr>
          <a:xfrm>
            <a:off x="731520" y="5038344"/>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Simple, readable syntax close to plain English, with a huge support community.</a:t>
            </a:r>
            <a:endParaRPr lang="en-US" sz="1150" dirty="0"/>
          </a:p>
        </p:txBody>
      </p:sp>
      <p:sp>
        <p:nvSpPr>
          <p:cNvPr id="16" name="Shape 13"/>
          <p:cNvSpPr/>
          <p:nvPr/>
        </p:nvSpPr>
        <p:spPr>
          <a:xfrm>
            <a:off x="7452360" y="1417320"/>
            <a:ext cx="13716" cy="4709160"/>
          </a:xfrm>
          <a:prstGeom prst="rect">
            <a:avLst/>
          </a:prstGeom>
          <a:solidFill>
            <a:srgbClr val="DCE6F0"/>
          </a:solidFill>
          <a:ln/>
        </p:spPr>
      </p:sp>
      <p:sp>
        <p:nvSpPr>
          <p:cNvPr id="17" name="Shape 14"/>
          <p:cNvSpPr/>
          <p:nvPr/>
        </p:nvSpPr>
        <p:spPr>
          <a:xfrm>
            <a:off x="7680960" y="1463040"/>
            <a:ext cx="384048" cy="384048"/>
          </a:xfrm>
          <a:prstGeom prst="ellipse">
            <a:avLst/>
          </a:prstGeom>
          <a:solidFill>
            <a:srgbClr val="1E7D32"/>
          </a:solidFill>
          <a:ln/>
        </p:spPr>
      </p:sp>
      <p:pic>
        <p:nvPicPr>
          <p:cNvPr id="18" name="Image 1" descr="preencoded.png"/>
          <p:cNvPicPr>
            <a:picLocks noChangeAspect="1"/>
          </p:cNvPicPr>
          <p:nvPr/>
        </p:nvPicPr>
        <p:blipFill>
          <a:blip r:embed="rId4"/>
          <a:stretch>
            <a:fillRect/>
          </a:stretch>
        </p:blipFill>
        <p:spPr>
          <a:xfrm>
            <a:off x="7763256" y="1545336"/>
            <a:ext cx="219456" cy="219456"/>
          </a:xfrm>
          <a:prstGeom prst="rect">
            <a:avLst/>
          </a:prstGeom>
        </p:spPr>
      </p:pic>
      <p:sp>
        <p:nvSpPr>
          <p:cNvPr id="19" name="Text 15"/>
          <p:cNvSpPr/>
          <p:nvPr/>
        </p:nvSpPr>
        <p:spPr>
          <a:xfrm>
            <a:off x="8193024" y="1435608"/>
            <a:ext cx="3383280" cy="457200"/>
          </a:xfrm>
          <a:prstGeom prst="rect">
            <a:avLst/>
          </a:prstGeom>
          <a:noFill/>
          <a:ln/>
        </p:spPr>
        <p:txBody>
          <a:bodyPr wrap="square" lIns="0" tIns="0" rIns="0" bIns="0" rtlCol="0" anchor="ctr"/>
          <a:lstStyle/>
          <a:p>
            <a:pPr marL="0" indent="0">
              <a:buNone/>
            </a:pPr>
            <a:r>
              <a:rPr lang="en-US" sz="1500" b="1" dirty="0">
                <a:solidFill>
                  <a:srgbClr val="1B2733"/>
                </a:solidFill>
              </a:rPr>
              <a:t>Module Summary</a:t>
            </a:r>
            <a:endParaRPr lang="en-US" sz="1500" dirty="0"/>
          </a:p>
        </p:txBody>
      </p:sp>
      <p:sp>
        <p:nvSpPr>
          <p:cNvPr id="20" name="Text 16"/>
          <p:cNvSpPr/>
          <p:nvPr/>
        </p:nvSpPr>
        <p:spPr>
          <a:xfrm>
            <a:off x="7680960" y="2011680"/>
            <a:ext cx="3931920" cy="39319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00" dirty="0">
                <a:solidFill>
                  <a:srgbClr val="1B2733"/>
                </a:solidFill>
              </a:rPr>
              <a:t>Python is a simple, versatile, in-demand language</a:t>
            </a:r>
            <a:endParaRPr lang="en-US" sz="1300" dirty="0"/>
          </a:p>
          <a:p>
            <a:pPr marL="342900" indent="-342900">
              <a:lnSpc>
                <a:spcPct val="120000"/>
              </a:lnSpc>
              <a:spcAft>
                <a:spcPts val="1200"/>
              </a:spcAft>
              <a:buSzPct val="100000"/>
              <a:buChar char="✓"/>
            </a:pPr>
            <a:r>
              <a:rPr lang="en-US" sz="1300" dirty="0">
                <a:solidFill>
                  <a:srgbClr val="1B2733"/>
                </a:solidFill>
              </a:rPr>
              <a:t>It runs via a compiler + interpreter (PVM)</a:t>
            </a:r>
            <a:endParaRPr lang="en-US" sz="1300" dirty="0"/>
          </a:p>
          <a:p>
            <a:pPr marL="342900" indent="-342900">
              <a:lnSpc>
                <a:spcPct val="120000"/>
              </a:lnSpc>
              <a:spcAft>
                <a:spcPts val="1200"/>
              </a:spcAft>
              <a:buSzPct val="100000"/>
              <a:buChar char="✓"/>
            </a:pPr>
            <a:r>
              <a:rPr lang="en-US" sz="1300" dirty="0">
                <a:solidFill>
                  <a:srgbClr val="1B2733"/>
                </a:solidFill>
              </a:rPr>
              <a:t>Used across web, data, AI, automation &amp; security</a:t>
            </a:r>
            <a:endParaRPr lang="en-US" sz="1300" dirty="0"/>
          </a:p>
          <a:p>
            <a:pPr marL="342900" indent="-342900">
              <a:lnSpc>
                <a:spcPct val="120000"/>
              </a:lnSpc>
              <a:spcAft>
                <a:spcPts val="1200"/>
              </a:spcAft>
              <a:buSzPct val="100000"/>
              <a:buChar char="✓"/>
            </a:pPr>
            <a:r>
              <a:rPr lang="en-US" sz="1300" dirty="0">
                <a:solidFill>
                  <a:srgbClr val="1B2733"/>
                </a:solidFill>
              </a:rPr>
              <a:t>You installed Python and ran your first program</a:t>
            </a:r>
            <a:endParaRPr lang="en-US" sz="1300" dirty="0"/>
          </a:p>
        </p:txBody>
      </p:sp>
      <p:sp>
        <p:nvSpPr>
          <p:cNvPr id="21"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10</a:t>
            </a:r>
            <a:endParaRPr lang="en-US" sz="1000" dirty="0"/>
          </a:p>
        </p:txBody>
      </p:sp>
      <p:sp>
        <p:nvSpPr>
          <p:cNvPr id="22"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1E5A96">
              <a:alpha val="45000"/>
            </a:srgbClr>
          </a:solidFill>
          <a:ln/>
        </p:spPr>
      </p:sp>
      <p:sp>
        <p:nvSpPr>
          <p:cNvPr id="3" name="Shape 1"/>
          <p:cNvSpPr/>
          <p:nvPr/>
        </p:nvSpPr>
        <p:spPr>
          <a:xfrm>
            <a:off x="731520" y="914400"/>
            <a:ext cx="1554480" cy="365760"/>
          </a:xfrm>
          <a:prstGeom prst="roundRect">
            <a:avLst>
              <a:gd name="adj" fmla="val 50000"/>
            </a:avLst>
          </a:prstGeom>
          <a:solidFill>
            <a:srgbClr val="1D3A5C"/>
          </a:solidFill>
          <a:ln/>
        </p:spPr>
      </p:sp>
      <p:sp>
        <p:nvSpPr>
          <p:cNvPr id="4" name="Text 2"/>
          <p:cNvSpPr/>
          <p:nvPr/>
        </p:nvSpPr>
        <p:spPr>
          <a:xfrm>
            <a:off x="731520" y="914400"/>
            <a:ext cx="1554480" cy="365760"/>
          </a:xfrm>
          <a:prstGeom prst="rect">
            <a:avLst/>
          </a:prstGeom>
          <a:noFill/>
          <a:ln/>
        </p:spPr>
        <p:txBody>
          <a:bodyPr wrap="square" lIns="0" tIns="0" rIns="0" bIns="0" rtlCol="0" anchor="ctr"/>
          <a:lstStyle/>
          <a:p>
            <a:pPr marL="0" indent="0" algn="ctr">
              <a:buNone/>
            </a:pPr>
            <a:r>
              <a:rPr lang="en-US" sz="1100" b="1" dirty="0">
                <a:solidFill>
                  <a:srgbClr val="F2A93B"/>
                </a:solidFill>
              </a:rPr>
              <a:t>MODULE 2 OF 9</a:t>
            </a:r>
            <a:endParaRPr lang="en-US" sz="1100" dirty="0"/>
          </a:p>
        </p:txBody>
      </p:sp>
      <p:sp>
        <p:nvSpPr>
          <p:cNvPr id="5" name="Shape 3"/>
          <p:cNvSpPr/>
          <p:nvPr/>
        </p:nvSpPr>
        <p:spPr>
          <a:xfrm>
            <a:off x="731520" y="1508760"/>
            <a:ext cx="960120" cy="960120"/>
          </a:xfrm>
          <a:prstGeom prst="roundRect">
            <a:avLst>
              <a:gd name="adj" fmla="val 19048"/>
            </a:avLst>
          </a:prstGeom>
          <a:solidFill>
            <a:srgbClr val="1E5A96"/>
          </a:solidFill>
          <a:ln/>
        </p:spPr>
      </p:sp>
      <p:pic>
        <p:nvPicPr>
          <p:cNvPr id="6" name="Image 0" descr="preencoded.png"/>
          <p:cNvPicPr>
            <a:picLocks noChangeAspect="1"/>
          </p:cNvPicPr>
          <p:nvPr/>
        </p:nvPicPr>
        <p:blipFill>
          <a:blip r:embed="rId3"/>
          <a:stretch>
            <a:fillRect/>
          </a:stretch>
        </p:blipFill>
        <p:spPr>
          <a:xfrm>
            <a:off x="960120" y="1737360"/>
            <a:ext cx="502920" cy="502920"/>
          </a:xfrm>
          <a:prstGeom prst="rect">
            <a:avLst/>
          </a:prstGeom>
        </p:spPr>
      </p:pic>
      <p:sp>
        <p:nvSpPr>
          <p:cNvPr id="7" name="Text 4"/>
          <p:cNvSpPr/>
          <p:nvPr/>
        </p:nvSpPr>
        <p:spPr>
          <a:xfrm>
            <a:off x="1874520" y="1463040"/>
            <a:ext cx="91440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Variables and Data Types</a:t>
            </a:r>
            <a:endParaRPr lang="en-US" sz="3200" dirty="0"/>
          </a:p>
        </p:txBody>
      </p:sp>
      <p:sp>
        <p:nvSpPr>
          <p:cNvPr id="8" name="Shape 5"/>
          <p:cNvSpPr/>
          <p:nvPr/>
        </p:nvSpPr>
        <p:spPr>
          <a:xfrm>
            <a:off x="1874520" y="2514600"/>
            <a:ext cx="1417320" cy="594360"/>
          </a:xfrm>
          <a:prstGeom prst="roundRect">
            <a:avLst>
              <a:gd name="adj" fmla="val 12308"/>
            </a:avLst>
          </a:prstGeom>
          <a:solidFill>
            <a:srgbClr val="1D3A5C"/>
          </a:solidFill>
          <a:ln w="12700">
            <a:solidFill>
              <a:srgbClr val="1E5A96"/>
            </a:solidFill>
            <a:prstDash val="solid"/>
          </a:ln>
        </p:spPr>
      </p:sp>
      <p:sp>
        <p:nvSpPr>
          <p:cNvPr id="9" name="Text 6"/>
          <p:cNvSpPr/>
          <p:nvPr/>
        </p:nvSpPr>
        <p:spPr>
          <a:xfrm>
            <a:off x="187452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0" name="Text 7"/>
          <p:cNvSpPr/>
          <p:nvPr/>
        </p:nvSpPr>
        <p:spPr>
          <a:xfrm>
            <a:off x="187452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Theory</a:t>
            </a:r>
            <a:endParaRPr lang="en-US" sz="900" dirty="0"/>
          </a:p>
        </p:txBody>
      </p:sp>
      <p:sp>
        <p:nvSpPr>
          <p:cNvPr id="11" name="Shape 8"/>
          <p:cNvSpPr/>
          <p:nvPr/>
        </p:nvSpPr>
        <p:spPr>
          <a:xfrm>
            <a:off x="3429000" y="2514600"/>
            <a:ext cx="1417320" cy="594360"/>
          </a:xfrm>
          <a:prstGeom prst="roundRect">
            <a:avLst>
              <a:gd name="adj" fmla="val 12308"/>
            </a:avLst>
          </a:prstGeom>
          <a:solidFill>
            <a:srgbClr val="1D3A5C"/>
          </a:solidFill>
          <a:ln w="12700">
            <a:solidFill>
              <a:srgbClr val="1E5A96"/>
            </a:solidFill>
            <a:prstDash val="solid"/>
          </a:ln>
        </p:spPr>
      </p:sp>
      <p:sp>
        <p:nvSpPr>
          <p:cNvPr id="12" name="Text 9"/>
          <p:cNvSpPr/>
          <p:nvPr/>
        </p:nvSpPr>
        <p:spPr>
          <a:xfrm>
            <a:off x="342900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3" name="Text 10"/>
          <p:cNvSpPr/>
          <p:nvPr/>
        </p:nvSpPr>
        <p:spPr>
          <a:xfrm>
            <a:off x="342900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Practical</a:t>
            </a:r>
            <a:endParaRPr lang="en-US" sz="900" dirty="0"/>
          </a:p>
        </p:txBody>
      </p:sp>
      <p:sp>
        <p:nvSpPr>
          <p:cNvPr id="14" name="Shape 11"/>
          <p:cNvSpPr/>
          <p:nvPr/>
        </p:nvSpPr>
        <p:spPr>
          <a:xfrm>
            <a:off x="4983480" y="2514600"/>
            <a:ext cx="1417320" cy="594360"/>
          </a:xfrm>
          <a:prstGeom prst="roundRect">
            <a:avLst>
              <a:gd name="adj" fmla="val 12308"/>
            </a:avLst>
          </a:prstGeom>
          <a:solidFill>
            <a:srgbClr val="1D3A5C"/>
          </a:solidFill>
          <a:ln w="12700">
            <a:solidFill>
              <a:srgbClr val="1E5A96"/>
            </a:solidFill>
            <a:prstDash val="solid"/>
          </a:ln>
        </p:spPr>
      </p:sp>
      <p:sp>
        <p:nvSpPr>
          <p:cNvPr id="15" name="Text 12"/>
          <p:cNvSpPr/>
          <p:nvPr/>
        </p:nvSpPr>
        <p:spPr>
          <a:xfrm>
            <a:off x="498348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6" name="Text 13"/>
          <p:cNvSpPr/>
          <p:nvPr/>
        </p:nvSpPr>
        <p:spPr>
          <a:xfrm>
            <a:off x="498348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Total</a:t>
            </a:r>
            <a:endParaRPr lang="en-US" sz="900" dirty="0"/>
          </a:p>
        </p:txBody>
      </p:sp>
      <p:sp>
        <p:nvSpPr>
          <p:cNvPr id="17" name="Text 14"/>
          <p:cNvSpPr/>
          <p:nvPr/>
        </p:nvSpPr>
        <p:spPr>
          <a:xfrm>
            <a:off x="731520" y="3566160"/>
            <a:ext cx="5486400" cy="274320"/>
          </a:xfrm>
          <a:prstGeom prst="rect">
            <a:avLst/>
          </a:prstGeom>
          <a:noFill/>
          <a:ln/>
        </p:spPr>
        <p:txBody>
          <a:bodyPr wrap="square" lIns="0" tIns="0" rIns="0" bIns="0" rtlCol="0" anchor="ctr"/>
          <a:lstStyle/>
          <a:p>
            <a:pPr marL="0" indent="0">
              <a:buNone/>
            </a:pPr>
            <a:r>
              <a:rPr lang="en-US" sz="1150" b="1" kern="0" spc="150" dirty="0">
                <a:solidFill>
                  <a:srgbClr val="F2A93B"/>
                </a:solidFill>
              </a:rPr>
              <a:t>TOPICS COVERED</a:t>
            </a:r>
            <a:endParaRPr lang="en-US" sz="1150" dirty="0"/>
          </a:p>
        </p:txBody>
      </p:sp>
      <p:sp>
        <p:nvSpPr>
          <p:cNvPr id="18" name="Shape 15"/>
          <p:cNvSpPr/>
          <p:nvPr/>
        </p:nvSpPr>
        <p:spPr>
          <a:xfrm>
            <a:off x="731520" y="4005072"/>
            <a:ext cx="91440" cy="91440"/>
          </a:xfrm>
          <a:prstGeom prst="ellipse">
            <a:avLst/>
          </a:prstGeom>
          <a:solidFill>
            <a:srgbClr val="F2A93B"/>
          </a:solidFill>
          <a:ln/>
        </p:spPr>
      </p:sp>
      <p:sp>
        <p:nvSpPr>
          <p:cNvPr id="19" name="Text 16"/>
          <p:cNvSpPr/>
          <p:nvPr/>
        </p:nvSpPr>
        <p:spPr>
          <a:xfrm>
            <a:off x="100584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Variables</a:t>
            </a:r>
            <a:endParaRPr lang="en-US" sz="1300" dirty="0"/>
          </a:p>
        </p:txBody>
      </p:sp>
      <p:sp>
        <p:nvSpPr>
          <p:cNvPr id="20" name="Shape 17"/>
          <p:cNvSpPr/>
          <p:nvPr/>
        </p:nvSpPr>
        <p:spPr>
          <a:xfrm>
            <a:off x="5943600" y="4005072"/>
            <a:ext cx="91440" cy="91440"/>
          </a:xfrm>
          <a:prstGeom prst="ellipse">
            <a:avLst/>
          </a:prstGeom>
          <a:solidFill>
            <a:srgbClr val="F2A93B"/>
          </a:solidFill>
          <a:ln/>
        </p:spPr>
      </p:sp>
      <p:sp>
        <p:nvSpPr>
          <p:cNvPr id="21" name="Text 18"/>
          <p:cNvSpPr/>
          <p:nvPr/>
        </p:nvSpPr>
        <p:spPr>
          <a:xfrm>
            <a:off x="621792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Input and Output</a:t>
            </a:r>
            <a:endParaRPr lang="en-US" sz="1300" dirty="0"/>
          </a:p>
        </p:txBody>
      </p:sp>
      <p:sp>
        <p:nvSpPr>
          <p:cNvPr id="22" name="Shape 19"/>
          <p:cNvSpPr/>
          <p:nvPr/>
        </p:nvSpPr>
        <p:spPr>
          <a:xfrm>
            <a:off x="731520" y="4462272"/>
            <a:ext cx="91440" cy="91440"/>
          </a:xfrm>
          <a:prstGeom prst="ellipse">
            <a:avLst/>
          </a:prstGeom>
          <a:solidFill>
            <a:srgbClr val="F2A93B"/>
          </a:solidFill>
          <a:ln/>
        </p:spPr>
      </p:sp>
      <p:sp>
        <p:nvSpPr>
          <p:cNvPr id="23" name="Text 20"/>
          <p:cNvSpPr/>
          <p:nvPr/>
        </p:nvSpPr>
        <p:spPr>
          <a:xfrm>
            <a:off x="100584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Operators</a:t>
            </a:r>
            <a:endParaRPr lang="en-US" sz="1300" dirty="0"/>
          </a:p>
        </p:txBody>
      </p:sp>
      <p:sp>
        <p:nvSpPr>
          <p:cNvPr id="24" name="Shape 21"/>
          <p:cNvSpPr/>
          <p:nvPr/>
        </p:nvSpPr>
        <p:spPr>
          <a:xfrm>
            <a:off x="5943600" y="4462272"/>
            <a:ext cx="91440" cy="91440"/>
          </a:xfrm>
          <a:prstGeom prst="ellipse">
            <a:avLst/>
          </a:prstGeom>
          <a:solidFill>
            <a:srgbClr val="F2A93B"/>
          </a:solidFill>
          <a:ln/>
        </p:spPr>
      </p:sp>
      <p:sp>
        <p:nvSpPr>
          <p:cNvPr id="25" name="Text 22"/>
          <p:cNvSpPr/>
          <p:nvPr/>
        </p:nvSpPr>
        <p:spPr>
          <a:xfrm>
            <a:off x="621792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Data Types</a:t>
            </a:r>
            <a:endParaRPr lang="en-US" sz="1300" dirty="0"/>
          </a:p>
        </p:txBody>
      </p:sp>
      <p:sp>
        <p:nvSpPr>
          <p:cNvPr id="27" name="Text 23"/>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11</a:t>
            </a:r>
            <a:endParaRPr lang="en-US" sz="1000" dirty="0"/>
          </a:p>
        </p:txBody>
      </p:sp>
      <p:sp>
        <p:nvSpPr>
          <p:cNvPr id="28" name="Text 24"/>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2 — VARIABLES AND DATA TYPES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Learning Objectives &amp; Theory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846320" cy="457200"/>
          </a:xfrm>
          <a:prstGeom prst="rect">
            <a:avLst/>
          </a:prstGeom>
          <a:noFill/>
          <a:ln/>
        </p:spPr>
        <p:txBody>
          <a:bodyPr wrap="square" lIns="0" tIns="0" rIns="0" bIns="0" rtlCol="0" anchor="ctr"/>
          <a:lstStyle/>
          <a:p>
            <a:pPr marL="0" indent="0">
              <a:buNone/>
            </a:pPr>
            <a:r>
              <a:rPr lang="en-US" sz="1500" b="1" dirty="0">
                <a:solidFill>
                  <a:srgbClr val="1B2733"/>
                </a:solidFill>
              </a:rPr>
              <a:t>Learning Objectives</a:t>
            </a:r>
            <a:endParaRPr lang="en-US" sz="1500" dirty="0"/>
          </a:p>
        </p:txBody>
      </p:sp>
      <p:sp>
        <p:nvSpPr>
          <p:cNvPr id="7" name="Text 4"/>
          <p:cNvSpPr/>
          <p:nvPr/>
        </p:nvSpPr>
        <p:spPr>
          <a:xfrm>
            <a:off x="548640" y="2011680"/>
            <a:ext cx="539496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Understand variables and Python's naming rules</a:t>
            </a:r>
            <a:endParaRPr lang="en-US" sz="1300" dirty="0"/>
          </a:p>
          <a:p>
            <a:pPr marL="342900" indent="-342900">
              <a:lnSpc>
                <a:spcPct val="115000"/>
              </a:lnSpc>
              <a:spcAft>
                <a:spcPts val="1000"/>
              </a:spcAft>
              <a:buSzPct val="100000"/>
              <a:buChar char="●"/>
            </a:pPr>
            <a:r>
              <a:rPr lang="en-US" sz="1300" dirty="0">
                <a:solidFill>
                  <a:srgbClr val="1B2733"/>
                </a:solidFill>
              </a:rPr>
              <a:t>Take input from users and display output</a:t>
            </a:r>
            <a:endParaRPr lang="en-US" sz="1300" dirty="0"/>
          </a:p>
          <a:p>
            <a:pPr marL="342900" indent="-342900">
              <a:lnSpc>
                <a:spcPct val="115000"/>
              </a:lnSpc>
              <a:spcAft>
                <a:spcPts val="1000"/>
              </a:spcAft>
              <a:buSzPct val="100000"/>
              <a:buChar char="●"/>
            </a:pPr>
            <a:r>
              <a:rPr lang="en-US" sz="1300" dirty="0">
                <a:solidFill>
                  <a:srgbClr val="1B2733"/>
                </a:solidFill>
              </a:rPr>
              <a:t>Identify Python's core data types</a:t>
            </a:r>
            <a:endParaRPr lang="en-US" sz="1300" dirty="0"/>
          </a:p>
          <a:p>
            <a:pPr marL="342900" indent="-342900">
              <a:lnSpc>
                <a:spcPct val="115000"/>
              </a:lnSpc>
              <a:spcAft>
                <a:spcPts val="1000"/>
              </a:spcAft>
              <a:buSzPct val="100000"/>
              <a:buChar char="●"/>
            </a:pPr>
            <a:r>
              <a:rPr lang="en-US" sz="1300" dirty="0">
                <a:solidFill>
                  <a:srgbClr val="1B2733"/>
                </a:solidFill>
              </a:rPr>
              <a:t>Apply arithmetic, comparison, assignment &amp; logical operators</a:t>
            </a:r>
            <a:endParaRPr lang="en-US" sz="1300" dirty="0"/>
          </a:p>
        </p:txBody>
      </p:sp>
      <p:sp>
        <p:nvSpPr>
          <p:cNvPr id="8" name="Shape 5"/>
          <p:cNvSpPr/>
          <p:nvPr/>
        </p:nvSpPr>
        <p:spPr>
          <a:xfrm>
            <a:off x="6172200" y="1417320"/>
            <a:ext cx="13716" cy="4663440"/>
          </a:xfrm>
          <a:prstGeom prst="rect">
            <a:avLst/>
          </a:prstGeom>
          <a:solidFill>
            <a:srgbClr val="DCE6F0"/>
          </a:solidFill>
          <a:ln/>
        </p:spPr>
      </p:sp>
      <p:sp>
        <p:nvSpPr>
          <p:cNvPr id="9" name="Shape 6"/>
          <p:cNvSpPr/>
          <p:nvPr/>
        </p:nvSpPr>
        <p:spPr>
          <a:xfrm>
            <a:off x="6400800" y="1463040"/>
            <a:ext cx="384048" cy="384048"/>
          </a:xfrm>
          <a:prstGeom prst="ellipse">
            <a:avLst/>
          </a:prstGeom>
          <a:solidFill>
            <a:srgbClr val="1E5A96"/>
          </a:solidFill>
          <a:ln/>
        </p:spPr>
      </p:sp>
      <p:pic>
        <p:nvPicPr>
          <p:cNvPr id="10" name="Image 1" descr="preencoded.png"/>
          <p:cNvPicPr>
            <a:picLocks noChangeAspect="1"/>
          </p:cNvPicPr>
          <p:nvPr/>
        </p:nvPicPr>
        <p:blipFill>
          <a:blip r:embed="rId4"/>
          <a:stretch>
            <a:fillRect/>
          </a:stretch>
        </p:blipFill>
        <p:spPr>
          <a:xfrm>
            <a:off x="6483096" y="1545336"/>
            <a:ext cx="219456" cy="219456"/>
          </a:xfrm>
          <a:prstGeom prst="rect">
            <a:avLst/>
          </a:prstGeom>
        </p:spPr>
      </p:pic>
      <p:sp>
        <p:nvSpPr>
          <p:cNvPr id="11" name="Text 7"/>
          <p:cNvSpPr/>
          <p:nvPr/>
        </p:nvSpPr>
        <p:spPr>
          <a:xfrm>
            <a:off x="6912864" y="1435608"/>
            <a:ext cx="4663440" cy="457200"/>
          </a:xfrm>
          <a:prstGeom prst="rect">
            <a:avLst/>
          </a:prstGeom>
          <a:noFill/>
          <a:ln/>
        </p:spPr>
        <p:txBody>
          <a:bodyPr wrap="square" lIns="0" tIns="0" rIns="0" bIns="0" rtlCol="0" anchor="ctr"/>
          <a:lstStyle/>
          <a:p>
            <a:pPr marL="0" indent="0">
              <a:buNone/>
            </a:pPr>
            <a:r>
              <a:rPr lang="en-US" sz="1500" b="1" dirty="0">
                <a:solidFill>
                  <a:srgbClr val="1B2733"/>
                </a:solidFill>
              </a:rPr>
              <a:t>Theory Explanation</a:t>
            </a:r>
            <a:endParaRPr lang="en-US" sz="1500" dirty="0"/>
          </a:p>
        </p:txBody>
      </p:sp>
      <p:sp>
        <p:nvSpPr>
          <p:cNvPr id="12" name="Text 8"/>
          <p:cNvSpPr/>
          <p:nvPr/>
        </p:nvSpPr>
        <p:spPr>
          <a:xfrm>
            <a:off x="6400800" y="2011680"/>
            <a:ext cx="521208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Variable names: start with a letter/underscore, case-sensitive, no reserved keywords</a:t>
            </a:r>
            <a:endParaRPr lang="en-US" sz="1300" dirty="0"/>
          </a:p>
          <a:p>
            <a:pPr marL="342900" indent="-342900">
              <a:lnSpc>
                <a:spcPct val="115000"/>
              </a:lnSpc>
              <a:spcAft>
                <a:spcPts val="1000"/>
              </a:spcAft>
              <a:buSzPct val="100000"/>
              <a:buChar char="●"/>
            </a:pPr>
            <a:r>
              <a:rPr lang="en-US" sz="1300" dirty="0">
                <a:solidFill>
                  <a:srgbClr val="1B2733"/>
                </a:solidFill>
              </a:rPr>
              <a:t>Core data types: int, float, str, bool</a:t>
            </a:r>
            <a:endParaRPr lang="en-US" sz="1300" dirty="0"/>
          </a:p>
          <a:p>
            <a:pPr marL="342900" indent="-342900">
              <a:lnSpc>
                <a:spcPct val="115000"/>
              </a:lnSpc>
              <a:spcAft>
                <a:spcPts val="1000"/>
              </a:spcAft>
              <a:buSzPct val="100000"/>
              <a:buChar char="●"/>
            </a:pPr>
            <a:r>
              <a:rPr lang="en-US" sz="1300" dirty="0">
                <a:solidFill>
                  <a:srgbClr val="1B2733"/>
                </a:solidFill>
              </a:rPr>
              <a:t>input() always returns a string — cast with int()/float() when needed</a:t>
            </a:r>
            <a:endParaRPr lang="en-US" sz="1300" dirty="0"/>
          </a:p>
          <a:p>
            <a:pPr marL="342900" indent="-342900">
              <a:lnSpc>
                <a:spcPct val="115000"/>
              </a:lnSpc>
              <a:spcAft>
                <a:spcPts val="1000"/>
              </a:spcAft>
              <a:buSzPct val="100000"/>
              <a:buChar char="●"/>
            </a:pPr>
            <a:r>
              <a:rPr lang="en-US" sz="1300" dirty="0">
                <a:solidFill>
                  <a:srgbClr val="1B2733"/>
                </a:solidFill>
              </a:rPr>
              <a:t>Operators: Arithmetic (+ - * / // % **), Comparison (== != &gt; &lt;), Assignment (= += -=), Logical (and or not)</a:t>
            </a:r>
            <a:endParaRPr lang="en-US" sz="1300" dirty="0"/>
          </a:p>
        </p:txBody>
      </p:sp>
      <p:sp>
        <p:nvSpPr>
          <p:cNvPr id="13" name="Text 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12</a:t>
            </a:r>
            <a:endParaRPr lang="en-US" sz="10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2 — VARIABLES AND DATA TYPES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Concept Diagram</a:t>
            </a:r>
            <a:endParaRPr lang="en-US" sz="2700" dirty="0"/>
          </a:p>
        </p:txBody>
      </p:sp>
      <p:sp>
        <p:nvSpPr>
          <p:cNvPr id="4" name="Shape 2"/>
          <p:cNvSpPr/>
          <p:nvPr/>
        </p:nvSpPr>
        <p:spPr>
          <a:xfrm>
            <a:off x="457200" y="1417320"/>
            <a:ext cx="11247120" cy="4663440"/>
          </a:xfrm>
          <a:prstGeom prst="roundRect">
            <a:avLst>
              <a:gd name="adj" fmla="val 1961"/>
            </a:avLst>
          </a:prstGeom>
          <a:solidFill>
            <a:srgbClr val="EEF4FA"/>
          </a:solidFill>
          <a:ln/>
        </p:spPr>
      </p:sp>
      <p:sp>
        <p:nvSpPr>
          <p:cNvPr id="5" name="Shape 3"/>
          <p:cNvSpPr/>
          <p:nvPr/>
        </p:nvSpPr>
        <p:spPr>
          <a:xfrm>
            <a:off x="822960" y="1737360"/>
            <a:ext cx="3200400" cy="4023360"/>
          </a:xfrm>
          <a:prstGeom prst="roundRect">
            <a:avLst>
              <a:gd name="adj" fmla="val 2857"/>
            </a:avLst>
          </a:prstGeom>
          <a:solidFill>
            <a:srgbClr val="1E5A96"/>
          </a:solidFill>
          <a:ln/>
        </p:spPr>
      </p:sp>
      <p:sp>
        <p:nvSpPr>
          <p:cNvPr id="6" name="Text 4"/>
          <p:cNvSpPr/>
          <p:nvPr/>
        </p:nvSpPr>
        <p:spPr>
          <a:xfrm>
            <a:off x="822960" y="1965960"/>
            <a:ext cx="3200400" cy="411480"/>
          </a:xfrm>
          <a:prstGeom prst="rect">
            <a:avLst/>
          </a:prstGeom>
          <a:noFill/>
          <a:ln/>
        </p:spPr>
        <p:txBody>
          <a:bodyPr wrap="square" lIns="0" tIns="0" rIns="0" bIns="0" rtlCol="0" anchor="ctr"/>
          <a:lstStyle/>
          <a:p>
            <a:pPr marL="0" indent="0" algn="ctr">
              <a:buNone/>
            </a:pPr>
            <a:r>
              <a:rPr lang="en-US" sz="1600" b="1" dirty="0">
                <a:solidFill>
                  <a:srgbClr val="FFFFFF"/>
                </a:solidFill>
              </a:rPr>
              <a:t>Numeric</a:t>
            </a:r>
            <a:endParaRPr lang="en-US" sz="1600" dirty="0"/>
          </a:p>
        </p:txBody>
      </p:sp>
      <p:sp>
        <p:nvSpPr>
          <p:cNvPr id="7" name="Text 5"/>
          <p:cNvSpPr/>
          <p:nvPr/>
        </p:nvSpPr>
        <p:spPr>
          <a:xfrm>
            <a:off x="960120" y="2514600"/>
            <a:ext cx="2926080" cy="3017520"/>
          </a:xfrm>
          <a:prstGeom prst="rect">
            <a:avLst/>
          </a:prstGeom>
          <a:noFill/>
          <a:ln/>
        </p:spPr>
        <p:txBody>
          <a:bodyPr wrap="square" lIns="0" tIns="0" rIns="0" bIns="0" rtlCol="0" anchor="ctr"/>
          <a:lstStyle/>
          <a:p>
            <a:pPr marL="0" indent="0" algn="ctr">
              <a:buNone/>
            </a:pPr>
            <a:r>
              <a:rPr lang="en-US" sz="1250" dirty="0">
                <a:solidFill>
                  <a:srgbClr val="E4EDF7"/>
                </a:solidFill>
              </a:rPr>
              <a:t>int, float, complex</a:t>
            </a:r>
            <a:endParaRPr lang="en-US" sz="1250" dirty="0"/>
          </a:p>
        </p:txBody>
      </p:sp>
      <p:sp>
        <p:nvSpPr>
          <p:cNvPr id="8" name="Shape 6"/>
          <p:cNvSpPr/>
          <p:nvPr/>
        </p:nvSpPr>
        <p:spPr>
          <a:xfrm>
            <a:off x="4480560" y="1737360"/>
            <a:ext cx="3200400" cy="4023360"/>
          </a:xfrm>
          <a:prstGeom prst="roundRect">
            <a:avLst>
              <a:gd name="adj" fmla="val 2857"/>
            </a:avLst>
          </a:prstGeom>
          <a:solidFill>
            <a:srgbClr val="132A46"/>
          </a:solidFill>
          <a:ln/>
        </p:spPr>
      </p:sp>
      <p:sp>
        <p:nvSpPr>
          <p:cNvPr id="9" name="Text 7"/>
          <p:cNvSpPr/>
          <p:nvPr/>
        </p:nvSpPr>
        <p:spPr>
          <a:xfrm>
            <a:off x="4480560" y="1965960"/>
            <a:ext cx="3200400" cy="411480"/>
          </a:xfrm>
          <a:prstGeom prst="rect">
            <a:avLst/>
          </a:prstGeom>
          <a:noFill/>
          <a:ln/>
        </p:spPr>
        <p:txBody>
          <a:bodyPr wrap="square" lIns="0" tIns="0" rIns="0" bIns="0" rtlCol="0" anchor="ctr"/>
          <a:lstStyle/>
          <a:p>
            <a:pPr marL="0" indent="0" algn="ctr">
              <a:buNone/>
            </a:pPr>
            <a:r>
              <a:rPr lang="en-US" sz="1600" b="1" dirty="0">
                <a:solidFill>
                  <a:srgbClr val="FFFFFF"/>
                </a:solidFill>
              </a:rPr>
              <a:t>Text</a:t>
            </a:r>
            <a:endParaRPr lang="en-US" sz="1600" dirty="0"/>
          </a:p>
        </p:txBody>
      </p:sp>
      <p:sp>
        <p:nvSpPr>
          <p:cNvPr id="10" name="Text 8"/>
          <p:cNvSpPr/>
          <p:nvPr/>
        </p:nvSpPr>
        <p:spPr>
          <a:xfrm>
            <a:off x="4617720" y="2514600"/>
            <a:ext cx="2926080" cy="3017520"/>
          </a:xfrm>
          <a:prstGeom prst="rect">
            <a:avLst/>
          </a:prstGeom>
          <a:noFill/>
          <a:ln/>
        </p:spPr>
        <p:txBody>
          <a:bodyPr wrap="square" lIns="0" tIns="0" rIns="0" bIns="0" rtlCol="0" anchor="ctr"/>
          <a:lstStyle/>
          <a:p>
            <a:pPr marL="0" indent="0" algn="ctr">
              <a:buNone/>
            </a:pPr>
            <a:r>
              <a:rPr lang="en-US" sz="1250" dirty="0">
                <a:solidFill>
                  <a:srgbClr val="E4EDF7"/>
                </a:solidFill>
              </a:rPr>
              <a:t>str</a:t>
            </a:r>
            <a:endParaRPr lang="en-US" sz="1250" dirty="0"/>
          </a:p>
        </p:txBody>
      </p:sp>
      <p:sp>
        <p:nvSpPr>
          <p:cNvPr id="11" name="Shape 9"/>
          <p:cNvSpPr/>
          <p:nvPr/>
        </p:nvSpPr>
        <p:spPr>
          <a:xfrm>
            <a:off x="8138160" y="1737360"/>
            <a:ext cx="3200400" cy="4023360"/>
          </a:xfrm>
          <a:prstGeom prst="roundRect">
            <a:avLst>
              <a:gd name="adj" fmla="val 2857"/>
            </a:avLst>
          </a:prstGeom>
          <a:solidFill>
            <a:srgbClr val="F2A93B"/>
          </a:solidFill>
          <a:ln/>
        </p:spPr>
      </p:sp>
      <p:sp>
        <p:nvSpPr>
          <p:cNvPr id="12" name="Text 10"/>
          <p:cNvSpPr/>
          <p:nvPr/>
        </p:nvSpPr>
        <p:spPr>
          <a:xfrm>
            <a:off x="8138160" y="1965960"/>
            <a:ext cx="3200400" cy="411480"/>
          </a:xfrm>
          <a:prstGeom prst="rect">
            <a:avLst/>
          </a:prstGeom>
          <a:noFill/>
          <a:ln/>
        </p:spPr>
        <p:txBody>
          <a:bodyPr wrap="square" lIns="0" tIns="0" rIns="0" bIns="0" rtlCol="0" anchor="ctr"/>
          <a:lstStyle/>
          <a:p>
            <a:pPr marL="0" indent="0" algn="ctr">
              <a:buNone/>
            </a:pPr>
            <a:r>
              <a:rPr lang="en-US" sz="1600" b="1" dirty="0">
                <a:solidFill>
                  <a:srgbClr val="1B2733"/>
                </a:solidFill>
              </a:rPr>
              <a:t>Boolean</a:t>
            </a:r>
            <a:endParaRPr lang="en-US" sz="1600" dirty="0"/>
          </a:p>
        </p:txBody>
      </p:sp>
      <p:sp>
        <p:nvSpPr>
          <p:cNvPr id="13" name="Text 11"/>
          <p:cNvSpPr/>
          <p:nvPr/>
        </p:nvSpPr>
        <p:spPr>
          <a:xfrm>
            <a:off x="8275320" y="2514600"/>
            <a:ext cx="2926080" cy="3017520"/>
          </a:xfrm>
          <a:prstGeom prst="rect">
            <a:avLst/>
          </a:prstGeom>
          <a:noFill/>
          <a:ln/>
        </p:spPr>
        <p:txBody>
          <a:bodyPr wrap="square" lIns="0" tIns="0" rIns="0" bIns="0" rtlCol="0" anchor="ctr"/>
          <a:lstStyle/>
          <a:p>
            <a:pPr marL="0" indent="0" algn="ctr">
              <a:buNone/>
            </a:pPr>
            <a:r>
              <a:rPr lang="en-US" sz="1250" dirty="0">
                <a:solidFill>
                  <a:srgbClr val="1B2733"/>
                </a:solidFill>
              </a:rPr>
              <a:t>bool (True / False)</a:t>
            </a:r>
            <a:endParaRPr lang="en-US" sz="1250" dirty="0"/>
          </a:p>
        </p:txBody>
      </p:sp>
      <p:sp>
        <p:nvSpPr>
          <p:cNvPr id="14"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13</a:t>
            </a:r>
            <a:endParaRPr lang="en-US" sz="100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2 — VARIABLES AND DATA TYPES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Everyday Examples</a:t>
            </a:r>
            <a:endParaRPr lang="en-US" sz="2700" dirty="0"/>
          </a:p>
        </p:txBody>
      </p:sp>
      <p:sp>
        <p:nvSpPr>
          <p:cNvPr id="4" name="Shape 2"/>
          <p:cNvSpPr/>
          <p:nvPr/>
        </p:nvSpPr>
        <p:spPr>
          <a:xfrm>
            <a:off x="548640" y="1645920"/>
            <a:ext cx="3505200" cy="3566160"/>
          </a:xfrm>
          <a:prstGeom prst="roundRect">
            <a:avLst>
              <a:gd name="adj" fmla="val 2609"/>
            </a:avLst>
          </a:prstGeom>
          <a:solidFill>
            <a:srgbClr val="1E5A96"/>
          </a:solidFill>
          <a:ln/>
        </p:spPr>
      </p:sp>
      <p:sp>
        <p:nvSpPr>
          <p:cNvPr id="5" name="Shape 3"/>
          <p:cNvSpPr/>
          <p:nvPr/>
        </p:nvSpPr>
        <p:spPr>
          <a:xfrm>
            <a:off x="1981200" y="1965960"/>
            <a:ext cx="640080" cy="640080"/>
          </a:xfrm>
          <a:prstGeom prst="ellipse">
            <a:avLst/>
          </a:prstGeom>
          <a:solidFill>
            <a:srgbClr val="FFFFFF">
              <a:alpha val="88000"/>
            </a:srgbClr>
          </a:solidFill>
          <a:ln/>
        </p:spPr>
      </p:sp>
      <p:pic>
        <p:nvPicPr>
          <p:cNvPr id="6" name="Image 0" descr="preencoded.png"/>
          <p:cNvPicPr>
            <a:picLocks noChangeAspect="1"/>
          </p:cNvPicPr>
          <p:nvPr/>
        </p:nvPicPr>
        <p:blipFill>
          <a:blip r:embed="rId3"/>
          <a:stretch>
            <a:fillRect/>
          </a:stretch>
        </p:blipFill>
        <p:spPr>
          <a:xfrm>
            <a:off x="2118360" y="2103120"/>
            <a:ext cx="365760" cy="365760"/>
          </a:xfrm>
          <a:prstGeom prst="rect">
            <a:avLst/>
          </a:prstGeom>
        </p:spPr>
      </p:pic>
      <p:sp>
        <p:nvSpPr>
          <p:cNvPr id="7" name="Text 4"/>
          <p:cNvSpPr/>
          <p:nvPr/>
        </p:nvSpPr>
        <p:spPr>
          <a:xfrm>
            <a:off x="73152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Age Verification</a:t>
            </a:r>
            <a:endParaRPr lang="en-US" sz="1500" dirty="0"/>
          </a:p>
        </p:txBody>
      </p:sp>
      <p:sp>
        <p:nvSpPr>
          <p:cNvPr id="8" name="Text 5"/>
          <p:cNvSpPr/>
          <p:nvPr/>
        </p:nvSpPr>
        <p:spPr>
          <a:xfrm>
            <a:off x="77724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Comparing a stored age against 18</a:t>
            </a:r>
            <a:endParaRPr lang="en-US" sz="1200" dirty="0"/>
          </a:p>
        </p:txBody>
      </p:sp>
      <p:sp>
        <p:nvSpPr>
          <p:cNvPr id="9" name="Shape 6"/>
          <p:cNvSpPr/>
          <p:nvPr/>
        </p:nvSpPr>
        <p:spPr>
          <a:xfrm>
            <a:off x="4328160" y="1645920"/>
            <a:ext cx="3505200" cy="3566160"/>
          </a:xfrm>
          <a:prstGeom prst="roundRect">
            <a:avLst>
              <a:gd name="adj" fmla="val 2609"/>
            </a:avLst>
          </a:prstGeom>
          <a:solidFill>
            <a:srgbClr val="132A46"/>
          </a:solidFill>
          <a:ln/>
        </p:spPr>
      </p:sp>
      <p:sp>
        <p:nvSpPr>
          <p:cNvPr id="10" name="Shape 7"/>
          <p:cNvSpPr/>
          <p:nvPr/>
        </p:nvSpPr>
        <p:spPr>
          <a:xfrm>
            <a:off x="5760720" y="1965960"/>
            <a:ext cx="640080" cy="640080"/>
          </a:xfrm>
          <a:prstGeom prst="ellipse">
            <a:avLst/>
          </a:prstGeom>
          <a:solidFill>
            <a:srgbClr val="FFFFFF">
              <a:alpha val="88000"/>
            </a:srgbClr>
          </a:solidFill>
          <a:ln/>
        </p:spPr>
      </p:sp>
      <p:pic>
        <p:nvPicPr>
          <p:cNvPr id="11" name="Image 1" descr="preencoded.png"/>
          <p:cNvPicPr>
            <a:picLocks noChangeAspect="1"/>
          </p:cNvPicPr>
          <p:nvPr/>
        </p:nvPicPr>
        <p:blipFill>
          <a:blip r:embed="rId3"/>
          <a:stretch>
            <a:fillRect/>
          </a:stretch>
        </p:blipFill>
        <p:spPr>
          <a:xfrm>
            <a:off x="5897880" y="2103120"/>
            <a:ext cx="365760" cy="365760"/>
          </a:xfrm>
          <a:prstGeom prst="rect">
            <a:avLst/>
          </a:prstGeom>
        </p:spPr>
      </p:pic>
      <p:sp>
        <p:nvSpPr>
          <p:cNvPr id="12" name="Text 8"/>
          <p:cNvSpPr/>
          <p:nvPr/>
        </p:nvSpPr>
        <p:spPr>
          <a:xfrm>
            <a:off x="451104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Billing System</a:t>
            </a:r>
            <a:endParaRPr lang="en-US" sz="1500" dirty="0"/>
          </a:p>
        </p:txBody>
      </p:sp>
      <p:sp>
        <p:nvSpPr>
          <p:cNvPr id="13" name="Text 9"/>
          <p:cNvSpPr/>
          <p:nvPr/>
        </p:nvSpPr>
        <p:spPr>
          <a:xfrm>
            <a:off x="455676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Adding prices with arithmetic operators</a:t>
            </a:r>
            <a:endParaRPr lang="en-US" sz="1200" dirty="0"/>
          </a:p>
        </p:txBody>
      </p:sp>
      <p:sp>
        <p:nvSpPr>
          <p:cNvPr id="14" name="Shape 10"/>
          <p:cNvSpPr/>
          <p:nvPr/>
        </p:nvSpPr>
        <p:spPr>
          <a:xfrm>
            <a:off x="8107680" y="1645920"/>
            <a:ext cx="3505200" cy="3566160"/>
          </a:xfrm>
          <a:prstGeom prst="roundRect">
            <a:avLst>
              <a:gd name="adj" fmla="val 2609"/>
            </a:avLst>
          </a:prstGeom>
          <a:solidFill>
            <a:srgbClr val="1E5A96"/>
          </a:solidFill>
          <a:ln/>
        </p:spPr>
      </p:sp>
      <p:sp>
        <p:nvSpPr>
          <p:cNvPr id="15" name="Shape 11"/>
          <p:cNvSpPr/>
          <p:nvPr/>
        </p:nvSpPr>
        <p:spPr>
          <a:xfrm>
            <a:off x="9540240" y="1965960"/>
            <a:ext cx="640080" cy="640080"/>
          </a:xfrm>
          <a:prstGeom prst="ellipse">
            <a:avLst/>
          </a:prstGeom>
          <a:solidFill>
            <a:srgbClr val="FFFFFF">
              <a:alpha val="88000"/>
            </a:srgbClr>
          </a:solidFill>
          <a:ln/>
        </p:spPr>
      </p:sp>
      <p:pic>
        <p:nvPicPr>
          <p:cNvPr id="16" name="Image 2" descr="preencoded.png"/>
          <p:cNvPicPr>
            <a:picLocks noChangeAspect="1"/>
          </p:cNvPicPr>
          <p:nvPr/>
        </p:nvPicPr>
        <p:blipFill>
          <a:blip r:embed="rId3"/>
          <a:stretch>
            <a:fillRect/>
          </a:stretch>
        </p:blipFill>
        <p:spPr>
          <a:xfrm>
            <a:off x="9677400" y="2103120"/>
            <a:ext cx="365760" cy="365760"/>
          </a:xfrm>
          <a:prstGeom prst="rect">
            <a:avLst/>
          </a:prstGeom>
        </p:spPr>
      </p:pic>
      <p:sp>
        <p:nvSpPr>
          <p:cNvPr id="17" name="Text 12"/>
          <p:cNvSpPr/>
          <p:nvPr/>
        </p:nvSpPr>
        <p:spPr>
          <a:xfrm>
            <a:off x="829056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Login Check</a:t>
            </a:r>
            <a:endParaRPr lang="en-US" sz="1500" dirty="0"/>
          </a:p>
        </p:txBody>
      </p:sp>
      <p:sp>
        <p:nvSpPr>
          <p:cNvPr id="18" name="Text 13"/>
          <p:cNvSpPr/>
          <p:nvPr/>
        </p:nvSpPr>
        <p:spPr>
          <a:xfrm>
            <a:off x="833628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Logical operators combining username &amp; password checks</a:t>
            </a:r>
            <a:endParaRPr lang="en-US" sz="1200" dirty="0"/>
          </a:p>
        </p:txBody>
      </p:sp>
      <p:sp>
        <p:nvSpPr>
          <p:cNvPr id="19" name="Text 14"/>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14</a:t>
            </a:r>
            <a:endParaRPr lang="en-US" sz="10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2 — VARIABLES AND DATA TYPES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Coding Example &amp; Practical Exercises</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937760" cy="457200"/>
          </a:xfrm>
          <a:prstGeom prst="rect">
            <a:avLst/>
          </a:prstGeom>
          <a:noFill/>
          <a:ln/>
        </p:spPr>
        <p:txBody>
          <a:bodyPr wrap="square" lIns="0" tIns="0" rIns="0" bIns="0" rtlCol="0" anchor="ctr"/>
          <a:lstStyle/>
          <a:p>
            <a:pPr marL="0" indent="0">
              <a:buNone/>
            </a:pPr>
            <a:r>
              <a:rPr lang="en-US" sz="1500" b="1" dirty="0">
                <a:solidFill>
                  <a:srgbClr val="1B2733"/>
                </a:solidFill>
              </a:rPr>
              <a:t>Coding Example</a:t>
            </a:r>
            <a:endParaRPr lang="en-US" sz="1500" dirty="0"/>
          </a:p>
        </p:txBody>
      </p:sp>
      <p:sp>
        <p:nvSpPr>
          <p:cNvPr id="7" name="Shape 4"/>
          <p:cNvSpPr/>
          <p:nvPr/>
        </p:nvSpPr>
        <p:spPr>
          <a:xfrm>
            <a:off x="548640" y="2011680"/>
            <a:ext cx="5486400" cy="3108960"/>
          </a:xfrm>
          <a:prstGeom prst="roundRect">
            <a:avLst>
              <a:gd name="adj" fmla="val 2353"/>
            </a:avLst>
          </a:prstGeom>
          <a:solidFill>
            <a:srgbClr val="1E1E2E"/>
          </a:solidFill>
          <a:ln/>
          <a:effectLst>
            <a:outerShdw blurRad="101600" dist="38100" dir="5400000" algn="bl" rotWithShape="0">
              <a:srgbClr val="000000">
                <a:alpha val="18000"/>
              </a:srgbClr>
            </a:outerShdw>
          </a:effectLst>
        </p:spPr>
      </p:sp>
      <p:sp>
        <p:nvSpPr>
          <p:cNvPr id="8" name="Text 5"/>
          <p:cNvSpPr/>
          <p:nvPr/>
        </p:nvSpPr>
        <p:spPr>
          <a:xfrm>
            <a:off x="731520" y="2103120"/>
            <a:ext cx="5120640" cy="274320"/>
          </a:xfrm>
          <a:prstGeom prst="rect">
            <a:avLst/>
          </a:prstGeom>
          <a:noFill/>
          <a:ln/>
        </p:spPr>
        <p:txBody>
          <a:bodyPr wrap="square" lIns="0" tIns="0" rIns="0" bIns="0" rtlCol="0" anchor="ctr"/>
          <a:lstStyle/>
          <a:p>
            <a:pPr marL="0" indent="0">
              <a:buNone/>
            </a:pPr>
            <a:r>
              <a:rPr lang="en-US" sz="1050" dirty="0">
                <a:solidFill>
                  <a:srgbClr val="8FA3B8"/>
                </a:solidFill>
                <a:latin typeface="Courier New" pitchFamily="34" charset="0"/>
                <a:ea typeface="Courier New" pitchFamily="34" charset="-122"/>
                <a:cs typeface="Courier New" pitchFamily="34" charset="-120"/>
              </a:rPr>
              <a:t>user_input.py</a:t>
            </a:r>
            <a:endParaRPr lang="en-US" sz="1050" dirty="0"/>
          </a:p>
        </p:txBody>
      </p:sp>
      <p:sp>
        <p:nvSpPr>
          <p:cNvPr id="9" name="Text 6"/>
          <p:cNvSpPr/>
          <p:nvPr/>
        </p:nvSpPr>
        <p:spPr>
          <a:xfrm>
            <a:off x="777240" y="2395728"/>
            <a:ext cx="5029200" cy="2560320"/>
          </a:xfrm>
          <a:prstGeom prst="rect">
            <a:avLst/>
          </a:prstGeom>
          <a:noFill/>
          <a:ln/>
        </p:spPr>
        <p:txBody>
          <a:bodyPr wrap="square" lIns="0" tIns="0" rIns="0" bIns="0" rtlCol="0" anchor="t"/>
          <a:lstStyle/>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name = input("Enter Name:")</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age = int(input("Enter Age:"))</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print(name)</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print(age)</a:t>
            </a:r>
            <a:endParaRPr lang="en-US" sz="1300" dirty="0"/>
          </a:p>
        </p:txBody>
      </p:sp>
      <p:sp>
        <p:nvSpPr>
          <p:cNvPr id="10" name="Shape 7"/>
          <p:cNvSpPr/>
          <p:nvPr/>
        </p:nvSpPr>
        <p:spPr>
          <a:xfrm>
            <a:off x="6355080" y="1463040"/>
            <a:ext cx="384048" cy="384048"/>
          </a:xfrm>
          <a:prstGeom prst="ellipse">
            <a:avLst/>
          </a:prstGeom>
          <a:solidFill>
            <a:srgbClr val="1E5A96"/>
          </a:solidFill>
          <a:ln/>
        </p:spPr>
      </p:sp>
      <p:pic>
        <p:nvPicPr>
          <p:cNvPr id="11"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2" name="Text 8"/>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Practical Exercises</a:t>
            </a:r>
            <a:endParaRPr lang="en-US" sz="1500" dirty="0"/>
          </a:p>
        </p:txBody>
      </p:sp>
      <p:sp>
        <p:nvSpPr>
          <p:cNvPr id="13" name="Shape 9"/>
          <p:cNvSpPr/>
          <p:nvPr/>
        </p:nvSpPr>
        <p:spPr>
          <a:xfrm>
            <a:off x="6355080" y="2011680"/>
            <a:ext cx="5257800" cy="3108960"/>
          </a:xfrm>
          <a:prstGeom prst="roundRect">
            <a:avLst>
              <a:gd name="adj" fmla="val 2353"/>
            </a:avLst>
          </a:prstGeom>
          <a:solidFill>
            <a:srgbClr val="EEF4FA"/>
          </a:solidFill>
          <a:ln/>
        </p:spPr>
      </p:sp>
      <p:sp>
        <p:nvSpPr>
          <p:cNvPr id="14" name="Text 10"/>
          <p:cNvSpPr/>
          <p:nvPr/>
        </p:nvSpPr>
        <p:spPr>
          <a:xfrm>
            <a:off x="6583680" y="2212848"/>
            <a:ext cx="4846320" cy="27432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B2733"/>
                </a:solidFill>
              </a:rPr>
              <a:t>Take user input and greet them</a:t>
            </a:r>
            <a:endParaRPr lang="en-US" sz="1350" dirty="0"/>
          </a:p>
          <a:p>
            <a:pPr marL="342900" indent="-342900">
              <a:lnSpc>
                <a:spcPct val="120000"/>
              </a:lnSpc>
              <a:spcAft>
                <a:spcPts val="1200"/>
              </a:spcAft>
              <a:buSzPct val="100000"/>
              <a:buChar char="•"/>
            </a:pPr>
            <a:r>
              <a:rPr lang="en-US" sz="1350" dirty="0">
                <a:solidFill>
                  <a:srgbClr val="1B2733"/>
                </a:solidFill>
              </a:rPr>
              <a:t>Build an addition calculator</a:t>
            </a:r>
            <a:endParaRPr lang="en-US" sz="1350" dirty="0"/>
          </a:p>
          <a:p>
            <a:pPr marL="342900" indent="-342900">
              <a:lnSpc>
                <a:spcPct val="120000"/>
              </a:lnSpc>
              <a:spcAft>
                <a:spcPts val="1200"/>
              </a:spcAft>
              <a:buSzPct val="100000"/>
              <a:buChar char="•"/>
            </a:pPr>
            <a:r>
              <a:rPr lang="en-US" sz="1350" dirty="0">
                <a:solidFill>
                  <a:srgbClr val="1B2733"/>
                </a:solidFill>
              </a:rPr>
              <a:t>Calculate the area of a rectangle</a:t>
            </a:r>
            <a:endParaRPr lang="en-US" sz="1350" dirty="0"/>
          </a:p>
        </p:txBody>
      </p:sp>
      <p:sp>
        <p:nvSpPr>
          <p:cNvPr id="15" name="Text 11"/>
          <p:cNvSpPr/>
          <p:nvPr/>
        </p:nvSpPr>
        <p:spPr>
          <a:xfrm>
            <a:off x="548640" y="5257800"/>
            <a:ext cx="5486400" cy="274320"/>
          </a:xfrm>
          <a:prstGeom prst="rect">
            <a:avLst/>
          </a:prstGeom>
          <a:noFill/>
          <a:ln/>
        </p:spPr>
        <p:txBody>
          <a:bodyPr wrap="square" lIns="0" tIns="0" rIns="0" bIns="0" rtlCol="0" anchor="ctr"/>
          <a:lstStyle/>
          <a:p>
            <a:pPr marL="0" indent="0">
              <a:buNone/>
            </a:pPr>
            <a:r>
              <a:rPr lang="en-US" sz="1050" i="1" dirty="0">
                <a:solidFill>
                  <a:srgbClr val="5C6B7A"/>
                </a:solidFill>
              </a:rPr>
              <a:t>Theory: 1h  •  Practical: 1h</a:t>
            </a:r>
            <a:endParaRPr lang="en-US" sz="1050" dirty="0"/>
          </a:p>
        </p:txBody>
      </p:sp>
      <p:sp>
        <p:nvSpPr>
          <p:cNvPr id="16"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15</a:t>
            </a:r>
            <a:endParaRPr lang="en-US" sz="1000" dirty="0"/>
          </a:p>
        </p:txBody>
      </p:sp>
      <p:sp>
        <p:nvSpPr>
          <p:cNvPr id="17"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2 — VARIABLES AND DATA TYPES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Mini Activity &amp; Expected Outcome</a:t>
            </a:r>
            <a:endParaRPr lang="en-US" sz="2700" dirty="0"/>
          </a:p>
        </p:txBody>
      </p:sp>
      <p:sp>
        <p:nvSpPr>
          <p:cNvPr id="4" name="Shape 2"/>
          <p:cNvSpPr/>
          <p:nvPr/>
        </p:nvSpPr>
        <p:spPr>
          <a:xfrm>
            <a:off x="548640" y="1600200"/>
            <a:ext cx="11064240" cy="1920240"/>
          </a:xfrm>
          <a:prstGeom prst="roundRect">
            <a:avLst>
              <a:gd name="adj" fmla="val 4762"/>
            </a:avLst>
          </a:prstGeom>
          <a:solidFill>
            <a:srgbClr val="1E5A96"/>
          </a:solidFill>
          <a:ln/>
        </p:spPr>
      </p:sp>
      <p:pic>
        <p:nvPicPr>
          <p:cNvPr id="5" name="Image 0" descr="preencoded.png"/>
          <p:cNvPicPr>
            <a:picLocks noChangeAspect="1"/>
          </p:cNvPicPr>
          <p:nvPr/>
        </p:nvPicPr>
        <p:blipFill>
          <a:blip r:embed="rId3"/>
          <a:stretch>
            <a:fillRect/>
          </a:stretch>
        </p:blipFill>
        <p:spPr>
          <a:xfrm>
            <a:off x="868680" y="1965960"/>
            <a:ext cx="502920" cy="502920"/>
          </a:xfrm>
          <a:prstGeom prst="rect">
            <a:avLst/>
          </a:prstGeom>
        </p:spPr>
      </p:pic>
      <p:sp>
        <p:nvSpPr>
          <p:cNvPr id="6" name="Text 3"/>
          <p:cNvSpPr/>
          <p:nvPr/>
        </p:nvSpPr>
        <p:spPr>
          <a:xfrm>
            <a:off x="1554480" y="1874520"/>
            <a:ext cx="3657600" cy="320040"/>
          </a:xfrm>
          <a:prstGeom prst="rect">
            <a:avLst/>
          </a:prstGeom>
          <a:noFill/>
          <a:ln/>
        </p:spPr>
        <p:txBody>
          <a:bodyPr wrap="square" lIns="0" tIns="0" rIns="0" bIns="0" rtlCol="0" anchor="ctr"/>
          <a:lstStyle/>
          <a:p>
            <a:pPr marL="0" indent="0">
              <a:buNone/>
            </a:pPr>
            <a:r>
              <a:rPr lang="en-US" sz="1250" b="1" kern="0" spc="150" dirty="0">
                <a:solidFill>
                  <a:srgbClr val="F2A93B"/>
                </a:solidFill>
              </a:rPr>
              <a:t>MINI ACTIVITY</a:t>
            </a:r>
            <a:endParaRPr lang="en-US" sz="1250" dirty="0"/>
          </a:p>
        </p:txBody>
      </p:sp>
      <p:sp>
        <p:nvSpPr>
          <p:cNvPr id="7" name="Text 4"/>
          <p:cNvSpPr/>
          <p:nvPr/>
        </p:nvSpPr>
        <p:spPr>
          <a:xfrm>
            <a:off x="1554480" y="2240280"/>
            <a:ext cx="9692640" cy="1143000"/>
          </a:xfrm>
          <a:prstGeom prst="rect">
            <a:avLst/>
          </a:prstGeom>
          <a:noFill/>
          <a:ln/>
        </p:spPr>
        <p:txBody>
          <a:bodyPr wrap="square" lIns="0" tIns="0" rIns="0" bIns="0" rtlCol="0" anchor="t"/>
          <a:lstStyle/>
          <a:p>
            <a:pPr marL="0" indent="0">
              <a:buNone/>
            </a:pPr>
            <a:r>
              <a:rPr lang="en-US" sz="1550" dirty="0">
                <a:solidFill>
                  <a:srgbClr val="FFFFFF"/>
                </a:solidFill>
              </a:rPr>
              <a:t>Build a simple calculator that takes two numbers and prints sum, difference, product, and quotient.</a:t>
            </a:r>
            <a:endParaRPr lang="en-US" sz="1550" dirty="0"/>
          </a:p>
        </p:txBody>
      </p:sp>
      <p:sp>
        <p:nvSpPr>
          <p:cNvPr id="8" name="Shape 5"/>
          <p:cNvSpPr/>
          <p:nvPr/>
        </p:nvSpPr>
        <p:spPr>
          <a:xfrm>
            <a:off x="548640" y="3794760"/>
            <a:ext cx="11064240" cy="1691640"/>
          </a:xfrm>
          <a:prstGeom prst="roundRect">
            <a:avLst>
              <a:gd name="adj" fmla="val 5405"/>
            </a:avLst>
          </a:prstGeom>
          <a:solidFill>
            <a:srgbClr val="EEF4FA"/>
          </a:solidFill>
          <a:ln/>
        </p:spPr>
      </p:sp>
      <p:pic>
        <p:nvPicPr>
          <p:cNvPr id="9" name="Image 1" descr="preencoded.png"/>
          <p:cNvPicPr>
            <a:picLocks noChangeAspect="1"/>
          </p:cNvPicPr>
          <p:nvPr/>
        </p:nvPicPr>
        <p:blipFill>
          <a:blip r:embed="rId4"/>
          <a:stretch>
            <a:fillRect/>
          </a:stretch>
        </p:blipFill>
        <p:spPr>
          <a:xfrm>
            <a:off x="868680" y="4114800"/>
            <a:ext cx="457200" cy="457200"/>
          </a:xfrm>
          <a:prstGeom prst="rect">
            <a:avLst/>
          </a:prstGeom>
        </p:spPr>
      </p:pic>
      <p:sp>
        <p:nvSpPr>
          <p:cNvPr id="10" name="Text 6"/>
          <p:cNvSpPr/>
          <p:nvPr/>
        </p:nvSpPr>
        <p:spPr>
          <a:xfrm>
            <a:off x="1508760" y="4041648"/>
            <a:ext cx="3657600" cy="320040"/>
          </a:xfrm>
          <a:prstGeom prst="rect">
            <a:avLst/>
          </a:prstGeom>
          <a:noFill/>
          <a:ln/>
        </p:spPr>
        <p:txBody>
          <a:bodyPr wrap="square" lIns="0" tIns="0" rIns="0" bIns="0" rtlCol="0" anchor="ctr"/>
          <a:lstStyle/>
          <a:p>
            <a:pPr marL="0" indent="0">
              <a:buNone/>
            </a:pPr>
            <a:r>
              <a:rPr lang="en-US" sz="1250" b="1" kern="0" spc="150" dirty="0">
                <a:solidFill>
                  <a:srgbClr val="1E7D32"/>
                </a:solidFill>
              </a:rPr>
              <a:t>EXPECTED OUTCOME</a:t>
            </a:r>
            <a:endParaRPr lang="en-US" sz="1250" dirty="0"/>
          </a:p>
        </p:txBody>
      </p:sp>
      <p:sp>
        <p:nvSpPr>
          <p:cNvPr id="11" name="Text 7"/>
          <p:cNvSpPr/>
          <p:nvPr/>
        </p:nvSpPr>
        <p:spPr>
          <a:xfrm>
            <a:off x="1508760" y="4389120"/>
            <a:ext cx="9784080" cy="914400"/>
          </a:xfrm>
          <a:prstGeom prst="rect">
            <a:avLst/>
          </a:prstGeom>
          <a:noFill/>
          <a:ln/>
        </p:spPr>
        <p:txBody>
          <a:bodyPr wrap="square" lIns="0" tIns="0" rIns="0" bIns="0" rtlCol="0" anchor="t"/>
          <a:lstStyle/>
          <a:p>
            <a:pPr marL="0" indent="0">
              <a:buNone/>
            </a:pPr>
            <a:r>
              <a:rPr lang="en-US" sz="1550" dirty="0">
                <a:solidFill>
                  <a:srgbClr val="1B2733"/>
                </a:solidFill>
              </a:rPr>
              <a:t>Students can store, process, and display data.</a:t>
            </a:r>
            <a:endParaRPr lang="en-US" sz="1550" dirty="0"/>
          </a:p>
        </p:txBody>
      </p:sp>
      <p:sp>
        <p:nvSpPr>
          <p:cNvPr id="12" name="Text 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16</a:t>
            </a:r>
            <a:endParaRPr lang="en-US" sz="100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2 — VARIABLES AND DATA TYPES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Interview Questions &amp; Summary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6126480" cy="457200"/>
          </a:xfrm>
          <a:prstGeom prst="rect">
            <a:avLst/>
          </a:prstGeom>
          <a:noFill/>
          <a:ln/>
        </p:spPr>
        <p:txBody>
          <a:bodyPr wrap="square" lIns="0" tIns="0" rIns="0" bIns="0" rtlCol="0" anchor="ctr"/>
          <a:lstStyle/>
          <a:p>
            <a:pPr marL="0" indent="0">
              <a:buNone/>
            </a:pPr>
            <a:r>
              <a:rPr lang="en-US" sz="1500" b="1" dirty="0">
                <a:solidFill>
                  <a:srgbClr val="1B2733"/>
                </a:solidFill>
              </a:rPr>
              <a:t>Interview Questions</a:t>
            </a:r>
            <a:endParaRPr lang="en-US" sz="1500" dirty="0"/>
          </a:p>
        </p:txBody>
      </p:sp>
      <p:sp>
        <p:nvSpPr>
          <p:cNvPr id="7" name="Shape 4"/>
          <p:cNvSpPr/>
          <p:nvPr/>
        </p:nvSpPr>
        <p:spPr>
          <a:xfrm>
            <a:off x="548640" y="1965960"/>
            <a:ext cx="6675120" cy="1170432"/>
          </a:xfrm>
          <a:prstGeom prst="roundRect">
            <a:avLst>
              <a:gd name="adj" fmla="val 5469"/>
            </a:avLst>
          </a:prstGeom>
          <a:solidFill>
            <a:srgbClr val="EEF4FA"/>
          </a:solidFill>
          <a:ln/>
        </p:spPr>
      </p:sp>
      <p:sp>
        <p:nvSpPr>
          <p:cNvPr id="8" name="Text 5"/>
          <p:cNvSpPr/>
          <p:nvPr/>
        </p:nvSpPr>
        <p:spPr>
          <a:xfrm>
            <a:off x="731520" y="2057400"/>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is the difference between int and float?</a:t>
            </a:r>
            <a:endParaRPr lang="en-US" sz="1250" dirty="0"/>
          </a:p>
        </p:txBody>
      </p:sp>
      <p:sp>
        <p:nvSpPr>
          <p:cNvPr id="9" name="Text 6"/>
          <p:cNvSpPr/>
          <p:nvPr/>
        </p:nvSpPr>
        <p:spPr>
          <a:xfrm>
            <a:off x="731520" y="2441448"/>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int stores whole numbers; float stores decimal (fractional) numbers.</a:t>
            </a:r>
            <a:endParaRPr lang="en-US" sz="1150" dirty="0"/>
          </a:p>
        </p:txBody>
      </p:sp>
      <p:sp>
        <p:nvSpPr>
          <p:cNvPr id="10" name="Shape 7"/>
          <p:cNvSpPr/>
          <p:nvPr/>
        </p:nvSpPr>
        <p:spPr>
          <a:xfrm>
            <a:off x="548640" y="3264408"/>
            <a:ext cx="6675120" cy="1170432"/>
          </a:xfrm>
          <a:prstGeom prst="roundRect">
            <a:avLst>
              <a:gd name="adj" fmla="val 5469"/>
            </a:avLst>
          </a:prstGeom>
          <a:solidFill>
            <a:srgbClr val="EEF4FA"/>
          </a:solidFill>
          <a:ln/>
        </p:spPr>
      </p:sp>
      <p:sp>
        <p:nvSpPr>
          <p:cNvPr id="11" name="Text 8"/>
          <p:cNvSpPr/>
          <p:nvPr/>
        </p:nvSpPr>
        <p:spPr>
          <a:xfrm>
            <a:off x="731520" y="3355848"/>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Why does input() need type casting?</a:t>
            </a:r>
            <a:endParaRPr lang="en-US" sz="1250" dirty="0"/>
          </a:p>
        </p:txBody>
      </p:sp>
      <p:sp>
        <p:nvSpPr>
          <p:cNvPr id="12" name="Text 9"/>
          <p:cNvSpPr/>
          <p:nvPr/>
        </p:nvSpPr>
        <p:spPr>
          <a:xfrm>
            <a:off x="731520" y="3739896"/>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input() always returns a string, so numeric values must be cast with int() or float().</a:t>
            </a:r>
            <a:endParaRPr lang="en-US" sz="1150" dirty="0"/>
          </a:p>
        </p:txBody>
      </p:sp>
      <p:sp>
        <p:nvSpPr>
          <p:cNvPr id="13" name="Shape 10"/>
          <p:cNvSpPr/>
          <p:nvPr/>
        </p:nvSpPr>
        <p:spPr>
          <a:xfrm>
            <a:off x="548640" y="4562856"/>
            <a:ext cx="6675120" cy="1170432"/>
          </a:xfrm>
          <a:prstGeom prst="roundRect">
            <a:avLst>
              <a:gd name="adj" fmla="val 5469"/>
            </a:avLst>
          </a:prstGeom>
          <a:solidFill>
            <a:srgbClr val="EEF4FA"/>
          </a:solidFill>
          <a:ln/>
        </p:spPr>
      </p:sp>
      <p:sp>
        <p:nvSpPr>
          <p:cNvPr id="14" name="Text 11"/>
          <p:cNvSpPr/>
          <p:nvPr/>
        </p:nvSpPr>
        <p:spPr>
          <a:xfrm>
            <a:off x="731520" y="4654296"/>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is operator precedence?</a:t>
            </a:r>
            <a:endParaRPr lang="en-US" sz="1250" dirty="0"/>
          </a:p>
        </p:txBody>
      </p:sp>
      <p:sp>
        <p:nvSpPr>
          <p:cNvPr id="15" name="Text 12"/>
          <p:cNvSpPr/>
          <p:nvPr/>
        </p:nvSpPr>
        <p:spPr>
          <a:xfrm>
            <a:off x="731520" y="5038344"/>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The order in which Python evaluates operators, e.g. * and / before + and -.</a:t>
            </a:r>
            <a:endParaRPr lang="en-US" sz="1150" dirty="0"/>
          </a:p>
        </p:txBody>
      </p:sp>
      <p:sp>
        <p:nvSpPr>
          <p:cNvPr id="16" name="Shape 13"/>
          <p:cNvSpPr/>
          <p:nvPr/>
        </p:nvSpPr>
        <p:spPr>
          <a:xfrm>
            <a:off x="7452360" y="1417320"/>
            <a:ext cx="13716" cy="4709160"/>
          </a:xfrm>
          <a:prstGeom prst="rect">
            <a:avLst/>
          </a:prstGeom>
          <a:solidFill>
            <a:srgbClr val="DCE6F0"/>
          </a:solidFill>
          <a:ln/>
        </p:spPr>
      </p:sp>
      <p:sp>
        <p:nvSpPr>
          <p:cNvPr id="17" name="Shape 14"/>
          <p:cNvSpPr/>
          <p:nvPr/>
        </p:nvSpPr>
        <p:spPr>
          <a:xfrm>
            <a:off x="7680960" y="1463040"/>
            <a:ext cx="384048" cy="384048"/>
          </a:xfrm>
          <a:prstGeom prst="ellipse">
            <a:avLst/>
          </a:prstGeom>
          <a:solidFill>
            <a:srgbClr val="1E7D32"/>
          </a:solidFill>
          <a:ln/>
        </p:spPr>
      </p:sp>
      <p:pic>
        <p:nvPicPr>
          <p:cNvPr id="18" name="Image 1" descr="preencoded.png"/>
          <p:cNvPicPr>
            <a:picLocks noChangeAspect="1"/>
          </p:cNvPicPr>
          <p:nvPr/>
        </p:nvPicPr>
        <p:blipFill>
          <a:blip r:embed="rId4"/>
          <a:stretch>
            <a:fillRect/>
          </a:stretch>
        </p:blipFill>
        <p:spPr>
          <a:xfrm>
            <a:off x="7763256" y="1545336"/>
            <a:ext cx="219456" cy="219456"/>
          </a:xfrm>
          <a:prstGeom prst="rect">
            <a:avLst/>
          </a:prstGeom>
        </p:spPr>
      </p:pic>
      <p:sp>
        <p:nvSpPr>
          <p:cNvPr id="19" name="Text 15"/>
          <p:cNvSpPr/>
          <p:nvPr/>
        </p:nvSpPr>
        <p:spPr>
          <a:xfrm>
            <a:off x="8193024" y="1435608"/>
            <a:ext cx="3383280" cy="457200"/>
          </a:xfrm>
          <a:prstGeom prst="rect">
            <a:avLst/>
          </a:prstGeom>
          <a:noFill/>
          <a:ln/>
        </p:spPr>
        <p:txBody>
          <a:bodyPr wrap="square" lIns="0" tIns="0" rIns="0" bIns="0" rtlCol="0" anchor="ctr"/>
          <a:lstStyle/>
          <a:p>
            <a:pPr marL="0" indent="0">
              <a:buNone/>
            </a:pPr>
            <a:r>
              <a:rPr lang="en-US" sz="1500" b="1" dirty="0">
                <a:solidFill>
                  <a:srgbClr val="1B2733"/>
                </a:solidFill>
              </a:rPr>
              <a:t>Module Summary</a:t>
            </a:r>
            <a:endParaRPr lang="en-US" sz="1500" dirty="0"/>
          </a:p>
        </p:txBody>
      </p:sp>
      <p:sp>
        <p:nvSpPr>
          <p:cNvPr id="20" name="Text 16"/>
          <p:cNvSpPr/>
          <p:nvPr/>
        </p:nvSpPr>
        <p:spPr>
          <a:xfrm>
            <a:off x="7680960" y="2011680"/>
            <a:ext cx="3931920" cy="39319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00" dirty="0">
                <a:solidFill>
                  <a:srgbClr val="1B2733"/>
                </a:solidFill>
              </a:rPr>
              <a:t>Variables store data using simple naming rules</a:t>
            </a:r>
            <a:endParaRPr lang="en-US" sz="1300" dirty="0"/>
          </a:p>
          <a:p>
            <a:pPr marL="342900" indent="-342900">
              <a:lnSpc>
                <a:spcPct val="120000"/>
              </a:lnSpc>
              <a:spcAft>
                <a:spcPts val="1200"/>
              </a:spcAft>
              <a:buSzPct val="100000"/>
              <a:buChar char="✓"/>
            </a:pPr>
            <a:r>
              <a:rPr lang="en-US" sz="1300" dirty="0">
                <a:solidFill>
                  <a:srgbClr val="1B2733"/>
                </a:solidFill>
              </a:rPr>
              <a:t>input()/print() handle interaction with the user</a:t>
            </a:r>
            <a:endParaRPr lang="en-US" sz="1300" dirty="0"/>
          </a:p>
          <a:p>
            <a:pPr marL="342900" indent="-342900">
              <a:lnSpc>
                <a:spcPct val="120000"/>
              </a:lnSpc>
              <a:spcAft>
                <a:spcPts val="1200"/>
              </a:spcAft>
              <a:buSzPct val="100000"/>
              <a:buChar char="✓"/>
            </a:pPr>
            <a:r>
              <a:rPr lang="en-US" sz="1300" dirty="0">
                <a:solidFill>
                  <a:srgbClr val="1B2733"/>
                </a:solidFill>
              </a:rPr>
              <a:t>Python has 4 core data types: int, float, str, bool</a:t>
            </a:r>
            <a:endParaRPr lang="en-US" sz="1300" dirty="0"/>
          </a:p>
          <a:p>
            <a:pPr marL="342900" indent="-342900">
              <a:lnSpc>
                <a:spcPct val="120000"/>
              </a:lnSpc>
              <a:spcAft>
                <a:spcPts val="1200"/>
              </a:spcAft>
              <a:buSzPct val="100000"/>
              <a:buChar char="✓"/>
            </a:pPr>
            <a:r>
              <a:rPr lang="en-US" sz="1300" dirty="0">
                <a:solidFill>
                  <a:srgbClr val="1B2733"/>
                </a:solidFill>
              </a:rPr>
              <a:t>Operators let you calculate, compare, and combine conditions</a:t>
            </a:r>
            <a:endParaRPr lang="en-US" sz="1300" dirty="0"/>
          </a:p>
        </p:txBody>
      </p:sp>
      <p:sp>
        <p:nvSpPr>
          <p:cNvPr id="21"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17</a:t>
            </a:r>
            <a:endParaRPr lang="en-US" sz="1000" dirty="0"/>
          </a:p>
        </p:txBody>
      </p:sp>
      <p:sp>
        <p:nvSpPr>
          <p:cNvPr id="22"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1E5A96">
              <a:alpha val="45000"/>
            </a:srgbClr>
          </a:solidFill>
          <a:ln/>
        </p:spPr>
      </p:sp>
      <p:sp>
        <p:nvSpPr>
          <p:cNvPr id="3" name="Shape 1"/>
          <p:cNvSpPr/>
          <p:nvPr/>
        </p:nvSpPr>
        <p:spPr>
          <a:xfrm>
            <a:off x="731520" y="914400"/>
            <a:ext cx="1554480" cy="365760"/>
          </a:xfrm>
          <a:prstGeom prst="roundRect">
            <a:avLst>
              <a:gd name="adj" fmla="val 50000"/>
            </a:avLst>
          </a:prstGeom>
          <a:solidFill>
            <a:srgbClr val="1D3A5C"/>
          </a:solidFill>
          <a:ln/>
        </p:spPr>
      </p:sp>
      <p:sp>
        <p:nvSpPr>
          <p:cNvPr id="4" name="Text 2"/>
          <p:cNvSpPr/>
          <p:nvPr/>
        </p:nvSpPr>
        <p:spPr>
          <a:xfrm>
            <a:off x="731520" y="914400"/>
            <a:ext cx="1554480" cy="365760"/>
          </a:xfrm>
          <a:prstGeom prst="rect">
            <a:avLst/>
          </a:prstGeom>
          <a:noFill/>
          <a:ln/>
        </p:spPr>
        <p:txBody>
          <a:bodyPr wrap="square" lIns="0" tIns="0" rIns="0" bIns="0" rtlCol="0" anchor="ctr"/>
          <a:lstStyle/>
          <a:p>
            <a:pPr marL="0" indent="0" algn="ctr">
              <a:buNone/>
            </a:pPr>
            <a:r>
              <a:rPr lang="en-US" sz="1100" b="1" dirty="0">
                <a:solidFill>
                  <a:srgbClr val="F2A93B"/>
                </a:solidFill>
              </a:rPr>
              <a:t>MODULE 3 OF 9</a:t>
            </a:r>
            <a:endParaRPr lang="en-US" sz="1100" dirty="0"/>
          </a:p>
        </p:txBody>
      </p:sp>
      <p:sp>
        <p:nvSpPr>
          <p:cNvPr id="5" name="Shape 3"/>
          <p:cNvSpPr/>
          <p:nvPr/>
        </p:nvSpPr>
        <p:spPr>
          <a:xfrm>
            <a:off x="731520" y="1508760"/>
            <a:ext cx="960120" cy="960120"/>
          </a:xfrm>
          <a:prstGeom prst="roundRect">
            <a:avLst>
              <a:gd name="adj" fmla="val 19048"/>
            </a:avLst>
          </a:prstGeom>
          <a:solidFill>
            <a:srgbClr val="1E5A96"/>
          </a:solidFill>
          <a:ln/>
        </p:spPr>
      </p:sp>
      <p:pic>
        <p:nvPicPr>
          <p:cNvPr id="6" name="Image 0" descr="preencoded.png"/>
          <p:cNvPicPr>
            <a:picLocks noChangeAspect="1"/>
          </p:cNvPicPr>
          <p:nvPr/>
        </p:nvPicPr>
        <p:blipFill>
          <a:blip r:embed="rId3"/>
          <a:stretch>
            <a:fillRect/>
          </a:stretch>
        </p:blipFill>
        <p:spPr>
          <a:xfrm>
            <a:off x="960120" y="1737360"/>
            <a:ext cx="502920" cy="502920"/>
          </a:xfrm>
          <a:prstGeom prst="rect">
            <a:avLst/>
          </a:prstGeom>
        </p:spPr>
      </p:pic>
      <p:sp>
        <p:nvSpPr>
          <p:cNvPr id="7" name="Text 4"/>
          <p:cNvSpPr/>
          <p:nvPr/>
        </p:nvSpPr>
        <p:spPr>
          <a:xfrm>
            <a:off x="1874520" y="1463040"/>
            <a:ext cx="91440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Conditions</a:t>
            </a:r>
            <a:endParaRPr lang="en-US" sz="3200" dirty="0"/>
          </a:p>
        </p:txBody>
      </p:sp>
      <p:sp>
        <p:nvSpPr>
          <p:cNvPr id="8" name="Shape 5"/>
          <p:cNvSpPr/>
          <p:nvPr/>
        </p:nvSpPr>
        <p:spPr>
          <a:xfrm>
            <a:off x="1874520" y="2514600"/>
            <a:ext cx="1417320" cy="594360"/>
          </a:xfrm>
          <a:prstGeom prst="roundRect">
            <a:avLst>
              <a:gd name="adj" fmla="val 12308"/>
            </a:avLst>
          </a:prstGeom>
          <a:solidFill>
            <a:srgbClr val="1D3A5C"/>
          </a:solidFill>
          <a:ln w="12700">
            <a:solidFill>
              <a:srgbClr val="1E5A96"/>
            </a:solidFill>
            <a:prstDash val="solid"/>
          </a:ln>
        </p:spPr>
      </p:sp>
      <p:sp>
        <p:nvSpPr>
          <p:cNvPr id="9" name="Text 6"/>
          <p:cNvSpPr/>
          <p:nvPr/>
        </p:nvSpPr>
        <p:spPr>
          <a:xfrm>
            <a:off x="187452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0" name="Text 7"/>
          <p:cNvSpPr/>
          <p:nvPr/>
        </p:nvSpPr>
        <p:spPr>
          <a:xfrm>
            <a:off x="187452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Theory</a:t>
            </a:r>
            <a:endParaRPr lang="en-US" sz="900" dirty="0"/>
          </a:p>
        </p:txBody>
      </p:sp>
      <p:sp>
        <p:nvSpPr>
          <p:cNvPr id="11" name="Shape 8"/>
          <p:cNvSpPr/>
          <p:nvPr/>
        </p:nvSpPr>
        <p:spPr>
          <a:xfrm>
            <a:off x="3429000" y="2514600"/>
            <a:ext cx="1417320" cy="594360"/>
          </a:xfrm>
          <a:prstGeom prst="roundRect">
            <a:avLst>
              <a:gd name="adj" fmla="val 12308"/>
            </a:avLst>
          </a:prstGeom>
          <a:solidFill>
            <a:srgbClr val="1D3A5C"/>
          </a:solidFill>
          <a:ln w="12700">
            <a:solidFill>
              <a:srgbClr val="1E5A96"/>
            </a:solidFill>
            <a:prstDash val="solid"/>
          </a:ln>
        </p:spPr>
      </p:sp>
      <p:sp>
        <p:nvSpPr>
          <p:cNvPr id="12" name="Text 9"/>
          <p:cNvSpPr/>
          <p:nvPr/>
        </p:nvSpPr>
        <p:spPr>
          <a:xfrm>
            <a:off x="342900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3" name="Text 10"/>
          <p:cNvSpPr/>
          <p:nvPr/>
        </p:nvSpPr>
        <p:spPr>
          <a:xfrm>
            <a:off x="342900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Practical</a:t>
            </a:r>
            <a:endParaRPr lang="en-US" sz="900" dirty="0"/>
          </a:p>
        </p:txBody>
      </p:sp>
      <p:sp>
        <p:nvSpPr>
          <p:cNvPr id="14" name="Shape 11"/>
          <p:cNvSpPr/>
          <p:nvPr/>
        </p:nvSpPr>
        <p:spPr>
          <a:xfrm>
            <a:off x="4983480" y="2514600"/>
            <a:ext cx="1417320" cy="594360"/>
          </a:xfrm>
          <a:prstGeom prst="roundRect">
            <a:avLst>
              <a:gd name="adj" fmla="val 12308"/>
            </a:avLst>
          </a:prstGeom>
          <a:solidFill>
            <a:srgbClr val="1D3A5C"/>
          </a:solidFill>
          <a:ln w="12700">
            <a:solidFill>
              <a:srgbClr val="1E5A96"/>
            </a:solidFill>
            <a:prstDash val="solid"/>
          </a:ln>
        </p:spPr>
      </p:sp>
      <p:sp>
        <p:nvSpPr>
          <p:cNvPr id="15" name="Text 12"/>
          <p:cNvSpPr/>
          <p:nvPr/>
        </p:nvSpPr>
        <p:spPr>
          <a:xfrm>
            <a:off x="498348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6" name="Text 13"/>
          <p:cNvSpPr/>
          <p:nvPr/>
        </p:nvSpPr>
        <p:spPr>
          <a:xfrm>
            <a:off x="498348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Total</a:t>
            </a:r>
            <a:endParaRPr lang="en-US" sz="900" dirty="0"/>
          </a:p>
        </p:txBody>
      </p:sp>
      <p:sp>
        <p:nvSpPr>
          <p:cNvPr id="17" name="Text 14"/>
          <p:cNvSpPr/>
          <p:nvPr/>
        </p:nvSpPr>
        <p:spPr>
          <a:xfrm>
            <a:off x="731520" y="3566160"/>
            <a:ext cx="5486400" cy="274320"/>
          </a:xfrm>
          <a:prstGeom prst="rect">
            <a:avLst/>
          </a:prstGeom>
          <a:noFill/>
          <a:ln/>
        </p:spPr>
        <p:txBody>
          <a:bodyPr wrap="square" lIns="0" tIns="0" rIns="0" bIns="0" rtlCol="0" anchor="ctr"/>
          <a:lstStyle/>
          <a:p>
            <a:pPr marL="0" indent="0">
              <a:buNone/>
            </a:pPr>
            <a:r>
              <a:rPr lang="en-US" sz="1150" b="1" kern="0" spc="150" dirty="0">
                <a:solidFill>
                  <a:srgbClr val="F2A93B"/>
                </a:solidFill>
              </a:rPr>
              <a:t>TOPICS COVERED</a:t>
            </a:r>
            <a:endParaRPr lang="en-US" sz="1150" dirty="0"/>
          </a:p>
        </p:txBody>
      </p:sp>
      <p:sp>
        <p:nvSpPr>
          <p:cNvPr id="18" name="Shape 15"/>
          <p:cNvSpPr/>
          <p:nvPr/>
        </p:nvSpPr>
        <p:spPr>
          <a:xfrm>
            <a:off x="731520" y="4005072"/>
            <a:ext cx="91440" cy="91440"/>
          </a:xfrm>
          <a:prstGeom prst="ellipse">
            <a:avLst/>
          </a:prstGeom>
          <a:solidFill>
            <a:srgbClr val="F2A93B"/>
          </a:solidFill>
          <a:ln/>
        </p:spPr>
      </p:sp>
      <p:sp>
        <p:nvSpPr>
          <p:cNvPr id="19" name="Text 16"/>
          <p:cNvSpPr/>
          <p:nvPr/>
        </p:nvSpPr>
        <p:spPr>
          <a:xfrm>
            <a:off x="100584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if</a:t>
            </a:r>
            <a:endParaRPr lang="en-US" sz="1300" dirty="0"/>
          </a:p>
        </p:txBody>
      </p:sp>
      <p:sp>
        <p:nvSpPr>
          <p:cNvPr id="20" name="Shape 17"/>
          <p:cNvSpPr/>
          <p:nvPr/>
        </p:nvSpPr>
        <p:spPr>
          <a:xfrm>
            <a:off x="5943600" y="4005072"/>
            <a:ext cx="91440" cy="91440"/>
          </a:xfrm>
          <a:prstGeom prst="ellipse">
            <a:avLst/>
          </a:prstGeom>
          <a:solidFill>
            <a:srgbClr val="F2A93B"/>
          </a:solidFill>
          <a:ln/>
        </p:spPr>
      </p:sp>
      <p:sp>
        <p:nvSpPr>
          <p:cNvPr id="21" name="Text 18"/>
          <p:cNvSpPr/>
          <p:nvPr/>
        </p:nvSpPr>
        <p:spPr>
          <a:xfrm>
            <a:off x="621792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else</a:t>
            </a:r>
            <a:endParaRPr lang="en-US" sz="1300" dirty="0"/>
          </a:p>
        </p:txBody>
      </p:sp>
      <p:sp>
        <p:nvSpPr>
          <p:cNvPr id="22" name="Shape 19"/>
          <p:cNvSpPr/>
          <p:nvPr/>
        </p:nvSpPr>
        <p:spPr>
          <a:xfrm>
            <a:off x="731520" y="4462272"/>
            <a:ext cx="91440" cy="91440"/>
          </a:xfrm>
          <a:prstGeom prst="ellipse">
            <a:avLst/>
          </a:prstGeom>
          <a:solidFill>
            <a:srgbClr val="F2A93B"/>
          </a:solidFill>
          <a:ln/>
        </p:spPr>
      </p:sp>
      <p:sp>
        <p:nvSpPr>
          <p:cNvPr id="23" name="Text 20"/>
          <p:cNvSpPr/>
          <p:nvPr/>
        </p:nvSpPr>
        <p:spPr>
          <a:xfrm>
            <a:off x="100584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elif</a:t>
            </a:r>
            <a:endParaRPr lang="en-US" sz="1300" dirty="0"/>
          </a:p>
        </p:txBody>
      </p:sp>
      <p:sp>
        <p:nvSpPr>
          <p:cNvPr id="24" name="Shape 21"/>
          <p:cNvSpPr/>
          <p:nvPr/>
        </p:nvSpPr>
        <p:spPr>
          <a:xfrm>
            <a:off x="5943600" y="4462272"/>
            <a:ext cx="91440" cy="91440"/>
          </a:xfrm>
          <a:prstGeom prst="ellipse">
            <a:avLst/>
          </a:prstGeom>
          <a:solidFill>
            <a:srgbClr val="F2A93B"/>
          </a:solidFill>
          <a:ln/>
        </p:spPr>
      </p:sp>
      <p:sp>
        <p:nvSpPr>
          <p:cNvPr id="25" name="Text 22"/>
          <p:cNvSpPr/>
          <p:nvPr/>
        </p:nvSpPr>
        <p:spPr>
          <a:xfrm>
            <a:off x="621792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Nested Conditions</a:t>
            </a:r>
            <a:endParaRPr lang="en-US" sz="1300" dirty="0"/>
          </a:p>
        </p:txBody>
      </p:sp>
      <p:sp>
        <p:nvSpPr>
          <p:cNvPr id="26" name="Shape 23"/>
          <p:cNvSpPr/>
          <p:nvPr/>
        </p:nvSpPr>
        <p:spPr>
          <a:xfrm>
            <a:off x="731520" y="4919472"/>
            <a:ext cx="91440" cy="91440"/>
          </a:xfrm>
          <a:prstGeom prst="ellipse">
            <a:avLst/>
          </a:prstGeom>
          <a:solidFill>
            <a:srgbClr val="F2A93B"/>
          </a:solidFill>
          <a:ln/>
        </p:spPr>
      </p:sp>
      <p:sp>
        <p:nvSpPr>
          <p:cNvPr id="27" name="Text 24"/>
          <p:cNvSpPr/>
          <p:nvPr/>
        </p:nvSpPr>
        <p:spPr>
          <a:xfrm>
            <a:off x="1005840" y="48463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Match Case</a:t>
            </a:r>
            <a:endParaRPr lang="en-US" sz="1300" dirty="0"/>
          </a:p>
        </p:txBody>
      </p:sp>
      <p:sp>
        <p:nvSpPr>
          <p:cNvPr id="29" name="Text 25"/>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18</a:t>
            </a:r>
            <a:endParaRPr lang="en-US" sz="1000" dirty="0"/>
          </a:p>
        </p:txBody>
      </p:sp>
      <p:sp>
        <p:nvSpPr>
          <p:cNvPr id="30" name="Text 26"/>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3 — CONDITIONS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Learning Objectives &amp; Theory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846320" cy="457200"/>
          </a:xfrm>
          <a:prstGeom prst="rect">
            <a:avLst/>
          </a:prstGeom>
          <a:noFill/>
          <a:ln/>
        </p:spPr>
        <p:txBody>
          <a:bodyPr wrap="square" lIns="0" tIns="0" rIns="0" bIns="0" rtlCol="0" anchor="ctr"/>
          <a:lstStyle/>
          <a:p>
            <a:pPr marL="0" indent="0">
              <a:buNone/>
            </a:pPr>
            <a:r>
              <a:rPr lang="en-US" sz="1500" b="1" dirty="0">
                <a:solidFill>
                  <a:srgbClr val="1B2733"/>
                </a:solidFill>
              </a:rPr>
              <a:t>Learning Objectives</a:t>
            </a:r>
            <a:endParaRPr lang="en-US" sz="1500" dirty="0"/>
          </a:p>
        </p:txBody>
      </p:sp>
      <p:sp>
        <p:nvSpPr>
          <p:cNvPr id="7" name="Text 4"/>
          <p:cNvSpPr/>
          <p:nvPr/>
        </p:nvSpPr>
        <p:spPr>
          <a:xfrm>
            <a:off x="548640" y="2011680"/>
            <a:ext cx="539496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Understand decision-making in programs</a:t>
            </a:r>
            <a:endParaRPr lang="en-US" sz="1300" dirty="0"/>
          </a:p>
          <a:p>
            <a:pPr marL="342900" indent="-342900">
              <a:lnSpc>
                <a:spcPct val="115000"/>
              </a:lnSpc>
              <a:spcAft>
                <a:spcPts val="1000"/>
              </a:spcAft>
              <a:buSzPct val="100000"/>
              <a:buChar char="●"/>
            </a:pPr>
            <a:r>
              <a:rPr lang="en-US" sz="1300" dirty="0">
                <a:solidFill>
                  <a:srgbClr val="1B2733"/>
                </a:solidFill>
              </a:rPr>
              <a:t>Use if / elif / else to branch logic</a:t>
            </a:r>
            <a:endParaRPr lang="en-US" sz="1300" dirty="0"/>
          </a:p>
          <a:p>
            <a:pPr marL="342900" indent="-342900">
              <a:lnSpc>
                <a:spcPct val="115000"/>
              </a:lnSpc>
              <a:spcAft>
                <a:spcPts val="1000"/>
              </a:spcAft>
              <a:buSzPct val="100000"/>
              <a:buChar char="●"/>
            </a:pPr>
            <a:r>
              <a:rPr lang="en-US" sz="1300" dirty="0">
                <a:solidFill>
                  <a:srgbClr val="1B2733"/>
                </a:solidFill>
              </a:rPr>
              <a:t>Write nested conditions for complex decisions</a:t>
            </a:r>
            <a:endParaRPr lang="en-US" sz="1300" dirty="0"/>
          </a:p>
          <a:p>
            <a:pPr marL="342900" indent="-342900">
              <a:lnSpc>
                <a:spcPct val="115000"/>
              </a:lnSpc>
              <a:spcAft>
                <a:spcPts val="1000"/>
              </a:spcAft>
              <a:buSzPct val="100000"/>
              <a:buChar char="●"/>
            </a:pPr>
            <a:r>
              <a:rPr lang="en-US" sz="1300" dirty="0">
                <a:solidFill>
                  <a:srgbClr val="1B2733"/>
                </a:solidFill>
              </a:rPr>
              <a:t>Use Python's match-case statement</a:t>
            </a:r>
            <a:endParaRPr lang="en-US" sz="1300" dirty="0"/>
          </a:p>
        </p:txBody>
      </p:sp>
      <p:sp>
        <p:nvSpPr>
          <p:cNvPr id="8" name="Shape 5"/>
          <p:cNvSpPr/>
          <p:nvPr/>
        </p:nvSpPr>
        <p:spPr>
          <a:xfrm>
            <a:off x="6172200" y="1417320"/>
            <a:ext cx="13716" cy="4663440"/>
          </a:xfrm>
          <a:prstGeom prst="rect">
            <a:avLst/>
          </a:prstGeom>
          <a:solidFill>
            <a:srgbClr val="DCE6F0"/>
          </a:solidFill>
          <a:ln/>
        </p:spPr>
      </p:sp>
      <p:sp>
        <p:nvSpPr>
          <p:cNvPr id="9" name="Shape 6"/>
          <p:cNvSpPr/>
          <p:nvPr/>
        </p:nvSpPr>
        <p:spPr>
          <a:xfrm>
            <a:off x="6400800" y="1463040"/>
            <a:ext cx="384048" cy="384048"/>
          </a:xfrm>
          <a:prstGeom prst="ellipse">
            <a:avLst/>
          </a:prstGeom>
          <a:solidFill>
            <a:srgbClr val="1E5A96"/>
          </a:solidFill>
          <a:ln/>
        </p:spPr>
      </p:sp>
      <p:pic>
        <p:nvPicPr>
          <p:cNvPr id="10" name="Image 1" descr="preencoded.png"/>
          <p:cNvPicPr>
            <a:picLocks noChangeAspect="1"/>
          </p:cNvPicPr>
          <p:nvPr/>
        </p:nvPicPr>
        <p:blipFill>
          <a:blip r:embed="rId4"/>
          <a:stretch>
            <a:fillRect/>
          </a:stretch>
        </p:blipFill>
        <p:spPr>
          <a:xfrm>
            <a:off x="6483096" y="1545336"/>
            <a:ext cx="219456" cy="219456"/>
          </a:xfrm>
          <a:prstGeom prst="rect">
            <a:avLst/>
          </a:prstGeom>
        </p:spPr>
      </p:pic>
      <p:sp>
        <p:nvSpPr>
          <p:cNvPr id="11" name="Text 7"/>
          <p:cNvSpPr/>
          <p:nvPr/>
        </p:nvSpPr>
        <p:spPr>
          <a:xfrm>
            <a:off x="6912864" y="1435608"/>
            <a:ext cx="4663440" cy="457200"/>
          </a:xfrm>
          <a:prstGeom prst="rect">
            <a:avLst/>
          </a:prstGeom>
          <a:noFill/>
          <a:ln/>
        </p:spPr>
        <p:txBody>
          <a:bodyPr wrap="square" lIns="0" tIns="0" rIns="0" bIns="0" rtlCol="0" anchor="ctr"/>
          <a:lstStyle/>
          <a:p>
            <a:pPr marL="0" indent="0">
              <a:buNone/>
            </a:pPr>
            <a:r>
              <a:rPr lang="en-US" sz="1500" b="1" dirty="0">
                <a:solidFill>
                  <a:srgbClr val="1B2733"/>
                </a:solidFill>
              </a:rPr>
              <a:t>Theory Explanation</a:t>
            </a:r>
            <a:endParaRPr lang="en-US" sz="1500" dirty="0"/>
          </a:p>
        </p:txBody>
      </p:sp>
      <p:sp>
        <p:nvSpPr>
          <p:cNvPr id="12" name="Text 8"/>
          <p:cNvSpPr/>
          <p:nvPr/>
        </p:nvSpPr>
        <p:spPr>
          <a:xfrm>
            <a:off x="6400800" y="2011680"/>
            <a:ext cx="521208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A condition evaluates to True or False (Boolean logic)</a:t>
            </a:r>
            <a:endParaRPr lang="en-US" sz="1300" dirty="0"/>
          </a:p>
          <a:p>
            <a:pPr marL="342900" indent="-342900">
              <a:lnSpc>
                <a:spcPct val="115000"/>
              </a:lnSpc>
              <a:spcAft>
                <a:spcPts val="1000"/>
              </a:spcAft>
              <a:buSzPct val="100000"/>
              <a:buChar char="●"/>
            </a:pPr>
            <a:r>
              <a:rPr lang="en-US" sz="1300" dirty="0">
                <a:solidFill>
                  <a:srgbClr val="1B2733"/>
                </a:solidFill>
              </a:rPr>
              <a:t>if runs a block only when its condition is True</a:t>
            </a:r>
            <a:endParaRPr lang="en-US" sz="1300" dirty="0"/>
          </a:p>
          <a:p>
            <a:pPr marL="342900" indent="-342900">
              <a:lnSpc>
                <a:spcPct val="115000"/>
              </a:lnSpc>
              <a:spcAft>
                <a:spcPts val="1000"/>
              </a:spcAft>
              <a:buSzPct val="100000"/>
              <a:buChar char="●"/>
            </a:pPr>
            <a:r>
              <a:rPr lang="en-US" sz="1300" dirty="0">
                <a:solidFill>
                  <a:srgbClr val="1B2733"/>
                </a:solidFill>
              </a:rPr>
              <a:t>elif checks additional conditions; else is the fallback</a:t>
            </a:r>
            <a:endParaRPr lang="en-US" sz="1300" dirty="0"/>
          </a:p>
          <a:p>
            <a:pPr marL="342900" indent="-342900">
              <a:lnSpc>
                <a:spcPct val="115000"/>
              </a:lnSpc>
              <a:spcAft>
                <a:spcPts val="1000"/>
              </a:spcAft>
              <a:buSzPct val="100000"/>
              <a:buChar char="●"/>
            </a:pPr>
            <a:r>
              <a:rPr lang="en-US" sz="1300" dirty="0">
                <a:solidFill>
                  <a:srgbClr val="1B2733"/>
                </a:solidFill>
              </a:rPr>
              <a:t>Indentation defines which code belongs to which block</a:t>
            </a:r>
            <a:endParaRPr lang="en-US" sz="1300" dirty="0"/>
          </a:p>
          <a:p>
            <a:pPr marL="342900" indent="-342900">
              <a:lnSpc>
                <a:spcPct val="115000"/>
              </a:lnSpc>
              <a:spcAft>
                <a:spcPts val="1000"/>
              </a:spcAft>
              <a:buSzPct val="100000"/>
              <a:buChar char="●"/>
            </a:pPr>
            <a:r>
              <a:rPr lang="en-US" sz="1300" dirty="0">
                <a:solidFill>
                  <a:srgbClr val="1B2733"/>
                </a:solidFill>
              </a:rPr>
              <a:t>match-case (Python 3.10+) is a cleaner alternative to long if-elif chains</a:t>
            </a:r>
            <a:endParaRPr lang="en-US" sz="1300" dirty="0"/>
          </a:p>
        </p:txBody>
      </p:sp>
      <p:sp>
        <p:nvSpPr>
          <p:cNvPr id="13" name="Text 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19</a:t>
            </a:r>
            <a:endParaRPr lang="en-US" sz="10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3 — CONDITIONS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Concept Diagram</a:t>
            </a:r>
            <a:endParaRPr lang="en-US" sz="2700" dirty="0"/>
          </a:p>
        </p:txBody>
      </p:sp>
      <p:sp>
        <p:nvSpPr>
          <p:cNvPr id="4" name="Shape 2"/>
          <p:cNvSpPr/>
          <p:nvPr/>
        </p:nvSpPr>
        <p:spPr>
          <a:xfrm>
            <a:off x="457200" y="1417320"/>
            <a:ext cx="11247120" cy="4663440"/>
          </a:xfrm>
          <a:prstGeom prst="roundRect">
            <a:avLst>
              <a:gd name="adj" fmla="val 1961"/>
            </a:avLst>
          </a:prstGeom>
          <a:solidFill>
            <a:srgbClr val="EEF4FA"/>
          </a:solidFill>
          <a:ln/>
        </p:spPr>
      </p:sp>
      <p:sp>
        <p:nvSpPr>
          <p:cNvPr id="5" name="Shape 3"/>
          <p:cNvSpPr/>
          <p:nvPr/>
        </p:nvSpPr>
        <p:spPr>
          <a:xfrm>
            <a:off x="3273552" y="1783080"/>
            <a:ext cx="1828800" cy="457200"/>
          </a:xfrm>
          <a:prstGeom prst="roundRect">
            <a:avLst>
              <a:gd name="adj" fmla="val 14000"/>
            </a:avLst>
          </a:prstGeom>
          <a:solidFill>
            <a:srgbClr val="132A46"/>
          </a:solidFill>
          <a:ln/>
        </p:spPr>
      </p:sp>
      <p:sp>
        <p:nvSpPr>
          <p:cNvPr id="6" name="Text 4"/>
          <p:cNvSpPr/>
          <p:nvPr/>
        </p:nvSpPr>
        <p:spPr>
          <a:xfrm>
            <a:off x="3364992" y="1783080"/>
            <a:ext cx="1645920" cy="457200"/>
          </a:xfrm>
          <a:prstGeom prst="rect">
            <a:avLst/>
          </a:prstGeom>
          <a:noFill/>
          <a:ln/>
        </p:spPr>
        <p:txBody>
          <a:bodyPr wrap="square" lIns="0" tIns="0" rIns="0" bIns="0" rtlCol="0" anchor="ctr"/>
          <a:lstStyle/>
          <a:p>
            <a:pPr marL="0" indent="0" algn="ctr">
              <a:buNone/>
            </a:pPr>
            <a:r>
              <a:rPr lang="en-US" sz="1150" b="1" dirty="0">
                <a:solidFill>
                  <a:srgbClr val="FFFFFF"/>
                </a:solidFill>
              </a:rPr>
              <a:t>Start</a:t>
            </a:r>
            <a:endParaRPr lang="en-US" sz="1150" dirty="0"/>
          </a:p>
        </p:txBody>
      </p:sp>
      <p:sp>
        <p:nvSpPr>
          <p:cNvPr id="7" name="Shape 5"/>
          <p:cNvSpPr/>
          <p:nvPr/>
        </p:nvSpPr>
        <p:spPr>
          <a:xfrm>
            <a:off x="4187952" y="2240280"/>
            <a:ext cx="0" cy="365760"/>
          </a:xfrm>
          <a:prstGeom prst="line">
            <a:avLst/>
          </a:prstGeom>
          <a:noFill/>
          <a:ln w="25400">
            <a:solidFill>
              <a:srgbClr val="5C6B7A"/>
            </a:solidFill>
            <a:prstDash val="solid"/>
            <a:tailEnd type="triangle"/>
          </a:ln>
        </p:spPr>
      </p:sp>
      <p:sp>
        <p:nvSpPr>
          <p:cNvPr id="8" name="Shape 6"/>
          <p:cNvSpPr/>
          <p:nvPr/>
        </p:nvSpPr>
        <p:spPr>
          <a:xfrm>
            <a:off x="2999232" y="2651760"/>
            <a:ext cx="2377440" cy="914400"/>
          </a:xfrm>
          <a:prstGeom prst="diamond">
            <a:avLst/>
          </a:prstGeom>
          <a:solidFill>
            <a:srgbClr val="F2A93B"/>
          </a:solidFill>
          <a:ln/>
        </p:spPr>
      </p:sp>
      <p:sp>
        <p:nvSpPr>
          <p:cNvPr id="9" name="Text 7"/>
          <p:cNvSpPr/>
          <p:nvPr/>
        </p:nvSpPr>
        <p:spPr>
          <a:xfrm>
            <a:off x="3090672" y="2651760"/>
            <a:ext cx="2194560" cy="914400"/>
          </a:xfrm>
          <a:prstGeom prst="rect">
            <a:avLst/>
          </a:prstGeom>
          <a:noFill/>
          <a:ln/>
        </p:spPr>
        <p:txBody>
          <a:bodyPr wrap="square" lIns="0" tIns="0" rIns="0" bIns="0" rtlCol="0" anchor="ctr"/>
          <a:lstStyle/>
          <a:p>
            <a:pPr marL="0" indent="0" algn="ctr">
              <a:buNone/>
            </a:pPr>
            <a:r>
              <a:rPr lang="en-US" sz="1100" b="1" dirty="0">
                <a:solidFill>
                  <a:srgbClr val="1B2733"/>
                </a:solidFill>
              </a:rPr>
              <a:t>age &gt;= 18 ?</a:t>
            </a:r>
            <a:endParaRPr lang="en-US" sz="1100" dirty="0"/>
          </a:p>
        </p:txBody>
      </p:sp>
      <p:sp>
        <p:nvSpPr>
          <p:cNvPr id="10" name="Shape 8"/>
          <p:cNvSpPr/>
          <p:nvPr/>
        </p:nvSpPr>
        <p:spPr>
          <a:xfrm>
            <a:off x="4187952" y="3566160"/>
            <a:ext cx="0" cy="365760"/>
          </a:xfrm>
          <a:prstGeom prst="line">
            <a:avLst/>
          </a:prstGeom>
          <a:noFill/>
          <a:ln w="25400">
            <a:solidFill>
              <a:srgbClr val="5C6B7A"/>
            </a:solidFill>
            <a:prstDash val="solid"/>
            <a:tailEnd type="triangle"/>
          </a:ln>
        </p:spPr>
      </p:sp>
      <p:sp>
        <p:nvSpPr>
          <p:cNvPr id="11" name="Shape 9"/>
          <p:cNvSpPr/>
          <p:nvPr/>
        </p:nvSpPr>
        <p:spPr>
          <a:xfrm>
            <a:off x="3182112" y="4000500"/>
            <a:ext cx="2011680" cy="502920"/>
          </a:xfrm>
          <a:prstGeom prst="roundRect">
            <a:avLst>
              <a:gd name="adj" fmla="val 12727"/>
            </a:avLst>
          </a:prstGeom>
          <a:solidFill>
            <a:srgbClr val="1E5A96"/>
          </a:solidFill>
          <a:ln/>
        </p:spPr>
      </p:sp>
      <p:sp>
        <p:nvSpPr>
          <p:cNvPr id="12" name="Text 10"/>
          <p:cNvSpPr/>
          <p:nvPr/>
        </p:nvSpPr>
        <p:spPr>
          <a:xfrm>
            <a:off x="3273552" y="4000500"/>
            <a:ext cx="1828800" cy="502920"/>
          </a:xfrm>
          <a:prstGeom prst="rect">
            <a:avLst/>
          </a:prstGeom>
          <a:noFill/>
          <a:ln/>
        </p:spPr>
        <p:txBody>
          <a:bodyPr wrap="square" lIns="0" tIns="0" rIns="0" bIns="0" rtlCol="0" anchor="ctr"/>
          <a:lstStyle/>
          <a:p>
            <a:pPr marL="0" indent="0" algn="ctr">
              <a:buNone/>
            </a:pPr>
            <a:r>
              <a:rPr lang="en-US" sz="1150" b="1" dirty="0">
                <a:solidFill>
                  <a:srgbClr val="FFFFFF"/>
                </a:solidFill>
              </a:rPr>
              <a:t>print("Eligible")</a:t>
            </a:r>
            <a:endParaRPr lang="en-US" sz="1150" dirty="0"/>
          </a:p>
        </p:txBody>
      </p:sp>
      <p:sp>
        <p:nvSpPr>
          <p:cNvPr id="13" name="Shape 11"/>
          <p:cNvSpPr/>
          <p:nvPr/>
        </p:nvSpPr>
        <p:spPr>
          <a:xfrm>
            <a:off x="5376672" y="3108960"/>
            <a:ext cx="1737360" cy="0"/>
          </a:xfrm>
          <a:prstGeom prst="line">
            <a:avLst/>
          </a:prstGeom>
          <a:noFill/>
          <a:ln w="25400">
            <a:solidFill>
              <a:srgbClr val="5C6B7A"/>
            </a:solidFill>
            <a:prstDash val="solid"/>
            <a:tailEnd type="triangle"/>
          </a:ln>
        </p:spPr>
      </p:sp>
      <p:sp>
        <p:nvSpPr>
          <p:cNvPr id="14" name="Text 12"/>
          <p:cNvSpPr/>
          <p:nvPr/>
        </p:nvSpPr>
        <p:spPr>
          <a:xfrm>
            <a:off x="5559552" y="2788920"/>
            <a:ext cx="548640" cy="274320"/>
          </a:xfrm>
          <a:prstGeom prst="rect">
            <a:avLst/>
          </a:prstGeom>
          <a:noFill/>
          <a:ln/>
        </p:spPr>
        <p:txBody>
          <a:bodyPr wrap="square" lIns="0" tIns="0" rIns="0" bIns="0" rtlCol="0" anchor="ctr"/>
          <a:lstStyle/>
          <a:p>
            <a:pPr marL="0" indent="0">
              <a:buNone/>
            </a:pPr>
            <a:r>
              <a:rPr lang="en-US" sz="1000" i="1" dirty="0">
                <a:solidFill>
                  <a:srgbClr val="5C6B7A"/>
                </a:solidFill>
              </a:rPr>
              <a:t>No</a:t>
            </a:r>
            <a:endParaRPr lang="en-US" sz="1000" dirty="0"/>
          </a:p>
        </p:txBody>
      </p:sp>
      <p:sp>
        <p:nvSpPr>
          <p:cNvPr id="15" name="Text 13"/>
          <p:cNvSpPr/>
          <p:nvPr/>
        </p:nvSpPr>
        <p:spPr>
          <a:xfrm>
            <a:off x="4279392" y="3657600"/>
            <a:ext cx="548640" cy="274320"/>
          </a:xfrm>
          <a:prstGeom prst="rect">
            <a:avLst/>
          </a:prstGeom>
          <a:noFill/>
          <a:ln/>
        </p:spPr>
        <p:txBody>
          <a:bodyPr wrap="square" lIns="0" tIns="0" rIns="0" bIns="0" rtlCol="0" anchor="ctr"/>
          <a:lstStyle/>
          <a:p>
            <a:pPr marL="0" indent="0">
              <a:buNone/>
            </a:pPr>
            <a:r>
              <a:rPr lang="en-US" sz="1000" i="1" dirty="0">
                <a:solidFill>
                  <a:srgbClr val="5C6B7A"/>
                </a:solidFill>
              </a:rPr>
              <a:t>Yes</a:t>
            </a:r>
            <a:endParaRPr lang="en-US" sz="1000" dirty="0"/>
          </a:p>
        </p:txBody>
      </p:sp>
      <p:sp>
        <p:nvSpPr>
          <p:cNvPr id="16" name="Shape 14"/>
          <p:cNvSpPr/>
          <p:nvPr/>
        </p:nvSpPr>
        <p:spPr>
          <a:xfrm>
            <a:off x="6428232" y="2857500"/>
            <a:ext cx="2103120" cy="502920"/>
          </a:xfrm>
          <a:prstGeom prst="roundRect">
            <a:avLst>
              <a:gd name="adj" fmla="val 12727"/>
            </a:avLst>
          </a:prstGeom>
          <a:solidFill>
            <a:srgbClr val="B3261E"/>
          </a:solidFill>
          <a:ln/>
        </p:spPr>
      </p:sp>
      <p:sp>
        <p:nvSpPr>
          <p:cNvPr id="17" name="Text 15"/>
          <p:cNvSpPr/>
          <p:nvPr/>
        </p:nvSpPr>
        <p:spPr>
          <a:xfrm>
            <a:off x="6519672" y="2857500"/>
            <a:ext cx="1920240" cy="502920"/>
          </a:xfrm>
          <a:prstGeom prst="rect">
            <a:avLst/>
          </a:prstGeom>
          <a:noFill/>
          <a:ln/>
        </p:spPr>
        <p:txBody>
          <a:bodyPr wrap="square" lIns="0" tIns="0" rIns="0" bIns="0" rtlCol="0" anchor="ctr"/>
          <a:lstStyle/>
          <a:p>
            <a:pPr marL="0" indent="0" algn="ctr">
              <a:buNone/>
            </a:pPr>
            <a:r>
              <a:rPr lang="en-US" sz="1150" b="1" dirty="0">
                <a:solidFill>
                  <a:srgbClr val="FFFFFF"/>
                </a:solidFill>
              </a:rPr>
              <a:t>print("Not Eligible")</a:t>
            </a:r>
            <a:endParaRPr lang="en-US" sz="1150" dirty="0"/>
          </a:p>
        </p:txBody>
      </p:sp>
      <p:sp>
        <p:nvSpPr>
          <p:cNvPr id="18" name="Shape 16"/>
          <p:cNvSpPr/>
          <p:nvPr/>
        </p:nvSpPr>
        <p:spPr>
          <a:xfrm>
            <a:off x="4187952" y="4507992"/>
            <a:ext cx="0" cy="429768"/>
          </a:xfrm>
          <a:prstGeom prst="line">
            <a:avLst/>
          </a:prstGeom>
          <a:noFill/>
          <a:ln w="25400">
            <a:solidFill>
              <a:srgbClr val="5C6B7A"/>
            </a:solidFill>
            <a:prstDash val="solid"/>
            <a:tailEnd type="triangle"/>
          </a:ln>
        </p:spPr>
      </p:sp>
      <p:sp>
        <p:nvSpPr>
          <p:cNvPr id="19" name="Shape 17"/>
          <p:cNvSpPr/>
          <p:nvPr/>
        </p:nvSpPr>
        <p:spPr>
          <a:xfrm>
            <a:off x="3273552" y="4983480"/>
            <a:ext cx="1828800" cy="457200"/>
          </a:xfrm>
          <a:prstGeom prst="roundRect">
            <a:avLst>
              <a:gd name="adj" fmla="val 14000"/>
            </a:avLst>
          </a:prstGeom>
          <a:solidFill>
            <a:srgbClr val="132A46"/>
          </a:solidFill>
          <a:ln/>
        </p:spPr>
      </p:sp>
      <p:sp>
        <p:nvSpPr>
          <p:cNvPr id="20" name="Text 18"/>
          <p:cNvSpPr/>
          <p:nvPr/>
        </p:nvSpPr>
        <p:spPr>
          <a:xfrm>
            <a:off x="3364992" y="4983480"/>
            <a:ext cx="1645920" cy="457200"/>
          </a:xfrm>
          <a:prstGeom prst="rect">
            <a:avLst/>
          </a:prstGeom>
          <a:noFill/>
          <a:ln/>
        </p:spPr>
        <p:txBody>
          <a:bodyPr wrap="square" lIns="0" tIns="0" rIns="0" bIns="0" rtlCol="0" anchor="ctr"/>
          <a:lstStyle/>
          <a:p>
            <a:pPr marL="0" indent="0" algn="ctr">
              <a:buNone/>
            </a:pPr>
            <a:r>
              <a:rPr lang="en-US" sz="1150" b="1" dirty="0">
                <a:solidFill>
                  <a:srgbClr val="FFFFFF"/>
                </a:solidFill>
              </a:rPr>
              <a:t>End</a:t>
            </a:r>
            <a:endParaRPr lang="en-US" sz="1150" dirty="0"/>
          </a:p>
        </p:txBody>
      </p:sp>
      <p:sp>
        <p:nvSpPr>
          <p:cNvPr id="21" name="Text 1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20</a:t>
            </a:r>
            <a:endParaRPr lang="en-US" sz="1000" dirty="0"/>
          </a:p>
        </p:txBody>
      </p:sp>
      <p:sp>
        <p:nvSpPr>
          <p:cNvPr id="22" name="Text 2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3 — CONDITIONS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Where This Is Used</a:t>
            </a:r>
            <a:endParaRPr lang="en-US" sz="2700" dirty="0"/>
          </a:p>
        </p:txBody>
      </p:sp>
      <p:sp>
        <p:nvSpPr>
          <p:cNvPr id="4" name="Shape 2"/>
          <p:cNvSpPr/>
          <p:nvPr/>
        </p:nvSpPr>
        <p:spPr>
          <a:xfrm>
            <a:off x="548640" y="1645920"/>
            <a:ext cx="3505200" cy="3566160"/>
          </a:xfrm>
          <a:prstGeom prst="roundRect">
            <a:avLst>
              <a:gd name="adj" fmla="val 2609"/>
            </a:avLst>
          </a:prstGeom>
          <a:solidFill>
            <a:srgbClr val="1E5A96"/>
          </a:solidFill>
          <a:ln/>
        </p:spPr>
      </p:sp>
      <p:sp>
        <p:nvSpPr>
          <p:cNvPr id="5" name="Shape 3"/>
          <p:cNvSpPr/>
          <p:nvPr/>
        </p:nvSpPr>
        <p:spPr>
          <a:xfrm>
            <a:off x="1981200" y="1965960"/>
            <a:ext cx="640080" cy="640080"/>
          </a:xfrm>
          <a:prstGeom prst="ellipse">
            <a:avLst/>
          </a:prstGeom>
          <a:solidFill>
            <a:srgbClr val="FFFFFF">
              <a:alpha val="88000"/>
            </a:srgbClr>
          </a:solidFill>
          <a:ln/>
        </p:spPr>
      </p:sp>
      <p:pic>
        <p:nvPicPr>
          <p:cNvPr id="6" name="Image 0" descr="preencoded.png"/>
          <p:cNvPicPr>
            <a:picLocks noChangeAspect="1"/>
          </p:cNvPicPr>
          <p:nvPr/>
        </p:nvPicPr>
        <p:blipFill>
          <a:blip r:embed="rId3"/>
          <a:stretch>
            <a:fillRect/>
          </a:stretch>
        </p:blipFill>
        <p:spPr>
          <a:xfrm>
            <a:off x="2118360" y="2103120"/>
            <a:ext cx="365760" cy="365760"/>
          </a:xfrm>
          <a:prstGeom prst="rect">
            <a:avLst/>
          </a:prstGeom>
        </p:spPr>
      </p:pic>
      <p:sp>
        <p:nvSpPr>
          <p:cNvPr id="7" name="Text 4"/>
          <p:cNvSpPr/>
          <p:nvPr/>
        </p:nvSpPr>
        <p:spPr>
          <a:xfrm>
            <a:off x="73152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Voting Eligibility</a:t>
            </a:r>
            <a:endParaRPr lang="en-US" sz="1500" dirty="0"/>
          </a:p>
        </p:txBody>
      </p:sp>
      <p:sp>
        <p:nvSpPr>
          <p:cNvPr id="8" name="Text 5"/>
          <p:cNvSpPr/>
          <p:nvPr/>
        </p:nvSpPr>
        <p:spPr>
          <a:xfrm>
            <a:off x="77724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Checking age against the legal voting age</a:t>
            </a:r>
            <a:endParaRPr lang="en-US" sz="1200" dirty="0"/>
          </a:p>
        </p:txBody>
      </p:sp>
      <p:sp>
        <p:nvSpPr>
          <p:cNvPr id="9" name="Shape 6"/>
          <p:cNvSpPr/>
          <p:nvPr/>
        </p:nvSpPr>
        <p:spPr>
          <a:xfrm>
            <a:off x="4328160" y="1645920"/>
            <a:ext cx="3505200" cy="3566160"/>
          </a:xfrm>
          <a:prstGeom prst="roundRect">
            <a:avLst>
              <a:gd name="adj" fmla="val 2609"/>
            </a:avLst>
          </a:prstGeom>
          <a:solidFill>
            <a:srgbClr val="132A46"/>
          </a:solidFill>
          <a:ln/>
        </p:spPr>
      </p:sp>
      <p:sp>
        <p:nvSpPr>
          <p:cNvPr id="10" name="Shape 7"/>
          <p:cNvSpPr/>
          <p:nvPr/>
        </p:nvSpPr>
        <p:spPr>
          <a:xfrm>
            <a:off x="5760720" y="1965960"/>
            <a:ext cx="640080" cy="640080"/>
          </a:xfrm>
          <a:prstGeom prst="ellipse">
            <a:avLst/>
          </a:prstGeom>
          <a:solidFill>
            <a:srgbClr val="FFFFFF">
              <a:alpha val="88000"/>
            </a:srgbClr>
          </a:solidFill>
          <a:ln/>
        </p:spPr>
      </p:sp>
      <p:pic>
        <p:nvPicPr>
          <p:cNvPr id="11" name="Image 1" descr="preencoded.png"/>
          <p:cNvPicPr>
            <a:picLocks noChangeAspect="1"/>
          </p:cNvPicPr>
          <p:nvPr/>
        </p:nvPicPr>
        <p:blipFill>
          <a:blip r:embed="rId3"/>
          <a:stretch>
            <a:fillRect/>
          </a:stretch>
        </p:blipFill>
        <p:spPr>
          <a:xfrm>
            <a:off x="5897880" y="2103120"/>
            <a:ext cx="365760" cy="365760"/>
          </a:xfrm>
          <a:prstGeom prst="rect">
            <a:avLst/>
          </a:prstGeom>
        </p:spPr>
      </p:pic>
      <p:sp>
        <p:nvSpPr>
          <p:cNvPr id="12" name="Text 8"/>
          <p:cNvSpPr/>
          <p:nvPr/>
        </p:nvSpPr>
        <p:spPr>
          <a:xfrm>
            <a:off x="451104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Loan Approval</a:t>
            </a:r>
            <a:endParaRPr lang="en-US" sz="1500" dirty="0"/>
          </a:p>
        </p:txBody>
      </p:sp>
      <p:sp>
        <p:nvSpPr>
          <p:cNvPr id="13" name="Text 9"/>
          <p:cNvSpPr/>
          <p:nvPr/>
        </p:nvSpPr>
        <p:spPr>
          <a:xfrm>
            <a:off x="455676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Bank systems approving/rejecting based on income</a:t>
            </a:r>
            <a:endParaRPr lang="en-US" sz="1200" dirty="0"/>
          </a:p>
        </p:txBody>
      </p:sp>
      <p:sp>
        <p:nvSpPr>
          <p:cNvPr id="14" name="Shape 10"/>
          <p:cNvSpPr/>
          <p:nvPr/>
        </p:nvSpPr>
        <p:spPr>
          <a:xfrm>
            <a:off x="8107680" y="1645920"/>
            <a:ext cx="3505200" cy="3566160"/>
          </a:xfrm>
          <a:prstGeom prst="roundRect">
            <a:avLst>
              <a:gd name="adj" fmla="val 2609"/>
            </a:avLst>
          </a:prstGeom>
          <a:solidFill>
            <a:srgbClr val="1E5A96"/>
          </a:solidFill>
          <a:ln/>
        </p:spPr>
      </p:sp>
      <p:sp>
        <p:nvSpPr>
          <p:cNvPr id="15" name="Shape 11"/>
          <p:cNvSpPr/>
          <p:nvPr/>
        </p:nvSpPr>
        <p:spPr>
          <a:xfrm>
            <a:off x="9540240" y="1965960"/>
            <a:ext cx="640080" cy="640080"/>
          </a:xfrm>
          <a:prstGeom prst="ellipse">
            <a:avLst/>
          </a:prstGeom>
          <a:solidFill>
            <a:srgbClr val="FFFFFF">
              <a:alpha val="88000"/>
            </a:srgbClr>
          </a:solidFill>
          <a:ln/>
        </p:spPr>
      </p:sp>
      <p:pic>
        <p:nvPicPr>
          <p:cNvPr id="16" name="Image 2" descr="preencoded.png"/>
          <p:cNvPicPr>
            <a:picLocks noChangeAspect="1"/>
          </p:cNvPicPr>
          <p:nvPr/>
        </p:nvPicPr>
        <p:blipFill>
          <a:blip r:embed="rId3"/>
          <a:stretch>
            <a:fillRect/>
          </a:stretch>
        </p:blipFill>
        <p:spPr>
          <a:xfrm>
            <a:off x="9677400" y="2103120"/>
            <a:ext cx="365760" cy="365760"/>
          </a:xfrm>
          <a:prstGeom prst="rect">
            <a:avLst/>
          </a:prstGeom>
        </p:spPr>
      </p:pic>
      <p:sp>
        <p:nvSpPr>
          <p:cNvPr id="17" name="Text 12"/>
          <p:cNvSpPr/>
          <p:nvPr/>
        </p:nvSpPr>
        <p:spPr>
          <a:xfrm>
            <a:off x="829056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Traffic Signals</a:t>
            </a:r>
            <a:endParaRPr lang="en-US" sz="1500" dirty="0"/>
          </a:p>
        </p:txBody>
      </p:sp>
      <p:sp>
        <p:nvSpPr>
          <p:cNvPr id="18" name="Text 13"/>
          <p:cNvSpPr/>
          <p:nvPr/>
        </p:nvSpPr>
        <p:spPr>
          <a:xfrm>
            <a:off x="833628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Choosing an action based on light colour</a:t>
            </a:r>
            <a:endParaRPr lang="en-US" sz="1200" dirty="0"/>
          </a:p>
        </p:txBody>
      </p:sp>
      <p:sp>
        <p:nvSpPr>
          <p:cNvPr id="19" name="Text 14"/>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21</a:t>
            </a:r>
            <a:endParaRPr lang="en-US" sz="10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3 — CONDITIONS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Coding Example &amp; Practical Exercises</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937760" cy="457200"/>
          </a:xfrm>
          <a:prstGeom prst="rect">
            <a:avLst/>
          </a:prstGeom>
          <a:noFill/>
          <a:ln/>
        </p:spPr>
        <p:txBody>
          <a:bodyPr wrap="square" lIns="0" tIns="0" rIns="0" bIns="0" rtlCol="0" anchor="ctr"/>
          <a:lstStyle/>
          <a:p>
            <a:pPr marL="0" indent="0">
              <a:buNone/>
            </a:pPr>
            <a:r>
              <a:rPr lang="en-US" sz="1500" b="1" dirty="0">
                <a:solidFill>
                  <a:srgbClr val="1B2733"/>
                </a:solidFill>
              </a:rPr>
              <a:t>Coding Example</a:t>
            </a:r>
            <a:endParaRPr lang="en-US" sz="1500" dirty="0"/>
          </a:p>
        </p:txBody>
      </p:sp>
      <p:sp>
        <p:nvSpPr>
          <p:cNvPr id="7" name="Shape 4"/>
          <p:cNvSpPr/>
          <p:nvPr/>
        </p:nvSpPr>
        <p:spPr>
          <a:xfrm>
            <a:off x="548640" y="2011680"/>
            <a:ext cx="5486400" cy="3108960"/>
          </a:xfrm>
          <a:prstGeom prst="roundRect">
            <a:avLst>
              <a:gd name="adj" fmla="val 2353"/>
            </a:avLst>
          </a:prstGeom>
          <a:solidFill>
            <a:srgbClr val="1E1E2E"/>
          </a:solidFill>
          <a:ln/>
          <a:effectLst>
            <a:outerShdw blurRad="101600" dist="38100" dir="5400000" algn="bl" rotWithShape="0">
              <a:srgbClr val="000000">
                <a:alpha val="18000"/>
              </a:srgbClr>
            </a:outerShdw>
          </a:effectLst>
        </p:spPr>
      </p:sp>
      <p:sp>
        <p:nvSpPr>
          <p:cNvPr id="8" name="Text 5"/>
          <p:cNvSpPr/>
          <p:nvPr/>
        </p:nvSpPr>
        <p:spPr>
          <a:xfrm>
            <a:off x="731520" y="2103120"/>
            <a:ext cx="5120640" cy="274320"/>
          </a:xfrm>
          <a:prstGeom prst="rect">
            <a:avLst/>
          </a:prstGeom>
          <a:noFill/>
          <a:ln/>
        </p:spPr>
        <p:txBody>
          <a:bodyPr wrap="square" lIns="0" tIns="0" rIns="0" bIns="0" rtlCol="0" anchor="ctr"/>
          <a:lstStyle/>
          <a:p>
            <a:pPr marL="0" indent="0">
              <a:buNone/>
            </a:pPr>
            <a:r>
              <a:rPr lang="en-US" sz="1050" dirty="0">
                <a:solidFill>
                  <a:srgbClr val="8FA3B8"/>
                </a:solidFill>
                <a:latin typeface="Courier New" pitchFamily="34" charset="0"/>
                <a:ea typeface="Courier New" pitchFamily="34" charset="-122"/>
                <a:cs typeface="Courier New" pitchFamily="34" charset="-120"/>
              </a:rPr>
              <a:t>eligibility.py</a:t>
            </a:r>
            <a:endParaRPr lang="en-US" sz="1050" dirty="0"/>
          </a:p>
        </p:txBody>
      </p:sp>
      <p:sp>
        <p:nvSpPr>
          <p:cNvPr id="9" name="Text 6"/>
          <p:cNvSpPr/>
          <p:nvPr/>
        </p:nvSpPr>
        <p:spPr>
          <a:xfrm>
            <a:off x="777240" y="2395728"/>
            <a:ext cx="5029200" cy="2560320"/>
          </a:xfrm>
          <a:prstGeom prst="rect">
            <a:avLst/>
          </a:prstGeom>
          <a:noFill/>
          <a:ln/>
        </p:spPr>
        <p:txBody>
          <a:bodyPr wrap="square" lIns="0" tIns="0" rIns="0" bIns="0" rtlCol="0" anchor="t"/>
          <a:lstStyle/>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age = 18</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if age &gt;= 18:</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print("Eligible")</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else:</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print("Not Eligible")</a:t>
            </a:r>
            <a:endParaRPr lang="en-US" sz="1300" dirty="0"/>
          </a:p>
        </p:txBody>
      </p:sp>
      <p:sp>
        <p:nvSpPr>
          <p:cNvPr id="10" name="Shape 7"/>
          <p:cNvSpPr/>
          <p:nvPr/>
        </p:nvSpPr>
        <p:spPr>
          <a:xfrm>
            <a:off x="6355080" y="1463040"/>
            <a:ext cx="384048" cy="384048"/>
          </a:xfrm>
          <a:prstGeom prst="ellipse">
            <a:avLst/>
          </a:prstGeom>
          <a:solidFill>
            <a:srgbClr val="1E5A96"/>
          </a:solidFill>
          <a:ln/>
        </p:spPr>
      </p:sp>
      <p:pic>
        <p:nvPicPr>
          <p:cNvPr id="11"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2" name="Text 8"/>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Practical Exercises</a:t>
            </a:r>
            <a:endParaRPr lang="en-US" sz="1500" dirty="0"/>
          </a:p>
        </p:txBody>
      </p:sp>
      <p:sp>
        <p:nvSpPr>
          <p:cNvPr id="13" name="Shape 9"/>
          <p:cNvSpPr/>
          <p:nvPr/>
        </p:nvSpPr>
        <p:spPr>
          <a:xfrm>
            <a:off x="6355080" y="2011680"/>
            <a:ext cx="5257800" cy="3108960"/>
          </a:xfrm>
          <a:prstGeom prst="roundRect">
            <a:avLst>
              <a:gd name="adj" fmla="val 2353"/>
            </a:avLst>
          </a:prstGeom>
          <a:solidFill>
            <a:srgbClr val="EEF4FA"/>
          </a:solidFill>
          <a:ln/>
        </p:spPr>
      </p:sp>
      <p:sp>
        <p:nvSpPr>
          <p:cNvPr id="14" name="Text 10"/>
          <p:cNvSpPr/>
          <p:nvPr/>
        </p:nvSpPr>
        <p:spPr>
          <a:xfrm>
            <a:off x="6583680" y="2212848"/>
            <a:ext cx="4846320" cy="27432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B2733"/>
                </a:solidFill>
              </a:rPr>
              <a:t>Voting eligibility checker</a:t>
            </a:r>
            <a:endParaRPr lang="en-US" sz="1350" dirty="0"/>
          </a:p>
          <a:p>
            <a:pPr marL="342900" indent="-342900">
              <a:lnSpc>
                <a:spcPct val="120000"/>
              </a:lnSpc>
              <a:spcAft>
                <a:spcPts val="1200"/>
              </a:spcAft>
              <a:buSzPct val="100000"/>
              <a:buChar char="•"/>
            </a:pPr>
            <a:r>
              <a:rPr lang="en-US" sz="1350" dirty="0">
                <a:solidFill>
                  <a:srgbClr val="1B2733"/>
                </a:solidFill>
              </a:rPr>
              <a:t>Grade calculator (A/B/C/Fail)</a:t>
            </a:r>
            <a:endParaRPr lang="en-US" sz="1350" dirty="0"/>
          </a:p>
          <a:p>
            <a:pPr marL="342900" indent="-342900">
              <a:lnSpc>
                <a:spcPct val="120000"/>
              </a:lnSpc>
              <a:spcAft>
                <a:spcPts val="1200"/>
              </a:spcAft>
              <a:buSzPct val="100000"/>
              <a:buChar char="•"/>
            </a:pPr>
            <a:r>
              <a:rPr lang="en-US" sz="1350" dirty="0">
                <a:solidFill>
                  <a:srgbClr val="1B2733"/>
                </a:solidFill>
              </a:rPr>
              <a:t>Find the largest of three numbers</a:t>
            </a:r>
            <a:endParaRPr lang="en-US" sz="1350" dirty="0"/>
          </a:p>
        </p:txBody>
      </p:sp>
      <p:sp>
        <p:nvSpPr>
          <p:cNvPr id="15" name="Text 11"/>
          <p:cNvSpPr/>
          <p:nvPr/>
        </p:nvSpPr>
        <p:spPr>
          <a:xfrm>
            <a:off x="548640" y="5257800"/>
            <a:ext cx="5486400" cy="274320"/>
          </a:xfrm>
          <a:prstGeom prst="rect">
            <a:avLst/>
          </a:prstGeom>
          <a:noFill/>
          <a:ln/>
        </p:spPr>
        <p:txBody>
          <a:bodyPr wrap="square" lIns="0" tIns="0" rIns="0" bIns="0" rtlCol="0" anchor="ctr"/>
          <a:lstStyle/>
          <a:p>
            <a:pPr marL="0" indent="0">
              <a:buNone/>
            </a:pPr>
            <a:r>
              <a:rPr lang="en-US" sz="1050" i="1" dirty="0">
                <a:solidFill>
                  <a:srgbClr val="5C6B7A"/>
                </a:solidFill>
              </a:rPr>
              <a:t>Theory: 1h  •  Practical: 1h</a:t>
            </a:r>
            <a:endParaRPr lang="en-US" sz="1050" dirty="0"/>
          </a:p>
        </p:txBody>
      </p:sp>
      <p:sp>
        <p:nvSpPr>
          <p:cNvPr id="16"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22</a:t>
            </a:r>
            <a:endParaRPr lang="en-US" sz="1000" dirty="0"/>
          </a:p>
        </p:txBody>
      </p:sp>
      <p:sp>
        <p:nvSpPr>
          <p:cNvPr id="17"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3 — CONDITIONS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Mini Activity &amp; Expected Outcome</a:t>
            </a:r>
            <a:endParaRPr lang="en-US" sz="2700" dirty="0"/>
          </a:p>
        </p:txBody>
      </p:sp>
      <p:sp>
        <p:nvSpPr>
          <p:cNvPr id="4" name="Shape 2"/>
          <p:cNvSpPr/>
          <p:nvPr/>
        </p:nvSpPr>
        <p:spPr>
          <a:xfrm>
            <a:off x="548640" y="1600200"/>
            <a:ext cx="11064240" cy="1920240"/>
          </a:xfrm>
          <a:prstGeom prst="roundRect">
            <a:avLst>
              <a:gd name="adj" fmla="val 4762"/>
            </a:avLst>
          </a:prstGeom>
          <a:solidFill>
            <a:srgbClr val="1E5A96"/>
          </a:solidFill>
          <a:ln/>
        </p:spPr>
      </p:sp>
      <p:pic>
        <p:nvPicPr>
          <p:cNvPr id="5" name="Image 0" descr="preencoded.png"/>
          <p:cNvPicPr>
            <a:picLocks noChangeAspect="1"/>
          </p:cNvPicPr>
          <p:nvPr/>
        </p:nvPicPr>
        <p:blipFill>
          <a:blip r:embed="rId3"/>
          <a:stretch>
            <a:fillRect/>
          </a:stretch>
        </p:blipFill>
        <p:spPr>
          <a:xfrm>
            <a:off x="868680" y="1965960"/>
            <a:ext cx="502920" cy="502920"/>
          </a:xfrm>
          <a:prstGeom prst="rect">
            <a:avLst/>
          </a:prstGeom>
        </p:spPr>
      </p:pic>
      <p:sp>
        <p:nvSpPr>
          <p:cNvPr id="6" name="Text 3"/>
          <p:cNvSpPr/>
          <p:nvPr/>
        </p:nvSpPr>
        <p:spPr>
          <a:xfrm>
            <a:off x="1554480" y="1874520"/>
            <a:ext cx="3657600" cy="320040"/>
          </a:xfrm>
          <a:prstGeom prst="rect">
            <a:avLst/>
          </a:prstGeom>
          <a:noFill/>
          <a:ln/>
        </p:spPr>
        <p:txBody>
          <a:bodyPr wrap="square" lIns="0" tIns="0" rIns="0" bIns="0" rtlCol="0" anchor="ctr"/>
          <a:lstStyle/>
          <a:p>
            <a:pPr marL="0" indent="0">
              <a:buNone/>
            </a:pPr>
            <a:r>
              <a:rPr lang="en-US" sz="1250" b="1" kern="0" spc="150" dirty="0">
                <a:solidFill>
                  <a:srgbClr val="F2A93B"/>
                </a:solidFill>
              </a:rPr>
              <a:t>MINI ACTIVITY</a:t>
            </a:r>
            <a:endParaRPr lang="en-US" sz="1250" dirty="0"/>
          </a:p>
        </p:txBody>
      </p:sp>
      <p:sp>
        <p:nvSpPr>
          <p:cNvPr id="7" name="Text 4"/>
          <p:cNvSpPr/>
          <p:nvPr/>
        </p:nvSpPr>
        <p:spPr>
          <a:xfrm>
            <a:off x="1554480" y="2240280"/>
            <a:ext cx="9692640" cy="1143000"/>
          </a:xfrm>
          <a:prstGeom prst="rect">
            <a:avLst/>
          </a:prstGeom>
          <a:noFill/>
          <a:ln/>
        </p:spPr>
        <p:txBody>
          <a:bodyPr wrap="square" lIns="0" tIns="0" rIns="0" bIns="0" rtlCol="0" anchor="t"/>
          <a:lstStyle/>
          <a:p>
            <a:pPr marL="0" indent="0">
              <a:buNone/>
            </a:pPr>
            <a:r>
              <a:rPr lang="en-US" sz="1550" dirty="0">
                <a:solidFill>
                  <a:srgbClr val="FFFFFF"/>
                </a:solidFill>
              </a:rPr>
              <a:t>Build a Grade Checker that converts marks into A/B/C/D/Fail grades.</a:t>
            </a:r>
            <a:endParaRPr lang="en-US" sz="1550" dirty="0"/>
          </a:p>
        </p:txBody>
      </p:sp>
      <p:sp>
        <p:nvSpPr>
          <p:cNvPr id="8" name="Shape 5"/>
          <p:cNvSpPr/>
          <p:nvPr/>
        </p:nvSpPr>
        <p:spPr>
          <a:xfrm>
            <a:off x="548640" y="3794760"/>
            <a:ext cx="11064240" cy="1691640"/>
          </a:xfrm>
          <a:prstGeom prst="roundRect">
            <a:avLst>
              <a:gd name="adj" fmla="val 5405"/>
            </a:avLst>
          </a:prstGeom>
          <a:solidFill>
            <a:srgbClr val="EEF4FA"/>
          </a:solidFill>
          <a:ln/>
        </p:spPr>
      </p:sp>
      <p:pic>
        <p:nvPicPr>
          <p:cNvPr id="9" name="Image 1" descr="preencoded.png"/>
          <p:cNvPicPr>
            <a:picLocks noChangeAspect="1"/>
          </p:cNvPicPr>
          <p:nvPr/>
        </p:nvPicPr>
        <p:blipFill>
          <a:blip r:embed="rId4"/>
          <a:stretch>
            <a:fillRect/>
          </a:stretch>
        </p:blipFill>
        <p:spPr>
          <a:xfrm>
            <a:off x="868680" y="4114800"/>
            <a:ext cx="457200" cy="457200"/>
          </a:xfrm>
          <a:prstGeom prst="rect">
            <a:avLst/>
          </a:prstGeom>
        </p:spPr>
      </p:pic>
      <p:sp>
        <p:nvSpPr>
          <p:cNvPr id="10" name="Text 6"/>
          <p:cNvSpPr/>
          <p:nvPr/>
        </p:nvSpPr>
        <p:spPr>
          <a:xfrm>
            <a:off x="1508760" y="4041648"/>
            <a:ext cx="3657600" cy="320040"/>
          </a:xfrm>
          <a:prstGeom prst="rect">
            <a:avLst/>
          </a:prstGeom>
          <a:noFill/>
          <a:ln/>
        </p:spPr>
        <p:txBody>
          <a:bodyPr wrap="square" lIns="0" tIns="0" rIns="0" bIns="0" rtlCol="0" anchor="ctr"/>
          <a:lstStyle/>
          <a:p>
            <a:pPr marL="0" indent="0">
              <a:buNone/>
            </a:pPr>
            <a:r>
              <a:rPr lang="en-US" sz="1250" b="1" kern="0" spc="150" dirty="0">
                <a:solidFill>
                  <a:srgbClr val="1E7D32"/>
                </a:solidFill>
              </a:rPr>
              <a:t>EXPECTED OUTCOME</a:t>
            </a:r>
            <a:endParaRPr lang="en-US" sz="1250" dirty="0"/>
          </a:p>
        </p:txBody>
      </p:sp>
      <p:sp>
        <p:nvSpPr>
          <p:cNvPr id="11" name="Text 7"/>
          <p:cNvSpPr/>
          <p:nvPr/>
        </p:nvSpPr>
        <p:spPr>
          <a:xfrm>
            <a:off x="1508760" y="4389120"/>
            <a:ext cx="9784080" cy="914400"/>
          </a:xfrm>
          <a:prstGeom prst="rect">
            <a:avLst/>
          </a:prstGeom>
          <a:noFill/>
          <a:ln/>
        </p:spPr>
        <p:txBody>
          <a:bodyPr wrap="square" lIns="0" tIns="0" rIns="0" bIns="0" rtlCol="0" anchor="t"/>
          <a:lstStyle/>
          <a:p>
            <a:pPr marL="0" indent="0">
              <a:buNone/>
            </a:pPr>
            <a:r>
              <a:rPr lang="en-US" sz="1550" dirty="0">
                <a:solidFill>
                  <a:srgbClr val="1B2733"/>
                </a:solidFill>
              </a:rPr>
              <a:t>Students can build decision-making applications.</a:t>
            </a:r>
            <a:endParaRPr lang="en-US" sz="1550" dirty="0"/>
          </a:p>
        </p:txBody>
      </p:sp>
      <p:sp>
        <p:nvSpPr>
          <p:cNvPr id="12" name="Text 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23</a:t>
            </a:r>
            <a:endParaRPr lang="en-US" sz="100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3 — CONDITIONS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Interview Questions &amp; Summary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6126480" cy="457200"/>
          </a:xfrm>
          <a:prstGeom prst="rect">
            <a:avLst/>
          </a:prstGeom>
          <a:noFill/>
          <a:ln/>
        </p:spPr>
        <p:txBody>
          <a:bodyPr wrap="square" lIns="0" tIns="0" rIns="0" bIns="0" rtlCol="0" anchor="ctr"/>
          <a:lstStyle/>
          <a:p>
            <a:pPr marL="0" indent="0">
              <a:buNone/>
            </a:pPr>
            <a:r>
              <a:rPr lang="en-US" sz="1500" b="1" dirty="0">
                <a:solidFill>
                  <a:srgbClr val="1B2733"/>
                </a:solidFill>
              </a:rPr>
              <a:t>Interview Questions</a:t>
            </a:r>
            <a:endParaRPr lang="en-US" sz="1500" dirty="0"/>
          </a:p>
        </p:txBody>
      </p:sp>
      <p:sp>
        <p:nvSpPr>
          <p:cNvPr id="7" name="Shape 4"/>
          <p:cNvSpPr/>
          <p:nvPr/>
        </p:nvSpPr>
        <p:spPr>
          <a:xfrm>
            <a:off x="548640" y="1965960"/>
            <a:ext cx="6675120" cy="1170432"/>
          </a:xfrm>
          <a:prstGeom prst="roundRect">
            <a:avLst>
              <a:gd name="adj" fmla="val 5469"/>
            </a:avLst>
          </a:prstGeom>
          <a:solidFill>
            <a:srgbClr val="EEF4FA"/>
          </a:solidFill>
          <a:ln/>
        </p:spPr>
      </p:sp>
      <p:sp>
        <p:nvSpPr>
          <p:cNvPr id="8" name="Text 5"/>
          <p:cNvSpPr/>
          <p:nvPr/>
        </p:nvSpPr>
        <p:spPr>
          <a:xfrm>
            <a:off x="731520" y="2057400"/>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Difference between if-elif-else and nested if?</a:t>
            </a:r>
            <a:endParaRPr lang="en-US" sz="1250" dirty="0"/>
          </a:p>
        </p:txBody>
      </p:sp>
      <p:sp>
        <p:nvSpPr>
          <p:cNvPr id="9" name="Text 6"/>
          <p:cNvSpPr/>
          <p:nvPr/>
        </p:nvSpPr>
        <p:spPr>
          <a:xfrm>
            <a:off x="731520" y="2441448"/>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elif checks alternate conditions at the same level; nested if places a condition inside another.</a:t>
            </a:r>
            <a:endParaRPr lang="en-US" sz="1150" dirty="0"/>
          </a:p>
        </p:txBody>
      </p:sp>
      <p:sp>
        <p:nvSpPr>
          <p:cNvPr id="10" name="Shape 7"/>
          <p:cNvSpPr/>
          <p:nvPr/>
        </p:nvSpPr>
        <p:spPr>
          <a:xfrm>
            <a:off x="548640" y="3264408"/>
            <a:ext cx="6675120" cy="1170432"/>
          </a:xfrm>
          <a:prstGeom prst="roundRect">
            <a:avLst>
              <a:gd name="adj" fmla="val 5469"/>
            </a:avLst>
          </a:prstGeom>
          <a:solidFill>
            <a:srgbClr val="EEF4FA"/>
          </a:solidFill>
          <a:ln/>
        </p:spPr>
      </p:sp>
      <p:sp>
        <p:nvSpPr>
          <p:cNvPr id="11" name="Text 8"/>
          <p:cNvSpPr/>
          <p:nvPr/>
        </p:nvSpPr>
        <p:spPr>
          <a:xfrm>
            <a:off x="731520" y="3355848"/>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When would you use match-case over if-elif?</a:t>
            </a:r>
            <a:endParaRPr lang="en-US" sz="1250" dirty="0"/>
          </a:p>
        </p:txBody>
      </p:sp>
      <p:sp>
        <p:nvSpPr>
          <p:cNvPr id="12" name="Text 9"/>
          <p:cNvSpPr/>
          <p:nvPr/>
        </p:nvSpPr>
        <p:spPr>
          <a:xfrm>
            <a:off x="731520" y="3739896"/>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When comparing one variable against many fixed values — it reads cleaner than long elif chains.</a:t>
            </a:r>
            <a:endParaRPr lang="en-US" sz="1150" dirty="0"/>
          </a:p>
        </p:txBody>
      </p:sp>
      <p:sp>
        <p:nvSpPr>
          <p:cNvPr id="13" name="Shape 10"/>
          <p:cNvSpPr/>
          <p:nvPr/>
        </p:nvSpPr>
        <p:spPr>
          <a:xfrm>
            <a:off x="548640" y="4562856"/>
            <a:ext cx="6675120" cy="1170432"/>
          </a:xfrm>
          <a:prstGeom prst="roundRect">
            <a:avLst>
              <a:gd name="adj" fmla="val 5469"/>
            </a:avLst>
          </a:prstGeom>
          <a:solidFill>
            <a:srgbClr val="EEF4FA"/>
          </a:solidFill>
          <a:ln/>
        </p:spPr>
      </p:sp>
      <p:sp>
        <p:nvSpPr>
          <p:cNvPr id="14" name="Text 11"/>
          <p:cNvSpPr/>
          <p:nvPr/>
        </p:nvSpPr>
        <p:spPr>
          <a:xfrm>
            <a:off x="731520" y="4654296"/>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is short-circuit evaluation?</a:t>
            </a:r>
            <a:endParaRPr lang="en-US" sz="1250" dirty="0"/>
          </a:p>
        </p:txBody>
      </p:sp>
      <p:sp>
        <p:nvSpPr>
          <p:cNvPr id="15" name="Text 12"/>
          <p:cNvSpPr/>
          <p:nvPr/>
        </p:nvSpPr>
        <p:spPr>
          <a:xfrm>
            <a:off x="731520" y="5038344"/>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Python stops evaluating a logical expression as soon as the result is determined (e.g. False and X skips X).</a:t>
            </a:r>
            <a:endParaRPr lang="en-US" sz="1150" dirty="0"/>
          </a:p>
        </p:txBody>
      </p:sp>
      <p:sp>
        <p:nvSpPr>
          <p:cNvPr id="16" name="Shape 13"/>
          <p:cNvSpPr/>
          <p:nvPr/>
        </p:nvSpPr>
        <p:spPr>
          <a:xfrm>
            <a:off x="7452360" y="1417320"/>
            <a:ext cx="13716" cy="4709160"/>
          </a:xfrm>
          <a:prstGeom prst="rect">
            <a:avLst/>
          </a:prstGeom>
          <a:solidFill>
            <a:srgbClr val="DCE6F0"/>
          </a:solidFill>
          <a:ln/>
        </p:spPr>
      </p:sp>
      <p:sp>
        <p:nvSpPr>
          <p:cNvPr id="17" name="Shape 14"/>
          <p:cNvSpPr/>
          <p:nvPr/>
        </p:nvSpPr>
        <p:spPr>
          <a:xfrm>
            <a:off x="7680960" y="1463040"/>
            <a:ext cx="384048" cy="384048"/>
          </a:xfrm>
          <a:prstGeom prst="ellipse">
            <a:avLst/>
          </a:prstGeom>
          <a:solidFill>
            <a:srgbClr val="1E7D32"/>
          </a:solidFill>
          <a:ln/>
        </p:spPr>
      </p:sp>
      <p:pic>
        <p:nvPicPr>
          <p:cNvPr id="18" name="Image 1" descr="preencoded.png"/>
          <p:cNvPicPr>
            <a:picLocks noChangeAspect="1"/>
          </p:cNvPicPr>
          <p:nvPr/>
        </p:nvPicPr>
        <p:blipFill>
          <a:blip r:embed="rId4"/>
          <a:stretch>
            <a:fillRect/>
          </a:stretch>
        </p:blipFill>
        <p:spPr>
          <a:xfrm>
            <a:off x="7763256" y="1545336"/>
            <a:ext cx="219456" cy="219456"/>
          </a:xfrm>
          <a:prstGeom prst="rect">
            <a:avLst/>
          </a:prstGeom>
        </p:spPr>
      </p:pic>
      <p:sp>
        <p:nvSpPr>
          <p:cNvPr id="19" name="Text 15"/>
          <p:cNvSpPr/>
          <p:nvPr/>
        </p:nvSpPr>
        <p:spPr>
          <a:xfrm>
            <a:off x="8193024" y="1435608"/>
            <a:ext cx="3383280" cy="457200"/>
          </a:xfrm>
          <a:prstGeom prst="rect">
            <a:avLst/>
          </a:prstGeom>
          <a:noFill/>
          <a:ln/>
        </p:spPr>
        <p:txBody>
          <a:bodyPr wrap="square" lIns="0" tIns="0" rIns="0" bIns="0" rtlCol="0" anchor="ctr"/>
          <a:lstStyle/>
          <a:p>
            <a:pPr marL="0" indent="0">
              <a:buNone/>
            </a:pPr>
            <a:r>
              <a:rPr lang="en-US" sz="1500" b="1" dirty="0">
                <a:solidFill>
                  <a:srgbClr val="1B2733"/>
                </a:solidFill>
              </a:rPr>
              <a:t>Module Summary</a:t>
            </a:r>
            <a:endParaRPr lang="en-US" sz="1500" dirty="0"/>
          </a:p>
        </p:txBody>
      </p:sp>
      <p:sp>
        <p:nvSpPr>
          <p:cNvPr id="20" name="Text 16"/>
          <p:cNvSpPr/>
          <p:nvPr/>
        </p:nvSpPr>
        <p:spPr>
          <a:xfrm>
            <a:off x="7680960" y="2011680"/>
            <a:ext cx="3931920" cy="39319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00" dirty="0">
                <a:solidFill>
                  <a:srgbClr val="1B2733"/>
                </a:solidFill>
              </a:rPr>
              <a:t>if / elif / else drive decision-making</a:t>
            </a:r>
            <a:endParaRPr lang="en-US" sz="1300" dirty="0"/>
          </a:p>
          <a:p>
            <a:pPr marL="342900" indent="-342900">
              <a:lnSpc>
                <a:spcPct val="120000"/>
              </a:lnSpc>
              <a:spcAft>
                <a:spcPts val="1200"/>
              </a:spcAft>
              <a:buSzPct val="100000"/>
              <a:buChar char="✓"/>
            </a:pPr>
            <a:r>
              <a:rPr lang="en-US" sz="1300" dirty="0">
                <a:solidFill>
                  <a:srgbClr val="1B2733"/>
                </a:solidFill>
              </a:rPr>
              <a:t>Nested conditions handle multi-level logic</a:t>
            </a:r>
            <a:endParaRPr lang="en-US" sz="1300" dirty="0"/>
          </a:p>
          <a:p>
            <a:pPr marL="342900" indent="-342900">
              <a:lnSpc>
                <a:spcPct val="120000"/>
              </a:lnSpc>
              <a:spcAft>
                <a:spcPts val="1200"/>
              </a:spcAft>
              <a:buSzPct val="100000"/>
              <a:buChar char="✓"/>
            </a:pPr>
            <a:r>
              <a:rPr lang="en-US" sz="1300" dirty="0">
                <a:solidFill>
                  <a:srgbClr val="1B2733"/>
                </a:solidFill>
              </a:rPr>
              <a:t>match-case offers a clean alternative for many fixed cases</a:t>
            </a:r>
            <a:endParaRPr lang="en-US" sz="1300" dirty="0"/>
          </a:p>
          <a:p>
            <a:pPr marL="342900" indent="-342900">
              <a:lnSpc>
                <a:spcPct val="120000"/>
              </a:lnSpc>
              <a:spcAft>
                <a:spcPts val="1200"/>
              </a:spcAft>
              <a:buSzPct val="100000"/>
              <a:buChar char="✓"/>
            </a:pPr>
            <a:r>
              <a:rPr lang="en-US" sz="1300" dirty="0">
                <a:solidFill>
                  <a:srgbClr val="1B2733"/>
                </a:solidFill>
              </a:rPr>
              <a:t>You built a real grade-calculating program</a:t>
            </a:r>
            <a:endParaRPr lang="en-US" sz="1300" dirty="0"/>
          </a:p>
        </p:txBody>
      </p:sp>
      <p:sp>
        <p:nvSpPr>
          <p:cNvPr id="21"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24</a:t>
            </a:r>
            <a:endParaRPr lang="en-US" sz="1000" dirty="0"/>
          </a:p>
        </p:txBody>
      </p:sp>
      <p:sp>
        <p:nvSpPr>
          <p:cNvPr id="22"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1E5A96">
              <a:alpha val="45000"/>
            </a:srgbClr>
          </a:solidFill>
          <a:ln/>
        </p:spPr>
      </p:sp>
      <p:sp>
        <p:nvSpPr>
          <p:cNvPr id="3" name="Shape 1"/>
          <p:cNvSpPr/>
          <p:nvPr/>
        </p:nvSpPr>
        <p:spPr>
          <a:xfrm>
            <a:off x="731520" y="914400"/>
            <a:ext cx="1554480" cy="365760"/>
          </a:xfrm>
          <a:prstGeom prst="roundRect">
            <a:avLst>
              <a:gd name="adj" fmla="val 50000"/>
            </a:avLst>
          </a:prstGeom>
          <a:solidFill>
            <a:srgbClr val="1D3A5C"/>
          </a:solidFill>
          <a:ln/>
        </p:spPr>
      </p:sp>
      <p:sp>
        <p:nvSpPr>
          <p:cNvPr id="4" name="Text 2"/>
          <p:cNvSpPr/>
          <p:nvPr/>
        </p:nvSpPr>
        <p:spPr>
          <a:xfrm>
            <a:off x="731520" y="914400"/>
            <a:ext cx="1554480" cy="365760"/>
          </a:xfrm>
          <a:prstGeom prst="rect">
            <a:avLst/>
          </a:prstGeom>
          <a:noFill/>
          <a:ln/>
        </p:spPr>
        <p:txBody>
          <a:bodyPr wrap="square" lIns="0" tIns="0" rIns="0" bIns="0" rtlCol="0" anchor="ctr"/>
          <a:lstStyle/>
          <a:p>
            <a:pPr marL="0" indent="0" algn="ctr">
              <a:buNone/>
            </a:pPr>
            <a:r>
              <a:rPr lang="en-US" sz="1100" b="1" dirty="0">
                <a:solidFill>
                  <a:srgbClr val="F2A93B"/>
                </a:solidFill>
              </a:rPr>
              <a:t>MODULE 4 OF 9</a:t>
            </a:r>
            <a:endParaRPr lang="en-US" sz="1100" dirty="0"/>
          </a:p>
        </p:txBody>
      </p:sp>
      <p:sp>
        <p:nvSpPr>
          <p:cNvPr id="5" name="Shape 3"/>
          <p:cNvSpPr/>
          <p:nvPr/>
        </p:nvSpPr>
        <p:spPr>
          <a:xfrm>
            <a:off x="731520" y="1508760"/>
            <a:ext cx="960120" cy="960120"/>
          </a:xfrm>
          <a:prstGeom prst="roundRect">
            <a:avLst>
              <a:gd name="adj" fmla="val 19048"/>
            </a:avLst>
          </a:prstGeom>
          <a:solidFill>
            <a:srgbClr val="1E5A96"/>
          </a:solidFill>
          <a:ln/>
        </p:spPr>
      </p:sp>
      <p:pic>
        <p:nvPicPr>
          <p:cNvPr id="6" name="Image 0" descr="preencoded.png"/>
          <p:cNvPicPr>
            <a:picLocks noChangeAspect="1"/>
          </p:cNvPicPr>
          <p:nvPr/>
        </p:nvPicPr>
        <p:blipFill>
          <a:blip r:embed="rId3"/>
          <a:stretch>
            <a:fillRect/>
          </a:stretch>
        </p:blipFill>
        <p:spPr>
          <a:xfrm>
            <a:off x="960120" y="1737360"/>
            <a:ext cx="502920" cy="502920"/>
          </a:xfrm>
          <a:prstGeom prst="rect">
            <a:avLst/>
          </a:prstGeom>
        </p:spPr>
      </p:pic>
      <p:sp>
        <p:nvSpPr>
          <p:cNvPr id="7" name="Text 4"/>
          <p:cNvSpPr/>
          <p:nvPr/>
        </p:nvSpPr>
        <p:spPr>
          <a:xfrm>
            <a:off x="1874520" y="1463040"/>
            <a:ext cx="91440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Loops</a:t>
            </a:r>
            <a:endParaRPr lang="en-US" sz="3200" dirty="0"/>
          </a:p>
        </p:txBody>
      </p:sp>
      <p:sp>
        <p:nvSpPr>
          <p:cNvPr id="8" name="Shape 5"/>
          <p:cNvSpPr/>
          <p:nvPr/>
        </p:nvSpPr>
        <p:spPr>
          <a:xfrm>
            <a:off x="1874520" y="2514600"/>
            <a:ext cx="1417320" cy="594360"/>
          </a:xfrm>
          <a:prstGeom prst="roundRect">
            <a:avLst>
              <a:gd name="adj" fmla="val 12308"/>
            </a:avLst>
          </a:prstGeom>
          <a:solidFill>
            <a:srgbClr val="1D3A5C"/>
          </a:solidFill>
          <a:ln w="12700">
            <a:solidFill>
              <a:srgbClr val="1E5A96"/>
            </a:solidFill>
            <a:prstDash val="solid"/>
          </a:ln>
        </p:spPr>
      </p:sp>
      <p:sp>
        <p:nvSpPr>
          <p:cNvPr id="9" name="Text 6"/>
          <p:cNvSpPr/>
          <p:nvPr/>
        </p:nvSpPr>
        <p:spPr>
          <a:xfrm>
            <a:off x="187452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0" name="Text 7"/>
          <p:cNvSpPr/>
          <p:nvPr/>
        </p:nvSpPr>
        <p:spPr>
          <a:xfrm>
            <a:off x="187452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Theory</a:t>
            </a:r>
            <a:endParaRPr lang="en-US" sz="900" dirty="0"/>
          </a:p>
        </p:txBody>
      </p:sp>
      <p:sp>
        <p:nvSpPr>
          <p:cNvPr id="11" name="Shape 8"/>
          <p:cNvSpPr/>
          <p:nvPr/>
        </p:nvSpPr>
        <p:spPr>
          <a:xfrm>
            <a:off x="3429000" y="2514600"/>
            <a:ext cx="1417320" cy="594360"/>
          </a:xfrm>
          <a:prstGeom prst="roundRect">
            <a:avLst>
              <a:gd name="adj" fmla="val 12308"/>
            </a:avLst>
          </a:prstGeom>
          <a:solidFill>
            <a:srgbClr val="1D3A5C"/>
          </a:solidFill>
          <a:ln w="12700">
            <a:solidFill>
              <a:srgbClr val="1E5A96"/>
            </a:solidFill>
            <a:prstDash val="solid"/>
          </a:ln>
        </p:spPr>
      </p:sp>
      <p:sp>
        <p:nvSpPr>
          <p:cNvPr id="12" name="Text 9"/>
          <p:cNvSpPr/>
          <p:nvPr/>
        </p:nvSpPr>
        <p:spPr>
          <a:xfrm>
            <a:off x="342900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3" name="Text 10"/>
          <p:cNvSpPr/>
          <p:nvPr/>
        </p:nvSpPr>
        <p:spPr>
          <a:xfrm>
            <a:off x="342900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Practical</a:t>
            </a:r>
            <a:endParaRPr lang="en-US" sz="900" dirty="0"/>
          </a:p>
        </p:txBody>
      </p:sp>
      <p:sp>
        <p:nvSpPr>
          <p:cNvPr id="14" name="Shape 11"/>
          <p:cNvSpPr/>
          <p:nvPr/>
        </p:nvSpPr>
        <p:spPr>
          <a:xfrm>
            <a:off x="4983480" y="2514600"/>
            <a:ext cx="1417320" cy="594360"/>
          </a:xfrm>
          <a:prstGeom prst="roundRect">
            <a:avLst>
              <a:gd name="adj" fmla="val 12308"/>
            </a:avLst>
          </a:prstGeom>
          <a:solidFill>
            <a:srgbClr val="1D3A5C"/>
          </a:solidFill>
          <a:ln w="12700">
            <a:solidFill>
              <a:srgbClr val="1E5A96"/>
            </a:solidFill>
            <a:prstDash val="solid"/>
          </a:ln>
        </p:spPr>
      </p:sp>
      <p:sp>
        <p:nvSpPr>
          <p:cNvPr id="15" name="Text 12"/>
          <p:cNvSpPr/>
          <p:nvPr/>
        </p:nvSpPr>
        <p:spPr>
          <a:xfrm>
            <a:off x="498348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3 hrs</a:t>
            </a:r>
            <a:endParaRPr lang="en-US" sz="1500" dirty="0"/>
          </a:p>
        </p:txBody>
      </p:sp>
      <p:sp>
        <p:nvSpPr>
          <p:cNvPr id="16" name="Text 13"/>
          <p:cNvSpPr/>
          <p:nvPr/>
        </p:nvSpPr>
        <p:spPr>
          <a:xfrm>
            <a:off x="498348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Total</a:t>
            </a:r>
            <a:endParaRPr lang="en-US" sz="900" dirty="0"/>
          </a:p>
        </p:txBody>
      </p:sp>
      <p:sp>
        <p:nvSpPr>
          <p:cNvPr id="17" name="Text 14"/>
          <p:cNvSpPr/>
          <p:nvPr/>
        </p:nvSpPr>
        <p:spPr>
          <a:xfrm>
            <a:off x="731520" y="3566160"/>
            <a:ext cx="5486400" cy="274320"/>
          </a:xfrm>
          <a:prstGeom prst="rect">
            <a:avLst/>
          </a:prstGeom>
          <a:noFill/>
          <a:ln/>
        </p:spPr>
        <p:txBody>
          <a:bodyPr wrap="square" lIns="0" tIns="0" rIns="0" bIns="0" rtlCol="0" anchor="ctr"/>
          <a:lstStyle/>
          <a:p>
            <a:pPr marL="0" indent="0">
              <a:buNone/>
            </a:pPr>
            <a:r>
              <a:rPr lang="en-US" sz="1150" b="1" kern="0" spc="150" dirty="0">
                <a:solidFill>
                  <a:srgbClr val="F2A93B"/>
                </a:solidFill>
              </a:rPr>
              <a:t>TOPICS COVERED</a:t>
            </a:r>
            <a:endParaRPr lang="en-US" sz="1150" dirty="0"/>
          </a:p>
        </p:txBody>
      </p:sp>
      <p:sp>
        <p:nvSpPr>
          <p:cNvPr id="18" name="Shape 15"/>
          <p:cNvSpPr/>
          <p:nvPr/>
        </p:nvSpPr>
        <p:spPr>
          <a:xfrm>
            <a:off x="731520" y="4005072"/>
            <a:ext cx="91440" cy="91440"/>
          </a:xfrm>
          <a:prstGeom prst="ellipse">
            <a:avLst/>
          </a:prstGeom>
          <a:solidFill>
            <a:srgbClr val="F2A93B"/>
          </a:solidFill>
          <a:ln/>
        </p:spPr>
      </p:sp>
      <p:sp>
        <p:nvSpPr>
          <p:cNvPr id="19" name="Text 16"/>
          <p:cNvSpPr/>
          <p:nvPr/>
        </p:nvSpPr>
        <p:spPr>
          <a:xfrm>
            <a:off x="100584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for Loop</a:t>
            </a:r>
            <a:endParaRPr lang="en-US" sz="1300" dirty="0"/>
          </a:p>
        </p:txBody>
      </p:sp>
      <p:sp>
        <p:nvSpPr>
          <p:cNvPr id="20" name="Shape 17"/>
          <p:cNvSpPr/>
          <p:nvPr/>
        </p:nvSpPr>
        <p:spPr>
          <a:xfrm>
            <a:off x="5943600" y="4005072"/>
            <a:ext cx="91440" cy="91440"/>
          </a:xfrm>
          <a:prstGeom prst="ellipse">
            <a:avLst/>
          </a:prstGeom>
          <a:solidFill>
            <a:srgbClr val="F2A93B"/>
          </a:solidFill>
          <a:ln/>
        </p:spPr>
      </p:sp>
      <p:sp>
        <p:nvSpPr>
          <p:cNvPr id="21" name="Text 18"/>
          <p:cNvSpPr/>
          <p:nvPr/>
        </p:nvSpPr>
        <p:spPr>
          <a:xfrm>
            <a:off x="621792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while Loop</a:t>
            </a:r>
            <a:endParaRPr lang="en-US" sz="1300" dirty="0"/>
          </a:p>
        </p:txBody>
      </p:sp>
      <p:sp>
        <p:nvSpPr>
          <p:cNvPr id="22" name="Shape 19"/>
          <p:cNvSpPr/>
          <p:nvPr/>
        </p:nvSpPr>
        <p:spPr>
          <a:xfrm>
            <a:off x="731520" y="4462272"/>
            <a:ext cx="91440" cy="91440"/>
          </a:xfrm>
          <a:prstGeom prst="ellipse">
            <a:avLst/>
          </a:prstGeom>
          <a:solidFill>
            <a:srgbClr val="F2A93B"/>
          </a:solidFill>
          <a:ln/>
        </p:spPr>
      </p:sp>
      <p:sp>
        <p:nvSpPr>
          <p:cNvPr id="23" name="Text 20"/>
          <p:cNvSpPr/>
          <p:nvPr/>
        </p:nvSpPr>
        <p:spPr>
          <a:xfrm>
            <a:off x="100584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break</a:t>
            </a:r>
            <a:endParaRPr lang="en-US" sz="1300" dirty="0"/>
          </a:p>
        </p:txBody>
      </p:sp>
      <p:sp>
        <p:nvSpPr>
          <p:cNvPr id="24" name="Shape 21"/>
          <p:cNvSpPr/>
          <p:nvPr/>
        </p:nvSpPr>
        <p:spPr>
          <a:xfrm>
            <a:off x="5943600" y="4462272"/>
            <a:ext cx="91440" cy="91440"/>
          </a:xfrm>
          <a:prstGeom prst="ellipse">
            <a:avLst/>
          </a:prstGeom>
          <a:solidFill>
            <a:srgbClr val="F2A93B"/>
          </a:solidFill>
          <a:ln/>
        </p:spPr>
      </p:sp>
      <p:sp>
        <p:nvSpPr>
          <p:cNvPr id="25" name="Text 22"/>
          <p:cNvSpPr/>
          <p:nvPr/>
        </p:nvSpPr>
        <p:spPr>
          <a:xfrm>
            <a:off x="621792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continue</a:t>
            </a:r>
            <a:endParaRPr lang="en-US" sz="1300" dirty="0"/>
          </a:p>
        </p:txBody>
      </p:sp>
      <p:sp>
        <p:nvSpPr>
          <p:cNvPr id="27" name="Text 23"/>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25</a:t>
            </a:r>
            <a:endParaRPr lang="en-US" sz="1000" dirty="0"/>
          </a:p>
        </p:txBody>
      </p:sp>
      <p:sp>
        <p:nvSpPr>
          <p:cNvPr id="28" name="Text 24"/>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4 — LOOPS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Learning Objectives &amp; Theory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846320" cy="457200"/>
          </a:xfrm>
          <a:prstGeom prst="rect">
            <a:avLst/>
          </a:prstGeom>
          <a:noFill/>
          <a:ln/>
        </p:spPr>
        <p:txBody>
          <a:bodyPr wrap="square" lIns="0" tIns="0" rIns="0" bIns="0" rtlCol="0" anchor="ctr"/>
          <a:lstStyle/>
          <a:p>
            <a:pPr marL="0" indent="0">
              <a:buNone/>
            </a:pPr>
            <a:r>
              <a:rPr lang="en-US" sz="1500" b="1" dirty="0">
                <a:solidFill>
                  <a:srgbClr val="1B2733"/>
                </a:solidFill>
              </a:rPr>
              <a:t>Learning Objectives</a:t>
            </a:r>
            <a:endParaRPr lang="en-US" sz="1500" dirty="0"/>
          </a:p>
        </p:txBody>
      </p:sp>
      <p:sp>
        <p:nvSpPr>
          <p:cNvPr id="7" name="Text 4"/>
          <p:cNvSpPr/>
          <p:nvPr/>
        </p:nvSpPr>
        <p:spPr>
          <a:xfrm>
            <a:off x="548640" y="2011680"/>
            <a:ext cx="539496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Understand iteration and why loops matter</a:t>
            </a:r>
            <a:endParaRPr lang="en-US" sz="1300" dirty="0"/>
          </a:p>
          <a:p>
            <a:pPr marL="342900" indent="-342900">
              <a:lnSpc>
                <a:spcPct val="115000"/>
              </a:lnSpc>
              <a:spcAft>
                <a:spcPts val="1000"/>
              </a:spcAft>
              <a:buSzPct val="100000"/>
              <a:buChar char="●"/>
            </a:pPr>
            <a:r>
              <a:rPr lang="en-US" sz="1300" dirty="0">
                <a:solidFill>
                  <a:srgbClr val="1B2733"/>
                </a:solidFill>
              </a:rPr>
              <a:t>Use for loops to iterate over sequences/ranges</a:t>
            </a:r>
            <a:endParaRPr lang="en-US" sz="1300" dirty="0"/>
          </a:p>
          <a:p>
            <a:pPr marL="342900" indent="-342900">
              <a:lnSpc>
                <a:spcPct val="115000"/>
              </a:lnSpc>
              <a:spcAft>
                <a:spcPts val="1000"/>
              </a:spcAft>
              <a:buSzPct val="100000"/>
              <a:buChar char="●"/>
            </a:pPr>
            <a:r>
              <a:rPr lang="en-US" sz="1300" dirty="0">
                <a:solidFill>
                  <a:srgbClr val="1B2733"/>
                </a:solidFill>
              </a:rPr>
              <a:t>Use while loops for condition-based repetition</a:t>
            </a:r>
            <a:endParaRPr lang="en-US" sz="1300" dirty="0"/>
          </a:p>
          <a:p>
            <a:pPr marL="342900" indent="-342900">
              <a:lnSpc>
                <a:spcPct val="115000"/>
              </a:lnSpc>
              <a:spcAft>
                <a:spcPts val="1000"/>
              </a:spcAft>
              <a:buSzPct val="100000"/>
              <a:buChar char="●"/>
            </a:pPr>
            <a:r>
              <a:rPr lang="en-US" sz="1300" dirty="0">
                <a:solidFill>
                  <a:srgbClr val="1B2733"/>
                </a:solidFill>
              </a:rPr>
              <a:t>Control loop flow with break and continue</a:t>
            </a:r>
            <a:endParaRPr lang="en-US" sz="1300" dirty="0"/>
          </a:p>
        </p:txBody>
      </p:sp>
      <p:sp>
        <p:nvSpPr>
          <p:cNvPr id="8" name="Shape 5"/>
          <p:cNvSpPr/>
          <p:nvPr/>
        </p:nvSpPr>
        <p:spPr>
          <a:xfrm>
            <a:off x="6172200" y="1417320"/>
            <a:ext cx="13716" cy="4663440"/>
          </a:xfrm>
          <a:prstGeom prst="rect">
            <a:avLst/>
          </a:prstGeom>
          <a:solidFill>
            <a:srgbClr val="DCE6F0"/>
          </a:solidFill>
          <a:ln/>
        </p:spPr>
      </p:sp>
      <p:sp>
        <p:nvSpPr>
          <p:cNvPr id="9" name="Shape 6"/>
          <p:cNvSpPr/>
          <p:nvPr/>
        </p:nvSpPr>
        <p:spPr>
          <a:xfrm>
            <a:off x="6400800" y="1463040"/>
            <a:ext cx="384048" cy="384048"/>
          </a:xfrm>
          <a:prstGeom prst="ellipse">
            <a:avLst/>
          </a:prstGeom>
          <a:solidFill>
            <a:srgbClr val="1E5A96"/>
          </a:solidFill>
          <a:ln/>
        </p:spPr>
      </p:sp>
      <p:pic>
        <p:nvPicPr>
          <p:cNvPr id="10" name="Image 1" descr="preencoded.png"/>
          <p:cNvPicPr>
            <a:picLocks noChangeAspect="1"/>
          </p:cNvPicPr>
          <p:nvPr/>
        </p:nvPicPr>
        <p:blipFill>
          <a:blip r:embed="rId4"/>
          <a:stretch>
            <a:fillRect/>
          </a:stretch>
        </p:blipFill>
        <p:spPr>
          <a:xfrm>
            <a:off x="6483096" y="1545336"/>
            <a:ext cx="219456" cy="219456"/>
          </a:xfrm>
          <a:prstGeom prst="rect">
            <a:avLst/>
          </a:prstGeom>
        </p:spPr>
      </p:pic>
      <p:sp>
        <p:nvSpPr>
          <p:cNvPr id="11" name="Text 7"/>
          <p:cNvSpPr/>
          <p:nvPr/>
        </p:nvSpPr>
        <p:spPr>
          <a:xfrm>
            <a:off x="6912864" y="1435608"/>
            <a:ext cx="4663440" cy="457200"/>
          </a:xfrm>
          <a:prstGeom prst="rect">
            <a:avLst/>
          </a:prstGeom>
          <a:noFill/>
          <a:ln/>
        </p:spPr>
        <p:txBody>
          <a:bodyPr wrap="square" lIns="0" tIns="0" rIns="0" bIns="0" rtlCol="0" anchor="ctr"/>
          <a:lstStyle/>
          <a:p>
            <a:pPr marL="0" indent="0">
              <a:buNone/>
            </a:pPr>
            <a:r>
              <a:rPr lang="en-US" sz="1500" b="1" dirty="0">
                <a:solidFill>
                  <a:srgbClr val="1B2733"/>
                </a:solidFill>
              </a:rPr>
              <a:t>Theory Explanation</a:t>
            </a:r>
            <a:endParaRPr lang="en-US" sz="1500" dirty="0"/>
          </a:p>
        </p:txBody>
      </p:sp>
      <p:sp>
        <p:nvSpPr>
          <p:cNvPr id="12" name="Text 8"/>
          <p:cNvSpPr/>
          <p:nvPr/>
        </p:nvSpPr>
        <p:spPr>
          <a:xfrm>
            <a:off x="6400800" y="2011680"/>
            <a:ext cx="521208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A loop repeats a block of code until a condition changes</a:t>
            </a:r>
            <a:endParaRPr lang="en-US" sz="1300" dirty="0"/>
          </a:p>
          <a:p>
            <a:pPr marL="342900" indent="-342900">
              <a:lnSpc>
                <a:spcPct val="115000"/>
              </a:lnSpc>
              <a:spcAft>
                <a:spcPts val="1000"/>
              </a:spcAft>
              <a:buSzPct val="100000"/>
              <a:buChar char="●"/>
            </a:pPr>
            <a:r>
              <a:rPr lang="en-US" sz="1300" dirty="0">
                <a:solidFill>
                  <a:srgbClr val="1B2733"/>
                </a:solidFill>
              </a:rPr>
              <a:t>for loops iterate over a known sequence (list, range, string)</a:t>
            </a:r>
            <a:endParaRPr lang="en-US" sz="1300" dirty="0"/>
          </a:p>
          <a:p>
            <a:pPr marL="342900" indent="-342900">
              <a:lnSpc>
                <a:spcPct val="115000"/>
              </a:lnSpc>
              <a:spcAft>
                <a:spcPts val="1000"/>
              </a:spcAft>
              <a:buSzPct val="100000"/>
              <a:buChar char="●"/>
            </a:pPr>
            <a:r>
              <a:rPr lang="en-US" sz="1300" dirty="0">
                <a:solidFill>
                  <a:srgbClr val="1B2733"/>
                </a:solidFill>
              </a:rPr>
              <a:t>while loops repeat as long as a condition stays True</a:t>
            </a:r>
            <a:endParaRPr lang="en-US" sz="1300" dirty="0"/>
          </a:p>
          <a:p>
            <a:pPr marL="342900" indent="-342900">
              <a:lnSpc>
                <a:spcPct val="115000"/>
              </a:lnSpc>
              <a:spcAft>
                <a:spcPts val="1000"/>
              </a:spcAft>
              <a:buSzPct val="100000"/>
              <a:buChar char="●"/>
            </a:pPr>
            <a:r>
              <a:rPr lang="en-US" sz="1300" dirty="0">
                <a:solidFill>
                  <a:srgbClr val="1B2733"/>
                </a:solidFill>
              </a:rPr>
              <a:t>break exits a loop early; continue skips to the next iteration</a:t>
            </a:r>
            <a:endParaRPr lang="en-US" sz="1300" dirty="0"/>
          </a:p>
          <a:p>
            <a:pPr marL="342900" indent="-342900">
              <a:lnSpc>
                <a:spcPct val="115000"/>
              </a:lnSpc>
              <a:spcAft>
                <a:spcPts val="1000"/>
              </a:spcAft>
              <a:buSzPct val="100000"/>
              <a:buChar char="●"/>
            </a:pPr>
            <a:r>
              <a:rPr lang="en-US" sz="1300" dirty="0">
                <a:solidFill>
                  <a:srgbClr val="1B2733"/>
                </a:solidFill>
              </a:rPr>
              <a:t>Forgetting to update a condition can cause an infinite loop</a:t>
            </a:r>
            <a:endParaRPr lang="en-US" sz="1300" dirty="0"/>
          </a:p>
        </p:txBody>
      </p:sp>
      <p:sp>
        <p:nvSpPr>
          <p:cNvPr id="13" name="Text 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26</a:t>
            </a:r>
            <a:endParaRPr lang="en-US" sz="10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4 — LOOPS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Concept Diagram</a:t>
            </a:r>
            <a:endParaRPr lang="en-US" sz="2700" dirty="0"/>
          </a:p>
        </p:txBody>
      </p:sp>
      <p:sp>
        <p:nvSpPr>
          <p:cNvPr id="4" name="Shape 2"/>
          <p:cNvSpPr/>
          <p:nvPr/>
        </p:nvSpPr>
        <p:spPr>
          <a:xfrm>
            <a:off x="457200" y="1417320"/>
            <a:ext cx="11247120" cy="4663440"/>
          </a:xfrm>
          <a:prstGeom prst="roundRect">
            <a:avLst>
              <a:gd name="adj" fmla="val 1961"/>
            </a:avLst>
          </a:prstGeom>
          <a:solidFill>
            <a:srgbClr val="EEF4FA"/>
          </a:solidFill>
          <a:ln/>
        </p:spPr>
      </p:sp>
      <p:sp>
        <p:nvSpPr>
          <p:cNvPr id="5" name="Shape 3"/>
          <p:cNvSpPr/>
          <p:nvPr/>
        </p:nvSpPr>
        <p:spPr>
          <a:xfrm>
            <a:off x="1280160" y="1783080"/>
            <a:ext cx="2011680" cy="457200"/>
          </a:xfrm>
          <a:prstGeom prst="roundRect">
            <a:avLst>
              <a:gd name="adj" fmla="val 14000"/>
            </a:avLst>
          </a:prstGeom>
          <a:solidFill>
            <a:srgbClr val="132A46"/>
          </a:solidFill>
          <a:ln/>
        </p:spPr>
      </p:sp>
      <p:sp>
        <p:nvSpPr>
          <p:cNvPr id="6" name="Text 4"/>
          <p:cNvSpPr/>
          <p:nvPr/>
        </p:nvSpPr>
        <p:spPr>
          <a:xfrm>
            <a:off x="1371600" y="1783080"/>
            <a:ext cx="1828800" cy="457200"/>
          </a:xfrm>
          <a:prstGeom prst="rect">
            <a:avLst/>
          </a:prstGeom>
          <a:noFill/>
          <a:ln/>
        </p:spPr>
        <p:txBody>
          <a:bodyPr wrap="square" lIns="0" tIns="0" rIns="0" bIns="0" rtlCol="0" anchor="ctr"/>
          <a:lstStyle/>
          <a:p>
            <a:pPr marL="0" indent="0" algn="ctr">
              <a:buNone/>
            </a:pPr>
            <a:r>
              <a:rPr lang="en-US" sz="1150" b="1" dirty="0">
                <a:solidFill>
                  <a:srgbClr val="FFFFFF"/>
                </a:solidFill>
              </a:rPr>
              <a:t>i = 1</a:t>
            </a:r>
            <a:endParaRPr lang="en-US" sz="1150" dirty="0"/>
          </a:p>
        </p:txBody>
      </p:sp>
      <p:sp>
        <p:nvSpPr>
          <p:cNvPr id="7" name="Shape 5"/>
          <p:cNvSpPr/>
          <p:nvPr/>
        </p:nvSpPr>
        <p:spPr>
          <a:xfrm>
            <a:off x="2286000" y="2240280"/>
            <a:ext cx="0" cy="365760"/>
          </a:xfrm>
          <a:prstGeom prst="line">
            <a:avLst/>
          </a:prstGeom>
          <a:noFill/>
          <a:ln w="25400">
            <a:solidFill>
              <a:srgbClr val="5C6B7A"/>
            </a:solidFill>
            <a:prstDash val="solid"/>
            <a:tailEnd type="triangle"/>
          </a:ln>
        </p:spPr>
      </p:sp>
      <p:sp>
        <p:nvSpPr>
          <p:cNvPr id="8" name="Shape 6"/>
          <p:cNvSpPr/>
          <p:nvPr/>
        </p:nvSpPr>
        <p:spPr>
          <a:xfrm>
            <a:off x="1188720" y="2697480"/>
            <a:ext cx="2194560" cy="914400"/>
          </a:xfrm>
          <a:prstGeom prst="diamond">
            <a:avLst/>
          </a:prstGeom>
          <a:solidFill>
            <a:srgbClr val="F2A93B"/>
          </a:solidFill>
          <a:ln/>
        </p:spPr>
      </p:sp>
      <p:sp>
        <p:nvSpPr>
          <p:cNvPr id="9" name="Text 7"/>
          <p:cNvSpPr/>
          <p:nvPr/>
        </p:nvSpPr>
        <p:spPr>
          <a:xfrm>
            <a:off x="1280160" y="2697480"/>
            <a:ext cx="2011680" cy="914400"/>
          </a:xfrm>
          <a:prstGeom prst="rect">
            <a:avLst/>
          </a:prstGeom>
          <a:noFill/>
          <a:ln/>
        </p:spPr>
        <p:txBody>
          <a:bodyPr wrap="square" lIns="0" tIns="0" rIns="0" bIns="0" rtlCol="0" anchor="ctr"/>
          <a:lstStyle/>
          <a:p>
            <a:pPr marL="0" indent="0" algn="ctr">
              <a:buNone/>
            </a:pPr>
            <a:r>
              <a:rPr lang="en-US" sz="1100" b="1" dirty="0">
                <a:solidFill>
                  <a:srgbClr val="1B2733"/>
                </a:solidFill>
              </a:rPr>
              <a:t>i &lt;= 5 ?</a:t>
            </a:r>
            <a:endParaRPr lang="en-US" sz="1100" dirty="0"/>
          </a:p>
        </p:txBody>
      </p:sp>
      <p:sp>
        <p:nvSpPr>
          <p:cNvPr id="10" name="Shape 8"/>
          <p:cNvSpPr/>
          <p:nvPr/>
        </p:nvSpPr>
        <p:spPr>
          <a:xfrm>
            <a:off x="2286000" y="3611880"/>
            <a:ext cx="0" cy="365760"/>
          </a:xfrm>
          <a:prstGeom prst="line">
            <a:avLst/>
          </a:prstGeom>
          <a:noFill/>
          <a:ln w="25400">
            <a:solidFill>
              <a:srgbClr val="5C6B7A"/>
            </a:solidFill>
            <a:prstDash val="solid"/>
            <a:tailEnd type="triangle"/>
          </a:ln>
        </p:spPr>
      </p:sp>
      <p:sp>
        <p:nvSpPr>
          <p:cNvPr id="11" name="Shape 9"/>
          <p:cNvSpPr/>
          <p:nvPr/>
        </p:nvSpPr>
        <p:spPr>
          <a:xfrm>
            <a:off x="1280160" y="4069080"/>
            <a:ext cx="2011680" cy="457200"/>
          </a:xfrm>
          <a:prstGeom prst="roundRect">
            <a:avLst>
              <a:gd name="adj" fmla="val 14000"/>
            </a:avLst>
          </a:prstGeom>
          <a:solidFill>
            <a:srgbClr val="1E5A96"/>
          </a:solidFill>
          <a:ln/>
        </p:spPr>
      </p:sp>
      <p:sp>
        <p:nvSpPr>
          <p:cNvPr id="12" name="Text 10"/>
          <p:cNvSpPr/>
          <p:nvPr/>
        </p:nvSpPr>
        <p:spPr>
          <a:xfrm>
            <a:off x="1371600" y="4069080"/>
            <a:ext cx="1828800" cy="457200"/>
          </a:xfrm>
          <a:prstGeom prst="rect">
            <a:avLst/>
          </a:prstGeom>
          <a:noFill/>
          <a:ln/>
        </p:spPr>
        <p:txBody>
          <a:bodyPr wrap="square" lIns="0" tIns="0" rIns="0" bIns="0" rtlCol="0" anchor="ctr"/>
          <a:lstStyle/>
          <a:p>
            <a:pPr marL="0" indent="0" algn="ctr">
              <a:buNone/>
            </a:pPr>
            <a:r>
              <a:rPr lang="en-US" sz="1150" b="1" dirty="0">
                <a:solidFill>
                  <a:srgbClr val="FFFFFF"/>
                </a:solidFill>
              </a:rPr>
              <a:t>print(i)</a:t>
            </a:r>
            <a:endParaRPr lang="en-US" sz="1150" dirty="0"/>
          </a:p>
        </p:txBody>
      </p:sp>
      <p:sp>
        <p:nvSpPr>
          <p:cNvPr id="13" name="Shape 11"/>
          <p:cNvSpPr/>
          <p:nvPr/>
        </p:nvSpPr>
        <p:spPr>
          <a:xfrm>
            <a:off x="2286000" y="4526280"/>
            <a:ext cx="0" cy="365760"/>
          </a:xfrm>
          <a:prstGeom prst="line">
            <a:avLst/>
          </a:prstGeom>
          <a:noFill/>
          <a:ln w="25400">
            <a:solidFill>
              <a:srgbClr val="5C6B7A"/>
            </a:solidFill>
            <a:prstDash val="solid"/>
            <a:tailEnd type="triangle"/>
          </a:ln>
        </p:spPr>
      </p:sp>
      <p:sp>
        <p:nvSpPr>
          <p:cNvPr id="14" name="Shape 12"/>
          <p:cNvSpPr/>
          <p:nvPr/>
        </p:nvSpPr>
        <p:spPr>
          <a:xfrm>
            <a:off x="1280160" y="4983480"/>
            <a:ext cx="2011680" cy="457200"/>
          </a:xfrm>
          <a:prstGeom prst="roundRect">
            <a:avLst>
              <a:gd name="adj" fmla="val 14000"/>
            </a:avLst>
          </a:prstGeom>
          <a:solidFill>
            <a:srgbClr val="1E5A96"/>
          </a:solidFill>
          <a:ln/>
        </p:spPr>
      </p:sp>
      <p:sp>
        <p:nvSpPr>
          <p:cNvPr id="15" name="Text 13"/>
          <p:cNvSpPr/>
          <p:nvPr/>
        </p:nvSpPr>
        <p:spPr>
          <a:xfrm>
            <a:off x="1371600" y="4983480"/>
            <a:ext cx="1828800" cy="457200"/>
          </a:xfrm>
          <a:prstGeom prst="rect">
            <a:avLst/>
          </a:prstGeom>
          <a:noFill/>
          <a:ln/>
        </p:spPr>
        <p:txBody>
          <a:bodyPr wrap="square" lIns="0" tIns="0" rIns="0" bIns="0" rtlCol="0" anchor="ctr"/>
          <a:lstStyle/>
          <a:p>
            <a:pPr marL="0" indent="0" algn="ctr">
              <a:buNone/>
            </a:pPr>
            <a:r>
              <a:rPr lang="en-US" sz="1150" b="1" dirty="0">
                <a:solidFill>
                  <a:srgbClr val="FFFFFF"/>
                </a:solidFill>
              </a:rPr>
              <a:t>i = i + 1</a:t>
            </a:r>
            <a:endParaRPr lang="en-US" sz="1150" dirty="0"/>
          </a:p>
        </p:txBody>
      </p:sp>
      <p:sp>
        <p:nvSpPr>
          <p:cNvPr id="16" name="Shape 14"/>
          <p:cNvSpPr/>
          <p:nvPr/>
        </p:nvSpPr>
        <p:spPr>
          <a:xfrm>
            <a:off x="4480560" y="5440680"/>
            <a:ext cx="0" cy="0"/>
          </a:xfrm>
          <a:prstGeom prst="line">
            <a:avLst/>
          </a:prstGeom>
          <a:noFill/>
          <a:ln w="25400">
            <a:solidFill>
              <a:srgbClr val="5C6B7A"/>
            </a:solidFill>
            <a:prstDash val="solid"/>
          </a:ln>
        </p:spPr>
      </p:sp>
      <p:sp>
        <p:nvSpPr>
          <p:cNvPr id="17" name="Shape 15"/>
          <p:cNvSpPr/>
          <p:nvPr/>
        </p:nvSpPr>
        <p:spPr>
          <a:xfrm>
            <a:off x="3383280" y="3154680"/>
            <a:ext cx="1097280" cy="0"/>
          </a:xfrm>
          <a:prstGeom prst="line">
            <a:avLst/>
          </a:prstGeom>
          <a:noFill/>
          <a:ln w="25400">
            <a:solidFill>
              <a:srgbClr val="5C6B7A"/>
            </a:solidFill>
            <a:prstDash val="solid"/>
          </a:ln>
        </p:spPr>
      </p:sp>
      <p:sp>
        <p:nvSpPr>
          <p:cNvPr id="18" name="Shape 16"/>
          <p:cNvSpPr/>
          <p:nvPr/>
        </p:nvSpPr>
        <p:spPr>
          <a:xfrm>
            <a:off x="3291840" y="5440680"/>
            <a:ext cx="1188720" cy="0"/>
          </a:xfrm>
          <a:prstGeom prst="line">
            <a:avLst/>
          </a:prstGeom>
          <a:noFill/>
          <a:ln w="25400">
            <a:solidFill>
              <a:srgbClr val="5C6B7A"/>
            </a:solidFill>
            <a:prstDash val="solid"/>
            <a:tailEnd type="triangle"/>
          </a:ln>
        </p:spPr>
      </p:sp>
      <p:sp>
        <p:nvSpPr>
          <p:cNvPr id="19" name="Shape 17"/>
          <p:cNvSpPr/>
          <p:nvPr/>
        </p:nvSpPr>
        <p:spPr>
          <a:xfrm>
            <a:off x="4480560" y="3154680"/>
            <a:ext cx="0" cy="2286000"/>
          </a:xfrm>
          <a:prstGeom prst="line">
            <a:avLst/>
          </a:prstGeom>
          <a:noFill/>
          <a:ln w="25400">
            <a:solidFill>
              <a:srgbClr val="5C6B7A"/>
            </a:solidFill>
            <a:prstDash val="solid"/>
          </a:ln>
        </p:spPr>
      </p:sp>
      <p:sp>
        <p:nvSpPr>
          <p:cNvPr id="20" name="Text 18"/>
          <p:cNvSpPr/>
          <p:nvPr/>
        </p:nvSpPr>
        <p:spPr>
          <a:xfrm>
            <a:off x="3657600" y="2834640"/>
            <a:ext cx="548640" cy="274320"/>
          </a:xfrm>
          <a:prstGeom prst="rect">
            <a:avLst/>
          </a:prstGeom>
          <a:noFill/>
          <a:ln/>
        </p:spPr>
        <p:txBody>
          <a:bodyPr wrap="square" lIns="0" tIns="0" rIns="0" bIns="0" rtlCol="0" anchor="ctr"/>
          <a:lstStyle/>
          <a:p>
            <a:pPr marL="0" indent="0">
              <a:buNone/>
            </a:pPr>
            <a:r>
              <a:rPr lang="en-US" sz="1000" i="1" dirty="0">
                <a:solidFill>
                  <a:srgbClr val="5C6B7A"/>
                </a:solidFill>
              </a:rPr>
              <a:t>No</a:t>
            </a:r>
            <a:endParaRPr lang="en-US" sz="1000" dirty="0"/>
          </a:p>
        </p:txBody>
      </p:sp>
      <p:sp>
        <p:nvSpPr>
          <p:cNvPr id="21" name="Shape 19"/>
          <p:cNvSpPr/>
          <p:nvPr/>
        </p:nvSpPr>
        <p:spPr>
          <a:xfrm>
            <a:off x="5303520" y="2926080"/>
            <a:ext cx="1645920" cy="457200"/>
          </a:xfrm>
          <a:prstGeom prst="roundRect">
            <a:avLst>
              <a:gd name="adj" fmla="val 14000"/>
            </a:avLst>
          </a:prstGeom>
          <a:solidFill>
            <a:srgbClr val="132A46"/>
          </a:solidFill>
          <a:ln/>
        </p:spPr>
      </p:sp>
      <p:sp>
        <p:nvSpPr>
          <p:cNvPr id="22" name="Text 20"/>
          <p:cNvSpPr/>
          <p:nvPr/>
        </p:nvSpPr>
        <p:spPr>
          <a:xfrm>
            <a:off x="5394960" y="2926080"/>
            <a:ext cx="1463040" cy="457200"/>
          </a:xfrm>
          <a:prstGeom prst="rect">
            <a:avLst/>
          </a:prstGeom>
          <a:noFill/>
          <a:ln/>
        </p:spPr>
        <p:txBody>
          <a:bodyPr wrap="square" lIns="0" tIns="0" rIns="0" bIns="0" rtlCol="0" anchor="ctr"/>
          <a:lstStyle/>
          <a:p>
            <a:pPr marL="0" indent="0" algn="ctr">
              <a:buNone/>
            </a:pPr>
            <a:r>
              <a:rPr lang="en-US" sz="1150" b="1" dirty="0">
                <a:solidFill>
                  <a:srgbClr val="FFFFFF"/>
                </a:solidFill>
              </a:rPr>
              <a:t>End</a:t>
            </a:r>
            <a:endParaRPr lang="en-US" sz="1150" dirty="0"/>
          </a:p>
        </p:txBody>
      </p:sp>
      <p:sp>
        <p:nvSpPr>
          <p:cNvPr id="23" name="Shape 21"/>
          <p:cNvSpPr/>
          <p:nvPr/>
        </p:nvSpPr>
        <p:spPr>
          <a:xfrm>
            <a:off x="3383280" y="3154680"/>
            <a:ext cx="1920240" cy="0"/>
          </a:xfrm>
          <a:prstGeom prst="line">
            <a:avLst/>
          </a:prstGeom>
          <a:noFill/>
          <a:ln w="25400">
            <a:solidFill>
              <a:srgbClr val="5C6B7A"/>
            </a:solidFill>
            <a:prstDash val="solid"/>
            <a:tailEnd type="triangle"/>
          </a:ln>
        </p:spPr>
      </p:sp>
      <p:sp>
        <p:nvSpPr>
          <p:cNvPr id="24" name="Text 2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27</a:t>
            </a:r>
            <a:endParaRPr lang="en-US" sz="1000" dirty="0"/>
          </a:p>
        </p:txBody>
      </p:sp>
      <p:sp>
        <p:nvSpPr>
          <p:cNvPr id="25" name="Text 2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4 — LOOPS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Where This Is Used</a:t>
            </a:r>
            <a:endParaRPr lang="en-US" sz="2700" dirty="0"/>
          </a:p>
        </p:txBody>
      </p:sp>
      <p:sp>
        <p:nvSpPr>
          <p:cNvPr id="4" name="Shape 2"/>
          <p:cNvSpPr/>
          <p:nvPr/>
        </p:nvSpPr>
        <p:spPr>
          <a:xfrm>
            <a:off x="548640" y="1645920"/>
            <a:ext cx="3505200" cy="3566160"/>
          </a:xfrm>
          <a:prstGeom prst="roundRect">
            <a:avLst>
              <a:gd name="adj" fmla="val 2609"/>
            </a:avLst>
          </a:prstGeom>
          <a:solidFill>
            <a:srgbClr val="1E5A96"/>
          </a:solidFill>
          <a:ln/>
        </p:spPr>
      </p:sp>
      <p:sp>
        <p:nvSpPr>
          <p:cNvPr id="5" name="Shape 3"/>
          <p:cNvSpPr/>
          <p:nvPr/>
        </p:nvSpPr>
        <p:spPr>
          <a:xfrm>
            <a:off x="1981200" y="1965960"/>
            <a:ext cx="640080" cy="640080"/>
          </a:xfrm>
          <a:prstGeom prst="ellipse">
            <a:avLst/>
          </a:prstGeom>
          <a:solidFill>
            <a:srgbClr val="FFFFFF">
              <a:alpha val="88000"/>
            </a:srgbClr>
          </a:solidFill>
          <a:ln/>
        </p:spPr>
      </p:sp>
      <p:pic>
        <p:nvPicPr>
          <p:cNvPr id="6" name="Image 0" descr="preencoded.png"/>
          <p:cNvPicPr>
            <a:picLocks noChangeAspect="1"/>
          </p:cNvPicPr>
          <p:nvPr/>
        </p:nvPicPr>
        <p:blipFill>
          <a:blip r:embed="rId3"/>
          <a:stretch>
            <a:fillRect/>
          </a:stretch>
        </p:blipFill>
        <p:spPr>
          <a:xfrm>
            <a:off x="2118360" y="2103120"/>
            <a:ext cx="365760" cy="365760"/>
          </a:xfrm>
          <a:prstGeom prst="rect">
            <a:avLst/>
          </a:prstGeom>
        </p:spPr>
      </p:pic>
      <p:sp>
        <p:nvSpPr>
          <p:cNvPr id="7" name="Text 4"/>
          <p:cNvSpPr/>
          <p:nvPr/>
        </p:nvSpPr>
        <p:spPr>
          <a:xfrm>
            <a:off x="73152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Attendance Marking</a:t>
            </a:r>
            <a:endParaRPr lang="en-US" sz="1500" dirty="0"/>
          </a:p>
        </p:txBody>
      </p:sp>
      <p:sp>
        <p:nvSpPr>
          <p:cNvPr id="8" name="Text 5"/>
          <p:cNvSpPr/>
          <p:nvPr/>
        </p:nvSpPr>
        <p:spPr>
          <a:xfrm>
            <a:off x="77724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Looping through a class list of students</a:t>
            </a:r>
            <a:endParaRPr lang="en-US" sz="1200" dirty="0"/>
          </a:p>
        </p:txBody>
      </p:sp>
      <p:sp>
        <p:nvSpPr>
          <p:cNvPr id="9" name="Shape 6"/>
          <p:cNvSpPr/>
          <p:nvPr/>
        </p:nvSpPr>
        <p:spPr>
          <a:xfrm>
            <a:off x="4328160" y="1645920"/>
            <a:ext cx="3505200" cy="3566160"/>
          </a:xfrm>
          <a:prstGeom prst="roundRect">
            <a:avLst>
              <a:gd name="adj" fmla="val 2609"/>
            </a:avLst>
          </a:prstGeom>
          <a:solidFill>
            <a:srgbClr val="132A46"/>
          </a:solidFill>
          <a:ln/>
        </p:spPr>
      </p:sp>
      <p:sp>
        <p:nvSpPr>
          <p:cNvPr id="10" name="Shape 7"/>
          <p:cNvSpPr/>
          <p:nvPr/>
        </p:nvSpPr>
        <p:spPr>
          <a:xfrm>
            <a:off x="5760720" y="1965960"/>
            <a:ext cx="640080" cy="640080"/>
          </a:xfrm>
          <a:prstGeom prst="ellipse">
            <a:avLst/>
          </a:prstGeom>
          <a:solidFill>
            <a:srgbClr val="FFFFFF">
              <a:alpha val="88000"/>
            </a:srgbClr>
          </a:solidFill>
          <a:ln/>
        </p:spPr>
      </p:sp>
      <p:pic>
        <p:nvPicPr>
          <p:cNvPr id="11" name="Image 1" descr="preencoded.png"/>
          <p:cNvPicPr>
            <a:picLocks noChangeAspect="1"/>
          </p:cNvPicPr>
          <p:nvPr/>
        </p:nvPicPr>
        <p:blipFill>
          <a:blip r:embed="rId3"/>
          <a:stretch>
            <a:fillRect/>
          </a:stretch>
        </p:blipFill>
        <p:spPr>
          <a:xfrm>
            <a:off x="5897880" y="2103120"/>
            <a:ext cx="365760" cy="365760"/>
          </a:xfrm>
          <a:prstGeom prst="rect">
            <a:avLst/>
          </a:prstGeom>
        </p:spPr>
      </p:pic>
      <p:sp>
        <p:nvSpPr>
          <p:cNvPr id="12" name="Text 8"/>
          <p:cNvSpPr/>
          <p:nvPr/>
        </p:nvSpPr>
        <p:spPr>
          <a:xfrm>
            <a:off x="451104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Batch Processing</a:t>
            </a:r>
            <a:endParaRPr lang="en-US" sz="1500" dirty="0"/>
          </a:p>
        </p:txBody>
      </p:sp>
      <p:sp>
        <p:nvSpPr>
          <p:cNvPr id="13" name="Text 9"/>
          <p:cNvSpPr/>
          <p:nvPr/>
        </p:nvSpPr>
        <p:spPr>
          <a:xfrm>
            <a:off x="455676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Repeating an action over many files/records</a:t>
            </a:r>
            <a:endParaRPr lang="en-US" sz="1200" dirty="0"/>
          </a:p>
        </p:txBody>
      </p:sp>
      <p:sp>
        <p:nvSpPr>
          <p:cNvPr id="14" name="Shape 10"/>
          <p:cNvSpPr/>
          <p:nvPr/>
        </p:nvSpPr>
        <p:spPr>
          <a:xfrm>
            <a:off x="8107680" y="1645920"/>
            <a:ext cx="3505200" cy="3566160"/>
          </a:xfrm>
          <a:prstGeom prst="roundRect">
            <a:avLst>
              <a:gd name="adj" fmla="val 2609"/>
            </a:avLst>
          </a:prstGeom>
          <a:solidFill>
            <a:srgbClr val="1E5A96"/>
          </a:solidFill>
          <a:ln/>
        </p:spPr>
      </p:sp>
      <p:sp>
        <p:nvSpPr>
          <p:cNvPr id="15" name="Shape 11"/>
          <p:cNvSpPr/>
          <p:nvPr/>
        </p:nvSpPr>
        <p:spPr>
          <a:xfrm>
            <a:off x="9540240" y="1965960"/>
            <a:ext cx="640080" cy="640080"/>
          </a:xfrm>
          <a:prstGeom prst="ellipse">
            <a:avLst/>
          </a:prstGeom>
          <a:solidFill>
            <a:srgbClr val="FFFFFF">
              <a:alpha val="88000"/>
            </a:srgbClr>
          </a:solidFill>
          <a:ln/>
        </p:spPr>
      </p:sp>
      <p:pic>
        <p:nvPicPr>
          <p:cNvPr id="16" name="Image 2" descr="preencoded.png"/>
          <p:cNvPicPr>
            <a:picLocks noChangeAspect="1"/>
          </p:cNvPicPr>
          <p:nvPr/>
        </p:nvPicPr>
        <p:blipFill>
          <a:blip r:embed="rId3"/>
          <a:stretch>
            <a:fillRect/>
          </a:stretch>
        </p:blipFill>
        <p:spPr>
          <a:xfrm>
            <a:off x="9677400" y="2103120"/>
            <a:ext cx="365760" cy="365760"/>
          </a:xfrm>
          <a:prstGeom prst="rect">
            <a:avLst/>
          </a:prstGeom>
        </p:spPr>
      </p:pic>
      <p:sp>
        <p:nvSpPr>
          <p:cNvPr id="17" name="Text 12"/>
          <p:cNvSpPr/>
          <p:nvPr/>
        </p:nvSpPr>
        <p:spPr>
          <a:xfrm>
            <a:off x="829056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Game Loops</a:t>
            </a:r>
            <a:endParaRPr lang="en-US" sz="1500" dirty="0"/>
          </a:p>
        </p:txBody>
      </p:sp>
      <p:sp>
        <p:nvSpPr>
          <p:cNvPr id="18" name="Text 13"/>
          <p:cNvSpPr/>
          <p:nvPr/>
        </p:nvSpPr>
        <p:spPr>
          <a:xfrm>
            <a:off x="833628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Repeating gameplay logic every frame</a:t>
            </a:r>
            <a:endParaRPr lang="en-US" sz="1200" dirty="0"/>
          </a:p>
        </p:txBody>
      </p:sp>
      <p:sp>
        <p:nvSpPr>
          <p:cNvPr id="19" name="Text 14"/>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28</a:t>
            </a:r>
            <a:endParaRPr lang="en-US" sz="10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4 — LOOPS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Coding Example &amp; Practical Exercises</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937760" cy="457200"/>
          </a:xfrm>
          <a:prstGeom prst="rect">
            <a:avLst/>
          </a:prstGeom>
          <a:noFill/>
          <a:ln/>
        </p:spPr>
        <p:txBody>
          <a:bodyPr wrap="square" lIns="0" tIns="0" rIns="0" bIns="0" rtlCol="0" anchor="ctr"/>
          <a:lstStyle/>
          <a:p>
            <a:pPr marL="0" indent="0">
              <a:buNone/>
            </a:pPr>
            <a:r>
              <a:rPr lang="en-US" sz="1500" b="1" dirty="0">
                <a:solidFill>
                  <a:srgbClr val="1B2733"/>
                </a:solidFill>
              </a:rPr>
              <a:t>Coding Example</a:t>
            </a:r>
            <a:endParaRPr lang="en-US" sz="1500" dirty="0"/>
          </a:p>
        </p:txBody>
      </p:sp>
      <p:sp>
        <p:nvSpPr>
          <p:cNvPr id="7" name="Shape 4"/>
          <p:cNvSpPr/>
          <p:nvPr/>
        </p:nvSpPr>
        <p:spPr>
          <a:xfrm>
            <a:off x="548640" y="2011680"/>
            <a:ext cx="5486400" cy="3108960"/>
          </a:xfrm>
          <a:prstGeom prst="roundRect">
            <a:avLst>
              <a:gd name="adj" fmla="val 2353"/>
            </a:avLst>
          </a:prstGeom>
          <a:solidFill>
            <a:srgbClr val="1E1E2E"/>
          </a:solidFill>
          <a:ln/>
          <a:effectLst>
            <a:outerShdw blurRad="101600" dist="38100" dir="5400000" algn="bl" rotWithShape="0">
              <a:srgbClr val="000000">
                <a:alpha val="18000"/>
              </a:srgbClr>
            </a:outerShdw>
          </a:effectLst>
        </p:spPr>
      </p:sp>
      <p:sp>
        <p:nvSpPr>
          <p:cNvPr id="8" name="Text 5"/>
          <p:cNvSpPr/>
          <p:nvPr/>
        </p:nvSpPr>
        <p:spPr>
          <a:xfrm>
            <a:off x="731520" y="2103120"/>
            <a:ext cx="5120640" cy="274320"/>
          </a:xfrm>
          <a:prstGeom prst="rect">
            <a:avLst/>
          </a:prstGeom>
          <a:noFill/>
          <a:ln/>
        </p:spPr>
        <p:txBody>
          <a:bodyPr wrap="square" lIns="0" tIns="0" rIns="0" bIns="0" rtlCol="0" anchor="ctr"/>
          <a:lstStyle/>
          <a:p>
            <a:pPr marL="0" indent="0">
              <a:buNone/>
            </a:pPr>
            <a:r>
              <a:rPr lang="en-US" sz="1050" dirty="0">
                <a:solidFill>
                  <a:srgbClr val="8FA3B8"/>
                </a:solidFill>
                <a:latin typeface="Courier New" pitchFamily="34" charset="0"/>
                <a:ea typeface="Courier New" pitchFamily="34" charset="-122"/>
                <a:cs typeface="Courier New" pitchFamily="34" charset="-120"/>
              </a:rPr>
              <a:t>counter.py</a:t>
            </a:r>
            <a:endParaRPr lang="en-US" sz="1050" dirty="0"/>
          </a:p>
        </p:txBody>
      </p:sp>
      <p:sp>
        <p:nvSpPr>
          <p:cNvPr id="9" name="Text 6"/>
          <p:cNvSpPr/>
          <p:nvPr/>
        </p:nvSpPr>
        <p:spPr>
          <a:xfrm>
            <a:off x="777240" y="2395728"/>
            <a:ext cx="5029200" cy="2560320"/>
          </a:xfrm>
          <a:prstGeom prst="rect">
            <a:avLst/>
          </a:prstGeom>
          <a:noFill/>
          <a:ln/>
        </p:spPr>
        <p:txBody>
          <a:bodyPr wrap="square" lIns="0" tIns="0" rIns="0" bIns="0" rtlCol="0" anchor="t"/>
          <a:lstStyle/>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for i in range(1, 6):</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print(i)</a:t>
            </a:r>
            <a:endParaRPr lang="en-US" sz="1300" dirty="0"/>
          </a:p>
        </p:txBody>
      </p:sp>
      <p:sp>
        <p:nvSpPr>
          <p:cNvPr id="10" name="Shape 7"/>
          <p:cNvSpPr/>
          <p:nvPr/>
        </p:nvSpPr>
        <p:spPr>
          <a:xfrm>
            <a:off x="6355080" y="1463040"/>
            <a:ext cx="384048" cy="384048"/>
          </a:xfrm>
          <a:prstGeom prst="ellipse">
            <a:avLst/>
          </a:prstGeom>
          <a:solidFill>
            <a:srgbClr val="1E5A96"/>
          </a:solidFill>
          <a:ln/>
        </p:spPr>
      </p:sp>
      <p:pic>
        <p:nvPicPr>
          <p:cNvPr id="11"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2" name="Text 8"/>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Practical Exercises</a:t>
            </a:r>
            <a:endParaRPr lang="en-US" sz="1500" dirty="0"/>
          </a:p>
        </p:txBody>
      </p:sp>
      <p:sp>
        <p:nvSpPr>
          <p:cNvPr id="13" name="Shape 9"/>
          <p:cNvSpPr/>
          <p:nvPr/>
        </p:nvSpPr>
        <p:spPr>
          <a:xfrm>
            <a:off x="6355080" y="2011680"/>
            <a:ext cx="5257800" cy="3108960"/>
          </a:xfrm>
          <a:prstGeom prst="roundRect">
            <a:avLst>
              <a:gd name="adj" fmla="val 2353"/>
            </a:avLst>
          </a:prstGeom>
          <a:solidFill>
            <a:srgbClr val="EEF4FA"/>
          </a:solidFill>
          <a:ln/>
        </p:spPr>
      </p:sp>
      <p:sp>
        <p:nvSpPr>
          <p:cNvPr id="14" name="Text 10"/>
          <p:cNvSpPr/>
          <p:nvPr/>
        </p:nvSpPr>
        <p:spPr>
          <a:xfrm>
            <a:off x="6583680" y="2212848"/>
            <a:ext cx="4846320" cy="27432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B2733"/>
                </a:solidFill>
              </a:rPr>
              <a:t>Print a multiplication table</a:t>
            </a:r>
            <a:endParaRPr lang="en-US" sz="1350" dirty="0"/>
          </a:p>
          <a:p>
            <a:pPr marL="342900" indent="-342900">
              <a:lnSpc>
                <a:spcPct val="120000"/>
              </a:lnSpc>
              <a:spcAft>
                <a:spcPts val="1200"/>
              </a:spcAft>
              <a:buSzPct val="100000"/>
              <a:buChar char="•"/>
            </a:pPr>
            <a:r>
              <a:rPr lang="en-US" sz="1350" dirty="0">
                <a:solidFill>
                  <a:srgbClr val="1B2733"/>
                </a:solidFill>
              </a:rPr>
              <a:t>Print number patterns (triangle/pyramid)</a:t>
            </a:r>
            <a:endParaRPr lang="en-US" sz="1350" dirty="0"/>
          </a:p>
          <a:p>
            <a:pPr marL="342900" indent="-342900">
              <a:lnSpc>
                <a:spcPct val="120000"/>
              </a:lnSpc>
              <a:spcAft>
                <a:spcPts val="1200"/>
              </a:spcAft>
              <a:buSzPct val="100000"/>
              <a:buChar char="•"/>
            </a:pPr>
            <a:r>
              <a:rPr lang="en-US" sz="1350" dirty="0">
                <a:solidFill>
                  <a:srgbClr val="1B2733"/>
                </a:solidFill>
              </a:rPr>
              <a:t>Calculate factorial of a number</a:t>
            </a:r>
            <a:endParaRPr lang="en-US" sz="1350" dirty="0"/>
          </a:p>
          <a:p>
            <a:pPr marL="342900" indent="-342900">
              <a:lnSpc>
                <a:spcPct val="120000"/>
              </a:lnSpc>
              <a:spcAft>
                <a:spcPts val="1200"/>
              </a:spcAft>
              <a:buSzPct val="100000"/>
              <a:buChar char="•"/>
            </a:pPr>
            <a:r>
              <a:rPr lang="en-US" sz="1350" dirty="0">
                <a:solidFill>
                  <a:srgbClr val="1B2733"/>
                </a:solidFill>
              </a:rPr>
              <a:t>Sum of first N numbers</a:t>
            </a:r>
            <a:endParaRPr lang="en-US" sz="1350" dirty="0"/>
          </a:p>
        </p:txBody>
      </p:sp>
      <p:sp>
        <p:nvSpPr>
          <p:cNvPr id="15" name="Text 11"/>
          <p:cNvSpPr/>
          <p:nvPr/>
        </p:nvSpPr>
        <p:spPr>
          <a:xfrm>
            <a:off x="548640" y="5257800"/>
            <a:ext cx="5486400" cy="274320"/>
          </a:xfrm>
          <a:prstGeom prst="rect">
            <a:avLst/>
          </a:prstGeom>
          <a:noFill/>
          <a:ln/>
        </p:spPr>
        <p:txBody>
          <a:bodyPr wrap="square" lIns="0" tIns="0" rIns="0" bIns="0" rtlCol="0" anchor="ctr"/>
          <a:lstStyle/>
          <a:p>
            <a:pPr marL="0" indent="0">
              <a:buNone/>
            </a:pPr>
            <a:r>
              <a:rPr lang="en-US" sz="1050" i="1" dirty="0">
                <a:solidFill>
                  <a:srgbClr val="5C6B7A"/>
                </a:solidFill>
              </a:rPr>
              <a:t>Theory: 1h  •  Practical: 2h</a:t>
            </a:r>
            <a:endParaRPr lang="en-US" sz="1050" dirty="0"/>
          </a:p>
        </p:txBody>
      </p:sp>
      <p:sp>
        <p:nvSpPr>
          <p:cNvPr id="16"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29</a:t>
            </a:r>
            <a:endParaRPr lang="en-US" sz="1000" dirty="0"/>
          </a:p>
        </p:txBody>
      </p:sp>
      <p:sp>
        <p:nvSpPr>
          <p:cNvPr id="17"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4 — LOOPS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Mini Activity &amp; Expected Outcome</a:t>
            </a:r>
            <a:endParaRPr lang="en-US" sz="2700" dirty="0"/>
          </a:p>
        </p:txBody>
      </p:sp>
      <p:sp>
        <p:nvSpPr>
          <p:cNvPr id="4" name="Shape 2"/>
          <p:cNvSpPr/>
          <p:nvPr/>
        </p:nvSpPr>
        <p:spPr>
          <a:xfrm>
            <a:off x="548640" y="1600200"/>
            <a:ext cx="11064240" cy="1920240"/>
          </a:xfrm>
          <a:prstGeom prst="roundRect">
            <a:avLst>
              <a:gd name="adj" fmla="val 4762"/>
            </a:avLst>
          </a:prstGeom>
          <a:solidFill>
            <a:srgbClr val="1E5A96"/>
          </a:solidFill>
          <a:ln/>
        </p:spPr>
      </p:sp>
      <p:pic>
        <p:nvPicPr>
          <p:cNvPr id="5" name="Image 0" descr="preencoded.png"/>
          <p:cNvPicPr>
            <a:picLocks noChangeAspect="1"/>
          </p:cNvPicPr>
          <p:nvPr/>
        </p:nvPicPr>
        <p:blipFill>
          <a:blip r:embed="rId3"/>
          <a:stretch>
            <a:fillRect/>
          </a:stretch>
        </p:blipFill>
        <p:spPr>
          <a:xfrm>
            <a:off x="868680" y="1965960"/>
            <a:ext cx="502920" cy="502920"/>
          </a:xfrm>
          <a:prstGeom prst="rect">
            <a:avLst/>
          </a:prstGeom>
        </p:spPr>
      </p:pic>
      <p:sp>
        <p:nvSpPr>
          <p:cNvPr id="6" name="Text 3"/>
          <p:cNvSpPr/>
          <p:nvPr/>
        </p:nvSpPr>
        <p:spPr>
          <a:xfrm>
            <a:off x="1554480" y="1874520"/>
            <a:ext cx="3657600" cy="320040"/>
          </a:xfrm>
          <a:prstGeom prst="rect">
            <a:avLst/>
          </a:prstGeom>
          <a:noFill/>
          <a:ln/>
        </p:spPr>
        <p:txBody>
          <a:bodyPr wrap="square" lIns="0" tIns="0" rIns="0" bIns="0" rtlCol="0" anchor="ctr"/>
          <a:lstStyle/>
          <a:p>
            <a:pPr marL="0" indent="0">
              <a:buNone/>
            </a:pPr>
            <a:r>
              <a:rPr lang="en-US" sz="1250" b="1" kern="0" spc="150" dirty="0">
                <a:solidFill>
                  <a:srgbClr val="F2A93B"/>
                </a:solidFill>
              </a:rPr>
              <a:t>MINI ACTIVITY</a:t>
            </a:r>
            <a:endParaRPr lang="en-US" sz="1250" dirty="0"/>
          </a:p>
        </p:txBody>
      </p:sp>
      <p:sp>
        <p:nvSpPr>
          <p:cNvPr id="7" name="Text 4"/>
          <p:cNvSpPr/>
          <p:nvPr/>
        </p:nvSpPr>
        <p:spPr>
          <a:xfrm>
            <a:off x="1554480" y="2240280"/>
            <a:ext cx="9692640" cy="1143000"/>
          </a:xfrm>
          <a:prstGeom prst="rect">
            <a:avLst/>
          </a:prstGeom>
          <a:noFill/>
          <a:ln/>
        </p:spPr>
        <p:txBody>
          <a:bodyPr wrap="square" lIns="0" tIns="0" rIns="0" bIns="0" rtlCol="0" anchor="t"/>
          <a:lstStyle/>
          <a:p>
            <a:pPr marL="0" indent="0">
              <a:buNone/>
            </a:pPr>
            <a:r>
              <a:rPr lang="en-US" sz="1550" dirty="0">
                <a:solidFill>
                  <a:srgbClr val="FFFFFF"/>
                </a:solidFill>
              </a:rPr>
              <a:t>Print a pyramid number pattern using nested loops.</a:t>
            </a:r>
            <a:endParaRPr lang="en-US" sz="1550" dirty="0"/>
          </a:p>
        </p:txBody>
      </p:sp>
      <p:sp>
        <p:nvSpPr>
          <p:cNvPr id="8" name="Shape 5"/>
          <p:cNvSpPr/>
          <p:nvPr/>
        </p:nvSpPr>
        <p:spPr>
          <a:xfrm>
            <a:off x="548640" y="3794760"/>
            <a:ext cx="11064240" cy="1691640"/>
          </a:xfrm>
          <a:prstGeom prst="roundRect">
            <a:avLst>
              <a:gd name="adj" fmla="val 5405"/>
            </a:avLst>
          </a:prstGeom>
          <a:solidFill>
            <a:srgbClr val="EEF4FA"/>
          </a:solidFill>
          <a:ln/>
        </p:spPr>
      </p:sp>
      <p:pic>
        <p:nvPicPr>
          <p:cNvPr id="9" name="Image 1" descr="preencoded.png"/>
          <p:cNvPicPr>
            <a:picLocks noChangeAspect="1"/>
          </p:cNvPicPr>
          <p:nvPr/>
        </p:nvPicPr>
        <p:blipFill>
          <a:blip r:embed="rId4"/>
          <a:stretch>
            <a:fillRect/>
          </a:stretch>
        </p:blipFill>
        <p:spPr>
          <a:xfrm>
            <a:off x="868680" y="4114800"/>
            <a:ext cx="457200" cy="457200"/>
          </a:xfrm>
          <a:prstGeom prst="rect">
            <a:avLst/>
          </a:prstGeom>
        </p:spPr>
      </p:pic>
      <p:sp>
        <p:nvSpPr>
          <p:cNvPr id="10" name="Text 6"/>
          <p:cNvSpPr/>
          <p:nvPr/>
        </p:nvSpPr>
        <p:spPr>
          <a:xfrm>
            <a:off x="1508760" y="4041648"/>
            <a:ext cx="3657600" cy="320040"/>
          </a:xfrm>
          <a:prstGeom prst="rect">
            <a:avLst/>
          </a:prstGeom>
          <a:noFill/>
          <a:ln/>
        </p:spPr>
        <p:txBody>
          <a:bodyPr wrap="square" lIns="0" tIns="0" rIns="0" bIns="0" rtlCol="0" anchor="ctr"/>
          <a:lstStyle/>
          <a:p>
            <a:pPr marL="0" indent="0">
              <a:buNone/>
            </a:pPr>
            <a:r>
              <a:rPr lang="en-US" sz="1250" b="1" kern="0" spc="150" dirty="0">
                <a:solidFill>
                  <a:srgbClr val="1E7D32"/>
                </a:solidFill>
              </a:rPr>
              <a:t>EXPECTED OUTCOME</a:t>
            </a:r>
            <a:endParaRPr lang="en-US" sz="1250" dirty="0"/>
          </a:p>
        </p:txBody>
      </p:sp>
      <p:sp>
        <p:nvSpPr>
          <p:cNvPr id="11" name="Text 7"/>
          <p:cNvSpPr/>
          <p:nvPr/>
        </p:nvSpPr>
        <p:spPr>
          <a:xfrm>
            <a:off x="1508760" y="4389120"/>
            <a:ext cx="9784080" cy="914400"/>
          </a:xfrm>
          <a:prstGeom prst="rect">
            <a:avLst/>
          </a:prstGeom>
          <a:noFill/>
          <a:ln/>
        </p:spPr>
        <p:txBody>
          <a:bodyPr wrap="square" lIns="0" tIns="0" rIns="0" bIns="0" rtlCol="0" anchor="t"/>
          <a:lstStyle/>
          <a:p>
            <a:pPr marL="0" indent="0">
              <a:buNone/>
            </a:pPr>
            <a:r>
              <a:rPr lang="en-US" sz="1550" dirty="0">
                <a:solidFill>
                  <a:srgbClr val="1B2733"/>
                </a:solidFill>
              </a:rPr>
              <a:t>Students can automate repetitive tasks.</a:t>
            </a:r>
            <a:endParaRPr lang="en-US" sz="1550" dirty="0"/>
          </a:p>
        </p:txBody>
      </p:sp>
      <p:sp>
        <p:nvSpPr>
          <p:cNvPr id="12" name="Text 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30</a:t>
            </a:r>
            <a:endParaRPr lang="en-US" sz="100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4 — LOOPS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Interview Questions &amp; Summary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6126480" cy="457200"/>
          </a:xfrm>
          <a:prstGeom prst="rect">
            <a:avLst/>
          </a:prstGeom>
          <a:noFill/>
          <a:ln/>
        </p:spPr>
        <p:txBody>
          <a:bodyPr wrap="square" lIns="0" tIns="0" rIns="0" bIns="0" rtlCol="0" anchor="ctr"/>
          <a:lstStyle/>
          <a:p>
            <a:pPr marL="0" indent="0">
              <a:buNone/>
            </a:pPr>
            <a:r>
              <a:rPr lang="en-US" sz="1500" b="1" dirty="0">
                <a:solidFill>
                  <a:srgbClr val="1B2733"/>
                </a:solidFill>
              </a:rPr>
              <a:t>Interview Questions</a:t>
            </a:r>
            <a:endParaRPr lang="en-US" sz="1500" dirty="0"/>
          </a:p>
        </p:txBody>
      </p:sp>
      <p:sp>
        <p:nvSpPr>
          <p:cNvPr id="7" name="Shape 4"/>
          <p:cNvSpPr/>
          <p:nvPr/>
        </p:nvSpPr>
        <p:spPr>
          <a:xfrm>
            <a:off x="548640" y="1965960"/>
            <a:ext cx="6675120" cy="1170432"/>
          </a:xfrm>
          <a:prstGeom prst="roundRect">
            <a:avLst>
              <a:gd name="adj" fmla="val 5469"/>
            </a:avLst>
          </a:prstGeom>
          <a:solidFill>
            <a:srgbClr val="EEF4FA"/>
          </a:solidFill>
          <a:ln/>
        </p:spPr>
      </p:sp>
      <p:sp>
        <p:nvSpPr>
          <p:cNvPr id="8" name="Text 5"/>
          <p:cNvSpPr/>
          <p:nvPr/>
        </p:nvSpPr>
        <p:spPr>
          <a:xfrm>
            <a:off x="731520" y="2057400"/>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When would you use for vs while?</a:t>
            </a:r>
            <a:endParaRPr lang="en-US" sz="1250" dirty="0"/>
          </a:p>
        </p:txBody>
      </p:sp>
      <p:sp>
        <p:nvSpPr>
          <p:cNvPr id="9" name="Text 6"/>
          <p:cNvSpPr/>
          <p:nvPr/>
        </p:nvSpPr>
        <p:spPr>
          <a:xfrm>
            <a:off x="731520" y="2441448"/>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for is best when the number of iterations is known; while suits condition-based repetition.</a:t>
            </a:r>
            <a:endParaRPr lang="en-US" sz="1150" dirty="0"/>
          </a:p>
        </p:txBody>
      </p:sp>
      <p:sp>
        <p:nvSpPr>
          <p:cNvPr id="10" name="Shape 7"/>
          <p:cNvSpPr/>
          <p:nvPr/>
        </p:nvSpPr>
        <p:spPr>
          <a:xfrm>
            <a:off x="548640" y="3264408"/>
            <a:ext cx="6675120" cy="1170432"/>
          </a:xfrm>
          <a:prstGeom prst="roundRect">
            <a:avLst>
              <a:gd name="adj" fmla="val 5469"/>
            </a:avLst>
          </a:prstGeom>
          <a:solidFill>
            <a:srgbClr val="EEF4FA"/>
          </a:solidFill>
          <a:ln/>
        </p:spPr>
      </p:sp>
      <p:sp>
        <p:nvSpPr>
          <p:cNvPr id="11" name="Text 8"/>
          <p:cNvSpPr/>
          <p:nvPr/>
        </p:nvSpPr>
        <p:spPr>
          <a:xfrm>
            <a:off x="731520" y="3355848"/>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Difference between break and continue?</a:t>
            </a:r>
            <a:endParaRPr lang="en-US" sz="1250" dirty="0"/>
          </a:p>
        </p:txBody>
      </p:sp>
      <p:sp>
        <p:nvSpPr>
          <p:cNvPr id="12" name="Text 9"/>
          <p:cNvSpPr/>
          <p:nvPr/>
        </p:nvSpPr>
        <p:spPr>
          <a:xfrm>
            <a:off x="731520" y="3739896"/>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break exits the loop completely; continue skips only the current iteration.</a:t>
            </a:r>
            <a:endParaRPr lang="en-US" sz="1150" dirty="0"/>
          </a:p>
        </p:txBody>
      </p:sp>
      <p:sp>
        <p:nvSpPr>
          <p:cNvPr id="13" name="Shape 10"/>
          <p:cNvSpPr/>
          <p:nvPr/>
        </p:nvSpPr>
        <p:spPr>
          <a:xfrm>
            <a:off x="548640" y="4562856"/>
            <a:ext cx="6675120" cy="1170432"/>
          </a:xfrm>
          <a:prstGeom prst="roundRect">
            <a:avLst>
              <a:gd name="adj" fmla="val 5469"/>
            </a:avLst>
          </a:prstGeom>
          <a:solidFill>
            <a:srgbClr val="EEF4FA"/>
          </a:solidFill>
          <a:ln/>
        </p:spPr>
      </p:sp>
      <p:sp>
        <p:nvSpPr>
          <p:cNvPr id="14" name="Text 11"/>
          <p:cNvSpPr/>
          <p:nvPr/>
        </p:nvSpPr>
        <p:spPr>
          <a:xfrm>
            <a:off x="731520" y="4654296"/>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causes an infinite loop?</a:t>
            </a:r>
            <a:endParaRPr lang="en-US" sz="1250" dirty="0"/>
          </a:p>
        </p:txBody>
      </p:sp>
      <p:sp>
        <p:nvSpPr>
          <p:cNvPr id="15" name="Text 12"/>
          <p:cNvSpPr/>
          <p:nvPr/>
        </p:nvSpPr>
        <p:spPr>
          <a:xfrm>
            <a:off x="731520" y="5038344"/>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The loop condition never becomes False — usually because the counter/condition is never updated.</a:t>
            </a:r>
            <a:endParaRPr lang="en-US" sz="1150" dirty="0"/>
          </a:p>
        </p:txBody>
      </p:sp>
      <p:sp>
        <p:nvSpPr>
          <p:cNvPr id="16" name="Shape 13"/>
          <p:cNvSpPr/>
          <p:nvPr/>
        </p:nvSpPr>
        <p:spPr>
          <a:xfrm>
            <a:off x="7452360" y="1417320"/>
            <a:ext cx="13716" cy="4709160"/>
          </a:xfrm>
          <a:prstGeom prst="rect">
            <a:avLst/>
          </a:prstGeom>
          <a:solidFill>
            <a:srgbClr val="DCE6F0"/>
          </a:solidFill>
          <a:ln/>
        </p:spPr>
      </p:sp>
      <p:sp>
        <p:nvSpPr>
          <p:cNvPr id="17" name="Shape 14"/>
          <p:cNvSpPr/>
          <p:nvPr/>
        </p:nvSpPr>
        <p:spPr>
          <a:xfrm>
            <a:off x="7680960" y="1463040"/>
            <a:ext cx="384048" cy="384048"/>
          </a:xfrm>
          <a:prstGeom prst="ellipse">
            <a:avLst/>
          </a:prstGeom>
          <a:solidFill>
            <a:srgbClr val="1E7D32"/>
          </a:solidFill>
          <a:ln/>
        </p:spPr>
      </p:sp>
      <p:pic>
        <p:nvPicPr>
          <p:cNvPr id="18" name="Image 1" descr="preencoded.png"/>
          <p:cNvPicPr>
            <a:picLocks noChangeAspect="1"/>
          </p:cNvPicPr>
          <p:nvPr/>
        </p:nvPicPr>
        <p:blipFill>
          <a:blip r:embed="rId4"/>
          <a:stretch>
            <a:fillRect/>
          </a:stretch>
        </p:blipFill>
        <p:spPr>
          <a:xfrm>
            <a:off x="7763256" y="1545336"/>
            <a:ext cx="219456" cy="219456"/>
          </a:xfrm>
          <a:prstGeom prst="rect">
            <a:avLst/>
          </a:prstGeom>
        </p:spPr>
      </p:pic>
      <p:sp>
        <p:nvSpPr>
          <p:cNvPr id="19" name="Text 15"/>
          <p:cNvSpPr/>
          <p:nvPr/>
        </p:nvSpPr>
        <p:spPr>
          <a:xfrm>
            <a:off x="8193024" y="1435608"/>
            <a:ext cx="3383280" cy="457200"/>
          </a:xfrm>
          <a:prstGeom prst="rect">
            <a:avLst/>
          </a:prstGeom>
          <a:noFill/>
          <a:ln/>
        </p:spPr>
        <p:txBody>
          <a:bodyPr wrap="square" lIns="0" tIns="0" rIns="0" bIns="0" rtlCol="0" anchor="ctr"/>
          <a:lstStyle/>
          <a:p>
            <a:pPr marL="0" indent="0">
              <a:buNone/>
            </a:pPr>
            <a:r>
              <a:rPr lang="en-US" sz="1500" b="1" dirty="0">
                <a:solidFill>
                  <a:srgbClr val="1B2733"/>
                </a:solidFill>
              </a:rPr>
              <a:t>Module Summary</a:t>
            </a:r>
            <a:endParaRPr lang="en-US" sz="1500" dirty="0"/>
          </a:p>
        </p:txBody>
      </p:sp>
      <p:sp>
        <p:nvSpPr>
          <p:cNvPr id="20" name="Text 16"/>
          <p:cNvSpPr/>
          <p:nvPr/>
        </p:nvSpPr>
        <p:spPr>
          <a:xfrm>
            <a:off x="7680960" y="2011680"/>
            <a:ext cx="3931920" cy="39319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00" dirty="0">
                <a:solidFill>
                  <a:srgbClr val="1B2733"/>
                </a:solidFill>
              </a:rPr>
              <a:t>Loops repeat code efficiently — for and while</a:t>
            </a:r>
            <a:endParaRPr lang="en-US" sz="1300" dirty="0"/>
          </a:p>
          <a:p>
            <a:pPr marL="342900" indent="-342900">
              <a:lnSpc>
                <a:spcPct val="120000"/>
              </a:lnSpc>
              <a:spcAft>
                <a:spcPts val="1200"/>
              </a:spcAft>
              <a:buSzPct val="100000"/>
              <a:buChar char="✓"/>
            </a:pPr>
            <a:r>
              <a:rPr lang="en-US" sz="1300" dirty="0">
                <a:solidFill>
                  <a:srgbClr val="1B2733"/>
                </a:solidFill>
              </a:rPr>
              <a:t>break stops a loop; continue skips an iteration</a:t>
            </a:r>
            <a:endParaRPr lang="en-US" sz="1300" dirty="0"/>
          </a:p>
          <a:p>
            <a:pPr marL="342900" indent="-342900">
              <a:lnSpc>
                <a:spcPct val="120000"/>
              </a:lnSpc>
              <a:spcAft>
                <a:spcPts val="1200"/>
              </a:spcAft>
              <a:buSzPct val="100000"/>
              <a:buChar char="✓"/>
            </a:pPr>
            <a:r>
              <a:rPr lang="en-US" sz="1300" dirty="0">
                <a:solidFill>
                  <a:srgbClr val="1B2733"/>
                </a:solidFill>
              </a:rPr>
              <a:t>Watch out for infinite loops</a:t>
            </a:r>
            <a:endParaRPr lang="en-US" sz="1300" dirty="0"/>
          </a:p>
          <a:p>
            <a:pPr marL="342900" indent="-342900">
              <a:lnSpc>
                <a:spcPct val="120000"/>
              </a:lnSpc>
              <a:spcAft>
                <a:spcPts val="1200"/>
              </a:spcAft>
              <a:buSzPct val="100000"/>
              <a:buChar char="✓"/>
            </a:pPr>
            <a:r>
              <a:rPr lang="en-US" sz="1300" dirty="0">
                <a:solidFill>
                  <a:srgbClr val="1B2733"/>
                </a:solidFill>
              </a:rPr>
              <a:t>You automated pattern printing and calculations</a:t>
            </a:r>
            <a:endParaRPr lang="en-US" sz="1300" dirty="0"/>
          </a:p>
        </p:txBody>
      </p:sp>
      <p:sp>
        <p:nvSpPr>
          <p:cNvPr id="21"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31</a:t>
            </a:r>
            <a:endParaRPr lang="en-US" sz="1000" dirty="0"/>
          </a:p>
        </p:txBody>
      </p:sp>
      <p:sp>
        <p:nvSpPr>
          <p:cNvPr id="22"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1E5A96">
              <a:alpha val="45000"/>
            </a:srgbClr>
          </a:solidFill>
          <a:ln/>
        </p:spPr>
      </p:sp>
      <p:sp>
        <p:nvSpPr>
          <p:cNvPr id="3" name="Shape 1"/>
          <p:cNvSpPr/>
          <p:nvPr/>
        </p:nvSpPr>
        <p:spPr>
          <a:xfrm>
            <a:off x="731520" y="914400"/>
            <a:ext cx="1554480" cy="365760"/>
          </a:xfrm>
          <a:prstGeom prst="roundRect">
            <a:avLst>
              <a:gd name="adj" fmla="val 50000"/>
            </a:avLst>
          </a:prstGeom>
          <a:solidFill>
            <a:srgbClr val="1D3A5C"/>
          </a:solidFill>
          <a:ln/>
        </p:spPr>
      </p:sp>
      <p:sp>
        <p:nvSpPr>
          <p:cNvPr id="4" name="Text 2"/>
          <p:cNvSpPr/>
          <p:nvPr/>
        </p:nvSpPr>
        <p:spPr>
          <a:xfrm>
            <a:off x="731520" y="914400"/>
            <a:ext cx="1554480" cy="365760"/>
          </a:xfrm>
          <a:prstGeom prst="rect">
            <a:avLst/>
          </a:prstGeom>
          <a:noFill/>
          <a:ln/>
        </p:spPr>
        <p:txBody>
          <a:bodyPr wrap="square" lIns="0" tIns="0" rIns="0" bIns="0" rtlCol="0" anchor="ctr"/>
          <a:lstStyle/>
          <a:p>
            <a:pPr marL="0" indent="0" algn="ctr">
              <a:buNone/>
            </a:pPr>
            <a:r>
              <a:rPr lang="en-US" sz="1100" b="1" dirty="0">
                <a:solidFill>
                  <a:srgbClr val="F2A93B"/>
                </a:solidFill>
              </a:rPr>
              <a:t>MODULE 5 OF 9</a:t>
            </a:r>
            <a:endParaRPr lang="en-US" sz="1100" dirty="0"/>
          </a:p>
        </p:txBody>
      </p:sp>
      <p:sp>
        <p:nvSpPr>
          <p:cNvPr id="5" name="Shape 3"/>
          <p:cNvSpPr/>
          <p:nvPr/>
        </p:nvSpPr>
        <p:spPr>
          <a:xfrm>
            <a:off x="731520" y="1508760"/>
            <a:ext cx="960120" cy="960120"/>
          </a:xfrm>
          <a:prstGeom prst="roundRect">
            <a:avLst>
              <a:gd name="adj" fmla="val 19048"/>
            </a:avLst>
          </a:prstGeom>
          <a:solidFill>
            <a:srgbClr val="1E5A96"/>
          </a:solidFill>
          <a:ln/>
        </p:spPr>
      </p:sp>
      <p:pic>
        <p:nvPicPr>
          <p:cNvPr id="6" name="Image 0" descr="preencoded.png"/>
          <p:cNvPicPr>
            <a:picLocks noChangeAspect="1"/>
          </p:cNvPicPr>
          <p:nvPr/>
        </p:nvPicPr>
        <p:blipFill>
          <a:blip r:embed="rId3"/>
          <a:stretch>
            <a:fillRect/>
          </a:stretch>
        </p:blipFill>
        <p:spPr>
          <a:xfrm>
            <a:off x="960120" y="1737360"/>
            <a:ext cx="502920" cy="502920"/>
          </a:xfrm>
          <a:prstGeom prst="rect">
            <a:avLst/>
          </a:prstGeom>
        </p:spPr>
      </p:pic>
      <p:sp>
        <p:nvSpPr>
          <p:cNvPr id="7" name="Text 4"/>
          <p:cNvSpPr/>
          <p:nvPr/>
        </p:nvSpPr>
        <p:spPr>
          <a:xfrm>
            <a:off x="1874520" y="1463040"/>
            <a:ext cx="91440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Strings</a:t>
            </a:r>
            <a:endParaRPr lang="en-US" sz="3200" dirty="0"/>
          </a:p>
        </p:txBody>
      </p:sp>
      <p:sp>
        <p:nvSpPr>
          <p:cNvPr id="8" name="Shape 5"/>
          <p:cNvSpPr/>
          <p:nvPr/>
        </p:nvSpPr>
        <p:spPr>
          <a:xfrm>
            <a:off x="1874520" y="2514600"/>
            <a:ext cx="1417320" cy="594360"/>
          </a:xfrm>
          <a:prstGeom prst="roundRect">
            <a:avLst>
              <a:gd name="adj" fmla="val 12308"/>
            </a:avLst>
          </a:prstGeom>
          <a:solidFill>
            <a:srgbClr val="1D3A5C"/>
          </a:solidFill>
          <a:ln w="12700">
            <a:solidFill>
              <a:srgbClr val="1E5A96"/>
            </a:solidFill>
            <a:prstDash val="solid"/>
          </a:ln>
        </p:spPr>
      </p:sp>
      <p:sp>
        <p:nvSpPr>
          <p:cNvPr id="9" name="Text 6"/>
          <p:cNvSpPr/>
          <p:nvPr/>
        </p:nvSpPr>
        <p:spPr>
          <a:xfrm>
            <a:off x="187452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0" name="Text 7"/>
          <p:cNvSpPr/>
          <p:nvPr/>
        </p:nvSpPr>
        <p:spPr>
          <a:xfrm>
            <a:off x="187452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Theory</a:t>
            </a:r>
            <a:endParaRPr lang="en-US" sz="900" dirty="0"/>
          </a:p>
        </p:txBody>
      </p:sp>
      <p:sp>
        <p:nvSpPr>
          <p:cNvPr id="11" name="Shape 8"/>
          <p:cNvSpPr/>
          <p:nvPr/>
        </p:nvSpPr>
        <p:spPr>
          <a:xfrm>
            <a:off x="3429000" y="2514600"/>
            <a:ext cx="1417320" cy="594360"/>
          </a:xfrm>
          <a:prstGeom prst="roundRect">
            <a:avLst>
              <a:gd name="adj" fmla="val 12308"/>
            </a:avLst>
          </a:prstGeom>
          <a:solidFill>
            <a:srgbClr val="1D3A5C"/>
          </a:solidFill>
          <a:ln w="12700">
            <a:solidFill>
              <a:srgbClr val="1E5A96"/>
            </a:solidFill>
            <a:prstDash val="solid"/>
          </a:ln>
        </p:spPr>
      </p:sp>
      <p:sp>
        <p:nvSpPr>
          <p:cNvPr id="12" name="Text 9"/>
          <p:cNvSpPr/>
          <p:nvPr/>
        </p:nvSpPr>
        <p:spPr>
          <a:xfrm>
            <a:off x="342900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3" name="Text 10"/>
          <p:cNvSpPr/>
          <p:nvPr/>
        </p:nvSpPr>
        <p:spPr>
          <a:xfrm>
            <a:off x="342900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Practical</a:t>
            </a:r>
            <a:endParaRPr lang="en-US" sz="900" dirty="0"/>
          </a:p>
        </p:txBody>
      </p:sp>
      <p:sp>
        <p:nvSpPr>
          <p:cNvPr id="14" name="Shape 11"/>
          <p:cNvSpPr/>
          <p:nvPr/>
        </p:nvSpPr>
        <p:spPr>
          <a:xfrm>
            <a:off x="4983480" y="2514600"/>
            <a:ext cx="1417320" cy="594360"/>
          </a:xfrm>
          <a:prstGeom prst="roundRect">
            <a:avLst>
              <a:gd name="adj" fmla="val 12308"/>
            </a:avLst>
          </a:prstGeom>
          <a:solidFill>
            <a:srgbClr val="1D3A5C"/>
          </a:solidFill>
          <a:ln w="12700">
            <a:solidFill>
              <a:srgbClr val="1E5A96"/>
            </a:solidFill>
            <a:prstDash val="solid"/>
          </a:ln>
        </p:spPr>
      </p:sp>
      <p:sp>
        <p:nvSpPr>
          <p:cNvPr id="15" name="Text 12"/>
          <p:cNvSpPr/>
          <p:nvPr/>
        </p:nvSpPr>
        <p:spPr>
          <a:xfrm>
            <a:off x="498348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3 hrs</a:t>
            </a:r>
            <a:endParaRPr lang="en-US" sz="1500" dirty="0"/>
          </a:p>
        </p:txBody>
      </p:sp>
      <p:sp>
        <p:nvSpPr>
          <p:cNvPr id="16" name="Text 13"/>
          <p:cNvSpPr/>
          <p:nvPr/>
        </p:nvSpPr>
        <p:spPr>
          <a:xfrm>
            <a:off x="498348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Total</a:t>
            </a:r>
            <a:endParaRPr lang="en-US" sz="900" dirty="0"/>
          </a:p>
        </p:txBody>
      </p:sp>
      <p:sp>
        <p:nvSpPr>
          <p:cNvPr id="17" name="Text 14"/>
          <p:cNvSpPr/>
          <p:nvPr/>
        </p:nvSpPr>
        <p:spPr>
          <a:xfrm>
            <a:off x="731520" y="3566160"/>
            <a:ext cx="5486400" cy="274320"/>
          </a:xfrm>
          <a:prstGeom prst="rect">
            <a:avLst/>
          </a:prstGeom>
          <a:noFill/>
          <a:ln/>
        </p:spPr>
        <p:txBody>
          <a:bodyPr wrap="square" lIns="0" tIns="0" rIns="0" bIns="0" rtlCol="0" anchor="ctr"/>
          <a:lstStyle/>
          <a:p>
            <a:pPr marL="0" indent="0">
              <a:buNone/>
            </a:pPr>
            <a:r>
              <a:rPr lang="en-US" sz="1150" b="1" kern="0" spc="150" dirty="0">
                <a:solidFill>
                  <a:srgbClr val="F2A93B"/>
                </a:solidFill>
              </a:rPr>
              <a:t>TOPICS COVERED</a:t>
            </a:r>
            <a:endParaRPr lang="en-US" sz="1150" dirty="0"/>
          </a:p>
        </p:txBody>
      </p:sp>
      <p:sp>
        <p:nvSpPr>
          <p:cNvPr id="18" name="Shape 15"/>
          <p:cNvSpPr/>
          <p:nvPr/>
        </p:nvSpPr>
        <p:spPr>
          <a:xfrm>
            <a:off x="731520" y="4005072"/>
            <a:ext cx="91440" cy="91440"/>
          </a:xfrm>
          <a:prstGeom prst="ellipse">
            <a:avLst/>
          </a:prstGeom>
          <a:solidFill>
            <a:srgbClr val="F2A93B"/>
          </a:solidFill>
          <a:ln/>
        </p:spPr>
      </p:sp>
      <p:sp>
        <p:nvSpPr>
          <p:cNvPr id="19" name="Text 16"/>
          <p:cNvSpPr/>
          <p:nvPr/>
        </p:nvSpPr>
        <p:spPr>
          <a:xfrm>
            <a:off x="100584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String Basics</a:t>
            </a:r>
            <a:endParaRPr lang="en-US" sz="1300" dirty="0"/>
          </a:p>
        </p:txBody>
      </p:sp>
      <p:sp>
        <p:nvSpPr>
          <p:cNvPr id="20" name="Shape 17"/>
          <p:cNvSpPr/>
          <p:nvPr/>
        </p:nvSpPr>
        <p:spPr>
          <a:xfrm>
            <a:off x="5943600" y="4005072"/>
            <a:ext cx="91440" cy="91440"/>
          </a:xfrm>
          <a:prstGeom prst="ellipse">
            <a:avLst/>
          </a:prstGeom>
          <a:solidFill>
            <a:srgbClr val="F2A93B"/>
          </a:solidFill>
          <a:ln/>
        </p:spPr>
      </p:sp>
      <p:sp>
        <p:nvSpPr>
          <p:cNvPr id="21" name="Text 18"/>
          <p:cNvSpPr/>
          <p:nvPr/>
        </p:nvSpPr>
        <p:spPr>
          <a:xfrm>
            <a:off x="621792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Indexing</a:t>
            </a:r>
            <a:endParaRPr lang="en-US" sz="1300" dirty="0"/>
          </a:p>
        </p:txBody>
      </p:sp>
      <p:sp>
        <p:nvSpPr>
          <p:cNvPr id="22" name="Shape 19"/>
          <p:cNvSpPr/>
          <p:nvPr/>
        </p:nvSpPr>
        <p:spPr>
          <a:xfrm>
            <a:off x="731520" y="4462272"/>
            <a:ext cx="91440" cy="91440"/>
          </a:xfrm>
          <a:prstGeom prst="ellipse">
            <a:avLst/>
          </a:prstGeom>
          <a:solidFill>
            <a:srgbClr val="F2A93B"/>
          </a:solidFill>
          <a:ln/>
        </p:spPr>
      </p:sp>
      <p:sp>
        <p:nvSpPr>
          <p:cNvPr id="23" name="Text 20"/>
          <p:cNvSpPr/>
          <p:nvPr/>
        </p:nvSpPr>
        <p:spPr>
          <a:xfrm>
            <a:off x="100584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Slicing</a:t>
            </a:r>
            <a:endParaRPr lang="en-US" sz="1300" dirty="0"/>
          </a:p>
        </p:txBody>
      </p:sp>
      <p:sp>
        <p:nvSpPr>
          <p:cNvPr id="24" name="Shape 21"/>
          <p:cNvSpPr/>
          <p:nvPr/>
        </p:nvSpPr>
        <p:spPr>
          <a:xfrm>
            <a:off x="5943600" y="4462272"/>
            <a:ext cx="91440" cy="91440"/>
          </a:xfrm>
          <a:prstGeom prst="ellipse">
            <a:avLst/>
          </a:prstGeom>
          <a:solidFill>
            <a:srgbClr val="F2A93B"/>
          </a:solidFill>
          <a:ln/>
        </p:spPr>
      </p:sp>
      <p:sp>
        <p:nvSpPr>
          <p:cNvPr id="25" name="Text 22"/>
          <p:cNvSpPr/>
          <p:nvPr/>
        </p:nvSpPr>
        <p:spPr>
          <a:xfrm>
            <a:off x="621792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String Methods</a:t>
            </a:r>
            <a:endParaRPr lang="en-US" sz="1300" dirty="0"/>
          </a:p>
        </p:txBody>
      </p:sp>
      <p:sp>
        <p:nvSpPr>
          <p:cNvPr id="27" name="Text 23"/>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32</a:t>
            </a:r>
            <a:endParaRPr lang="en-US" sz="1000" dirty="0"/>
          </a:p>
        </p:txBody>
      </p:sp>
      <p:sp>
        <p:nvSpPr>
          <p:cNvPr id="28" name="Text 24"/>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5 — STRINGS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Learning Objectives &amp; Theory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846320" cy="457200"/>
          </a:xfrm>
          <a:prstGeom prst="rect">
            <a:avLst/>
          </a:prstGeom>
          <a:noFill/>
          <a:ln/>
        </p:spPr>
        <p:txBody>
          <a:bodyPr wrap="square" lIns="0" tIns="0" rIns="0" bIns="0" rtlCol="0" anchor="ctr"/>
          <a:lstStyle/>
          <a:p>
            <a:pPr marL="0" indent="0">
              <a:buNone/>
            </a:pPr>
            <a:r>
              <a:rPr lang="en-US" sz="1500" b="1" dirty="0">
                <a:solidFill>
                  <a:srgbClr val="1B2733"/>
                </a:solidFill>
              </a:rPr>
              <a:t>Learning Objectives</a:t>
            </a:r>
            <a:endParaRPr lang="en-US" sz="1500" dirty="0"/>
          </a:p>
        </p:txBody>
      </p:sp>
      <p:sp>
        <p:nvSpPr>
          <p:cNvPr id="7" name="Text 4"/>
          <p:cNvSpPr/>
          <p:nvPr/>
        </p:nvSpPr>
        <p:spPr>
          <a:xfrm>
            <a:off x="548640" y="2011680"/>
            <a:ext cx="539496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Understand how strings are stored in memory</a:t>
            </a:r>
            <a:endParaRPr lang="en-US" sz="1300" dirty="0"/>
          </a:p>
          <a:p>
            <a:pPr marL="342900" indent="-342900">
              <a:lnSpc>
                <a:spcPct val="115000"/>
              </a:lnSpc>
              <a:spcAft>
                <a:spcPts val="1000"/>
              </a:spcAft>
              <a:buSzPct val="100000"/>
              <a:buChar char="●"/>
            </a:pPr>
            <a:r>
              <a:rPr lang="en-US" sz="1300" dirty="0">
                <a:solidFill>
                  <a:srgbClr val="1B2733"/>
                </a:solidFill>
              </a:rPr>
              <a:t>Access characters using positive &amp; negative indexing</a:t>
            </a:r>
            <a:endParaRPr lang="en-US" sz="1300" dirty="0"/>
          </a:p>
          <a:p>
            <a:pPr marL="342900" indent="-342900">
              <a:lnSpc>
                <a:spcPct val="115000"/>
              </a:lnSpc>
              <a:spcAft>
                <a:spcPts val="1000"/>
              </a:spcAft>
              <a:buSzPct val="100000"/>
              <a:buChar char="●"/>
            </a:pPr>
            <a:r>
              <a:rPr lang="en-US" sz="1300" dirty="0">
                <a:solidFill>
                  <a:srgbClr val="1B2733"/>
                </a:solidFill>
              </a:rPr>
              <a:t>Extract parts of a string with slicing</a:t>
            </a:r>
            <a:endParaRPr lang="en-US" sz="1300" dirty="0"/>
          </a:p>
          <a:p>
            <a:pPr marL="342900" indent="-342900">
              <a:lnSpc>
                <a:spcPct val="115000"/>
              </a:lnSpc>
              <a:spcAft>
                <a:spcPts val="1000"/>
              </a:spcAft>
              <a:buSzPct val="100000"/>
              <a:buChar char="●"/>
            </a:pPr>
            <a:r>
              <a:rPr lang="en-US" sz="1300" dirty="0">
                <a:solidFill>
                  <a:srgbClr val="1B2733"/>
                </a:solidFill>
              </a:rPr>
              <a:t>Use built-in string methods for text processing</a:t>
            </a:r>
            <a:endParaRPr lang="en-US" sz="1300" dirty="0"/>
          </a:p>
        </p:txBody>
      </p:sp>
      <p:sp>
        <p:nvSpPr>
          <p:cNvPr id="8" name="Shape 5"/>
          <p:cNvSpPr/>
          <p:nvPr/>
        </p:nvSpPr>
        <p:spPr>
          <a:xfrm>
            <a:off x="6172200" y="1417320"/>
            <a:ext cx="13716" cy="4663440"/>
          </a:xfrm>
          <a:prstGeom prst="rect">
            <a:avLst/>
          </a:prstGeom>
          <a:solidFill>
            <a:srgbClr val="DCE6F0"/>
          </a:solidFill>
          <a:ln/>
        </p:spPr>
      </p:sp>
      <p:sp>
        <p:nvSpPr>
          <p:cNvPr id="9" name="Shape 6"/>
          <p:cNvSpPr/>
          <p:nvPr/>
        </p:nvSpPr>
        <p:spPr>
          <a:xfrm>
            <a:off x="6400800" y="1463040"/>
            <a:ext cx="384048" cy="384048"/>
          </a:xfrm>
          <a:prstGeom prst="ellipse">
            <a:avLst/>
          </a:prstGeom>
          <a:solidFill>
            <a:srgbClr val="1E5A96"/>
          </a:solidFill>
          <a:ln/>
        </p:spPr>
      </p:sp>
      <p:pic>
        <p:nvPicPr>
          <p:cNvPr id="10" name="Image 1" descr="preencoded.png"/>
          <p:cNvPicPr>
            <a:picLocks noChangeAspect="1"/>
          </p:cNvPicPr>
          <p:nvPr/>
        </p:nvPicPr>
        <p:blipFill>
          <a:blip r:embed="rId4"/>
          <a:stretch>
            <a:fillRect/>
          </a:stretch>
        </p:blipFill>
        <p:spPr>
          <a:xfrm>
            <a:off x="6483096" y="1545336"/>
            <a:ext cx="219456" cy="219456"/>
          </a:xfrm>
          <a:prstGeom prst="rect">
            <a:avLst/>
          </a:prstGeom>
        </p:spPr>
      </p:pic>
      <p:sp>
        <p:nvSpPr>
          <p:cNvPr id="11" name="Text 7"/>
          <p:cNvSpPr/>
          <p:nvPr/>
        </p:nvSpPr>
        <p:spPr>
          <a:xfrm>
            <a:off x="6912864" y="1435608"/>
            <a:ext cx="4663440" cy="457200"/>
          </a:xfrm>
          <a:prstGeom prst="rect">
            <a:avLst/>
          </a:prstGeom>
          <a:noFill/>
          <a:ln/>
        </p:spPr>
        <p:txBody>
          <a:bodyPr wrap="square" lIns="0" tIns="0" rIns="0" bIns="0" rtlCol="0" anchor="ctr"/>
          <a:lstStyle/>
          <a:p>
            <a:pPr marL="0" indent="0">
              <a:buNone/>
            </a:pPr>
            <a:r>
              <a:rPr lang="en-US" sz="1500" b="1" dirty="0">
                <a:solidFill>
                  <a:srgbClr val="1B2733"/>
                </a:solidFill>
              </a:rPr>
              <a:t>Theory Explanation</a:t>
            </a:r>
            <a:endParaRPr lang="en-US" sz="1500" dirty="0"/>
          </a:p>
        </p:txBody>
      </p:sp>
      <p:sp>
        <p:nvSpPr>
          <p:cNvPr id="12" name="Text 8"/>
          <p:cNvSpPr/>
          <p:nvPr/>
        </p:nvSpPr>
        <p:spPr>
          <a:xfrm>
            <a:off x="6400800" y="2011680"/>
            <a:ext cx="521208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Strings are immutable sequences of characters</a:t>
            </a:r>
            <a:endParaRPr lang="en-US" sz="1300" dirty="0"/>
          </a:p>
          <a:p>
            <a:pPr marL="342900" indent="-342900">
              <a:lnSpc>
                <a:spcPct val="115000"/>
              </a:lnSpc>
              <a:spcAft>
                <a:spcPts val="1000"/>
              </a:spcAft>
              <a:buSzPct val="100000"/>
              <a:buChar char="●"/>
            </a:pPr>
            <a:r>
              <a:rPr lang="en-US" sz="1300" dirty="0">
                <a:solidFill>
                  <a:srgbClr val="1B2733"/>
                </a:solidFill>
              </a:rPr>
              <a:t>Each character has a positive index (from 0) and a negative index (from -1)</a:t>
            </a:r>
            <a:endParaRPr lang="en-US" sz="1300" dirty="0"/>
          </a:p>
          <a:p>
            <a:pPr marL="342900" indent="-342900">
              <a:lnSpc>
                <a:spcPct val="115000"/>
              </a:lnSpc>
              <a:spcAft>
                <a:spcPts val="1000"/>
              </a:spcAft>
              <a:buSzPct val="100000"/>
              <a:buChar char="●"/>
            </a:pPr>
            <a:r>
              <a:rPr lang="en-US" sz="1300" dirty="0">
                <a:solidFill>
                  <a:srgbClr val="1B2733"/>
                </a:solidFill>
              </a:rPr>
              <a:t>Slicing syntax: text[start:stop:step]</a:t>
            </a:r>
            <a:endParaRPr lang="en-US" sz="1300" dirty="0"/>
          </a:p>
          <a:p>
            <a:pPr marL="342900" indent="-342900">
              <a:lnSpc>
                <a:spcPct val="115000"/>
              </a:lnSpc>
              <a:spcAft>
                <a:spcPts val="1000"/>
              </a:spcAft>
              <a:buSzPct val="100000"/>
              <a:buChar char="●"/>
            </a:pPr>
            <a:r>
              <a:rPr lang="en-US" sz="1300" dirty="0">
                <a:solidFill>
                  <a:srgbClr val="1B2733"/>
                </a:solidFill>
              </a:rPr>
              <a:t>Common methods: .upper(), .lower(), .strip(), .replace(), .split()</a:t>
            </a:r>
            <a:endParaRPr lang="en-US" sz="1300" dirty="0"/>
          </a:p>
        </p:txBody>
      </p:sp>
      <p:sp>
        <p:nvSpPr>
          <p:cNvPr id="13" name="Text 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33</a:t>
            </a:r>
            <a:endParaRPr lang="en-US" sz="10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5 — STRINGS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Concept Diagram</a:t>
            </a:r>
            <a:endParaRPr lang="en-US" sz="2700" dirty="0"/>
          </a:p>
        </p:txBody>
      </p:sp>
      <p:sp>
        <p:nvSpPr>
          <p:cNvPr id="4" name="Shape 2"/>
          <p:cNvSpPr/>
          <p:nvPr/>
        </p:nvSpPr>
        <p:spPr>
          <a:xfrm>
            <a:off x="457200" y="1417320"/>
            <a:ext cx="11247120" cy="4663440"/>
          </a:xfrm>
          <a:prstGeom prst="roundRect">
            <a:avLst>
              <a:gd name="adj" fmla="val 1961"/>
            </a:avLst>
          </a:prstGeom>
          <a:solidFill>
            <a:srgbClr val="EEF4FA"/>
          </a:solidFill>
          <a:ln/>
        </p:spPr>
      </p:sp>
      <p:sp>
        <p:nvSpPr>
          <p:cNvPr id="5" name="Shape 3"/>
          <p:cNvSpPr/>
          <p:nvPr/>
        </p:nvSpPr>
        <p:spPr>
          <a:xfrm>
            <a:off x="3749040" y="3360420"/>
            <a:ext cx="777240" cy="777240"/>
          </a:xfrm>
          <a:prstGeom prst="rect">
            <a:avLst/>
          </a:prstGeom>
          <a:solidFill>
            <a:srgbClr val="E8F1FA"/>
          </a:solidFill>
          <a:ln w="15875">
            <a:solidFill>
              <a:srgbClr val="1E5A96"/>
            </a:solidFill>
            <a:prstDash val="solid"/>
          </a:ln>
        </p:spPr>
      </p:sp>
      <p:sp>
        <p:nvSpPr>
          <p:cNvPr id="6" name="Text 4"/>
          <p:cNvSpPr/>
          <p:nvPr/>
        </p:nvSpPr>
        <p:spPr>
          <a:xfrm>
            <a:off x="3749040" y="3360420"/>
            <a:ext cx="777240" cy="777240"/>
          </a:xfrm>
          <a:prstGeom prst="rect">
            <a:avLst/>
          </a:prstGeom>
          <a:noFill/>
          <a:ln/>
        </p:spPr>
        <p:txBody>
          <a:bodyPr wrap="square" lIns="0" tIns="0" rIns="0" bIns="0" rtlCol="0" anchor="ctr"/>
          <a:lstStyle/>
          <a:p>
            <a:pPr marL="0" indent="0" algn="ctr">
              <a:buNone/>
            </a:pPr>
            <a:r>
              <a:rPr lang="en-US" sz="2200" b="1" dirty="0">
                <a:solidFill>
                  <a:srgbClr val="1B2733"/>
                </a:solidFill>
              </a:rPr>
              <a:t>P</a:t>
            </a:r>
            <a:endParaRPr lang="en-US" sz="2200" dirty="0"/>
          </a:p>
        </p:txBody>
      </p:sp>
      <p:sp>
        <p:nvSpPr>
          <p:cNvPr id="7" name="Text 5"/>
          <p:cNvSpPr/>
          <p:nvPr/>
        </p:nvSpPr>
        <p:spPr>
          <a:xfrm>
            <a:off x="3749040" y="2976372"/>
            <a:ext cx="777240" cy="320040"/>
          </a:xfrm>
          <a:prstGeom prst="rect">
            <a:avLst/>
          </a:prstGeom>
          <a:noFill/>
          <a:ln/>
        </p:spPr>
        <p:txBody>
          <a:bodyPr wrap="square" lIns="0" tIns="0" rIns="0" bIns="0" rtlCol="0" anchor="ctr"/>
          <a:lstStyle/>
          <a:p>
            <a:pPr marL="0" indent="0" algn="ctr">
              <a:buNone/>
            </a:pPr>
            <a:r>
              <a:rPr lang="en-US" sz="1200" b="1" dirty="0">
                <a:solidFill>
                  <a:srgbClr val="1E7D32"/>
                </a:solidFill>
              </a:rPr>
              <a:t>0</a:t>
            </a:r>
            <a:endParaRPr lang="en-US" sz="1200" dirty="0"/>
          </a:p>
        </p:txBody>
      </p:sp>
      <p:sp>
        <p:nvSpPr>
          <p:cNvPr id="8" name="Text 6"/>
          <p:cNvSpPr/>
          <p:nvPr/>
        </p:nvSpPr>
        <p:spPr>
          <a:xfrm>
            <a:off x="3749040" y="4192524"/>
            <a:ext cx="777240" cy="320040"/>
          </a:xfrm>
          <a:prstGeom prst="rect">
            <a:avLst/>
          </a:prstGeom>
          <a:noFill/>
          <a:ln/>
        </p:spPr>
        <p:txBody>
          <a:bodyPr wrap="square" lIns="0" tIns="0" rIns="0" bIns="0" rtlCol="0" anchor="ctr"/>
          <a:lstStyle/>
          <a:p>
            <a:pPr marL="0" indent="0" algn="ctr">
              <a:buNone/>
            </a:pPr>
            <a:r>
              <a:rPr lang="en-US" sz="1200" b="1" dirty="0">
                <a:solidFill>
                  <a:srgbClr val="B3261E"/>
                </a:solidFill>
              </a:rPr>
              <a:t>-6</a:t>
            </a:r>
            <a:endParaRPr lang="en-US" sz="1200" dirty="0"/>
          </a:p>
        </p:txBody>
      </p:sp>
      <p:sp>
        <p:nvSpPr>
          <p:cNvPr id="9" name="Shape 7"/>
          <p:cNvSpPr/>
          <p:nvPr/>
        </p:nvSpPr>
        <p:spPr>
          <a:xfrm>
            <a:off x="4526280" y="3360420"/>
            <a:ext cx="777240" cy="777240"/>
          </a:xfrm>
          <a:prstGeom prst="rect">
            <a:avLst/>
          </a:prstGeom>
          <a:solidFill>
            <a:srgbClr val="FFFFFF"/>
          </a:solidFill>
          <a:ln w="15875">
            <a:solidFill>
              <a:srgbClr val="1E5A96"/>
            </a:solidFill>
            <a:prstDash val="solid"/>
          </a:ln>
        </p:spPr>
      </p:sp>
      <p:sp>
        <p:nvSpPr>
          <p:cNvPr id="10" name="Text 8"/>
          <p:cNvSpPr/>
          <p:nvPr/>
        </p:nvSpPr>
        <p:spPr>
          <a:xfrm>
            <a:off x="4526280" y="3360420"/>
            <a:ext cx="777240" cy="777240"/>
          </a:xfrm>
          <a:prstGeom prst="rect">
            <a:avLst/>
          </a:prstGeom>
          <a:noFill/>
          <a:ln/>
        </p:spPr>
        <p:txBody>
          <a:bodyPr wrap="square" lIns="0" tIns="0" rIns="0" bIns="0" rtlCol="0" anchor="ctr"/>
          <a:lstStyle/>
          <a:p>
            <a:pPr marL="0" indent="0" algn="ctr">
              <a:buNone/>
            </a:pPr>
            <a:r>
              <a:rPr lang="en-US" sz="2200" b="1" dirty="0">
                <a:solidFill>
                  <a:srgbClr val="1B2733"/>
                </a:solidFill>
              </a:rPr>
              <a:t>Y</a:t>
            </a:r>
            <a:endParaRPr lang="en-US" sz="2200" dirty="0"/>
          </a:p>
        </p:txBody>
      </p:sp>
      <p:sp>
        <p:nvSpPr>
          <p:cNvPr id="11" name="Text 9"/>
          <p:cNvSpPr/>
          <p:nvPr/>
        </p:nvSpPr>
        <p:spPr>
          <a:xfrm>
            <a:off x="4526280" y="2976372"/>
            <a:ext cx="777240" cy="320040"/>
          </a:xfrm>
          <a:prstGeom prst="rect">
            <a:avLst/>
          </a:prstGeom>
          <a:noFill/>
          <a:ln/>
        </p:spPr>
        <p:txBody>
          <a:bodyPr wrap="square" lIns="0" tIns="0" rIns="0" bIns="0" rtlCol="0" anchor="ctr"/>
          <a:lstStyle/>
          <a:p>
            <a:pPr marL="0" indent="0" algn="ctr">
              <a:buNone/>
            </a:pPr>
            <a:r>
              <a:rPr lang="en-US" sz="1200" b="1" dirty="0">
                <a:solidFill>
                  <a:srgbClr val="1E7D32"/>
                </a:solidFill>
              </a:rPr>
              <a:t>1</a:t>
            </a:r>
            <a:endParaRPr lang="en-US" sz="1200" dirty="0"/>
          </a:p>
        </p:txBody>
      </p:sp>
      <p:sp>
        <p:nvSpPr>
          <p:cNvPr id="12" name="Text 10"/>
          <p:cNvSpPr/>
          <p:nvPr/>
        </p:nvSpPr>
        <p:spPr>
          <a:xfrm>
            <a:off x="4526280" y="4192524"/>
            <a:ext cx="777240" cy="320040"/>
          </a:xfrm>
          <a:prstGeom prst="rect">
            <a:avLst/>
          </a:prstGeom>
          <a:noFill/>
          <a:ln/>
        </p:spPr>
        <p:txBody>
          <a:bodyPr wrap="square" lIns="0" tIns="0" rIns="0" bIns="0" rtlCol="0" anchor="ctr"/>
          <a:lstStyle/>
          <a:p>
            <a:pPr marL="0" indent="0" algn="ctr">
              <a:buNone/>
            </a:pPr>
            <a:r>
              <a:rPr lang="en-US" sz="1200" b="1" dirty="0">
                <a:solidFill>
                  <a:srgbClr val="B3261E"/>
                </a:solidFill>
              </a:rPr>
              <a:t>-5</a:t>
            </a:r>
            <a:endParaRPr lang="en-US" sz="1200" dirty="0"/>
          </a:p>
        </p:txBody>
      </p:sp>
      <p:sp>
        <p:nvSpPr>
          <p:cNvPr id="13" name="Shape 11"/>
          <p:cNvSpPr/>
          <p:nvPr/>
        </p:nvSpPr>
        <p:spPr>
          <a:xfrm>
            <a:off x="5303520" y="3360420"/>
            <a:ext cx="777240" cy="777240"/>
          </a:xfrm>
          <a:prstGeom prst="rect">
            <a:avLst/>
          </a:prstGeom>
          <a:solidFill>
            <a:srgbClr val="E8F1FA"/>
          </a:solidFill>
          <a:ln w="15875">
            <a:solidFill>
              <a:srgbClr val="1E5A96"/>
            </a:solidFill>
            <a:prstDash val="solid"/>
          </a:ln>
        </p:spPr>
      </p:sp>
      <p:sp>
        <p:nvSpPr>
          <p:cNvPr id="14" name="Text 12"/>
          <p:cNvSpPr/>
          <p:nvPr/>
        </p:nvSpPr>
        <p:spPr>
          <a:xfrm>
            <a:off x="5303520" y="3360420"/>
            <a:ext cx="777240" cy="777240"/>
          </a:xfrm>
          <a:prstGeom prst="rect">
            <a:avLst/>
          </a:prstGeom>
          <a:noFill/>
          <a:ln/>
        </p:spPr>
        <p:txBody>
          <a:bodyPr wrap="square" lIns="0" tIns="0" rIns="0" bIns="0" rtlCol="0" anchor="ctr"/>
          <a:lstStyle/>
          <a:p>
            <a:pPr marL="0" indent="0" algn="ctr">
              <a:buNone/>
            </a:pPr>
            <a:r>
              <a:rPr lang="en-US" sz="2200" b="1" dirty="0">
                <a:solidFill>
                  <a:srgbClr val="1B2733"/>
                </a:solidFill>
              </a:rPr>
              <a:t>T</a:t>
            </a:r>
            <a:endParaRPr lang="en-US" sz="2200" dirty="0"/>
          </a:p>
        </p:txBody>
      </p:sp>
      <p:sp>
        <p:nvSpPr>
          <p:cNvPr id="15" name="Text 13"/>
          <p:cNvSpPr/>
          <p:nvPr/>
        </p:nvSpPr>
        <p:spPr>
          <a:xfrm>
            <a:off x="5303520" y="2976372"/>
            <a:ext cx="777240" cy="320040"/>
          </a:xfrm>
          <a:prstGeom prst="rect">
            <a:avLst/>
          </a:prstGeom>
          <a:noFill/>
          <a:ln/>
        </p:spPr>
        <p:txBody>
          <a:bodyPr wrap="square" lIns="0" tIns="0" rIns="0" bIns="0" rtlCol="0" anchor="ctr"/>
          <a:lstStyle/>
          <a:p>
            <a:pPr marL="0" indent="0" algn="ctr">
              <a:buNone/>
            </a:pPr>
            <a:r>
              <a:rPr lang="en-US" sz="1200" b="1" dirty="0">
                <a:solidFill>
                  <a:srgbClr val="1E7D32"/>
                </a:solidFill>
              </a:rPr>
              <a:t>2</a:t>
            </a:r>
            <a:endParaRPr lang="en-US" sz="1200" dirty="0"/>
          </a:p>
        </p:txBody>
      </p:sp>
      <p:sp>
        <p:nvSpPr>
          <p:cNvPr id="16" name="Text 14"/>
          <p:cNvSpPr/>
          <p:nvPr/>
        </p:nvSpPr>
        <p:spPr>
          <a:xfrm>
            <a:off x="5303520" y="4192524"/>
            <a:ext cx="777240" cy="320040"/>
          </a:xfrm>
          <a:prstGeom prst="rect">
            <a:avLst/>
          </a:prstGeom>
          <a:noFill/>
          <a:ln/>
        </p:spPr>
        <p:txBody>
          <a:bodyPr wrap="square" lIns="0" tIns="0" rIns="0" bIns="0" rtlCol="0" anchor="ctr"/>
          <a:lstStyle/>
          <a:p>
            <a:pPr marL="0" indent="0" algn="ctr">
              <a:buNone/>
            </a:pPr>
            <a:r>
              <a:rPr lang="en-US" sz="1200" b="1" dirty="0">
                <a:solidFill>
                  <a:srgbClr val="B3261E"/>
                </a:solidFill>
              </a:rPr>
              <a:t>-4</a:t>
            </a:r>
            <a:endParaRPr lang="en-US" sz="1200" dirty="0"/>
          </a:p>
        </p:txBody>
      </p:sp>
      <p:sp>
        <p:nvSpPr>
          <p:cNvPr id="17" name="Shape 15"/>
          <p:cNvSpPr/>
          <p:nvPr/>
        </p:nvSpPr>
        <p:spPr>
          <a:xfrm>
            <a:off x="6080760" y="3360420"/>
            <a:ext cx="777240" cy="777240"/>
          </a:xfrm>
          <a:prstGeom prst="rect">
            <a:avLst/>
          </a:prstGeom>
          <a:solidFill>
            <a:srgbClr val="FFFFFF"/>
          </a:solidFill>
          <a:ln w="15875">
            <a:solidFill>
              <a:srgbClr val="1E5A96"/>
            </a:solidFill>
            <a:prstDash val="solid"/>
          </a:ln>
        </p:spPr>
      </p:sp>
      <p:sp>
        <p:nvSpPr>
          <p:cNvPr id="18" name="Text 16"/>
          <p:cNvSpPr/>
          <p:nvPr/>
        </p:nvSpPr>
        <p:spPr>
          <a:xfrm>
            <a:off x="6080760" y="3360420"/>
            <a:ext cx="777240" cy="777240"/>
          </a:xfrm>
          <a:prstGeom prst="rect">
            <a:avLst/>
          </a:prstGeom>
          <a:noFill/>
          <a:ln/>
        </p:spPr>
        <p:txBody>
          <a:bodyPr wrap="square" lIns="0" tIns="0" rIns="0" bIns="0" rtlCol="0" anchor="ctr"/>
          <a:lstStyle/>
          <a:p>
            <a:pPr marL="0" indent="0" algn="ctr">
              <a:buNone/>
            </a:pPr>
            <a:r>
              <a:rPr lang="en-US" sz="2200" b="1" dirty="0">
                <a:solidFill>
                  <a:srgbClr val="1B2733"/>
                </a:solidFill>
              </a:rPr>
              <a:t>H</a:t>
            </a:r>
            <a:endParaRPr lang="en-US" sz="2200" dirty="0"/>
          </a:p>
        </p:txBody>
      </p:sp>
      <p:sp>
        <p:nvSpPr>
          <p:cNvPr id="19" name="Text 17"/>
          <p:cNvSpPr/>
          <p:nvPr/>
        </p:nvSpPr>
        <p:spPr>
          <a:xfrm>
            <a:off x="6080760" y="2976372"/>
            <a:ext cx="777240" cy="320040"/>
          </a:xfrm>
          <a:prstGeom prst="rect">
            <a:avLst/>
          </a:prstGeom>
          <a:noFill/>
          <a:ln/>
        </p:spPr>
        <p:txBody>
          <a:bodyPr wrap="square" lIns="0" tIns="0" rIns="0" bIns="0" rtlCol="0" anchor="ctr"/>
          <a:lstStyle/>
          <a:p>
            <a:pPr marL="0" indent="0" algn="ctr">
              <a:buNone/>
            </a:pPr>
            <a:r>
              <a:rPr lang="en-US" sz="1200" b="1" dirty="0">
                <a:solidFill>
                  <a:srgbClr val="1E7D32"/>
                </a:solidFill>
              </a:rPr>
              <a:t>3</a:t>
            </a:r>
            <a:endParaRPr lang="en-US" sz="1200" dirty="0"/>
          </a:p>
        </p:txBody>
      </p:sp>
      <p:sp>
        <p:nvSpPr>
          <p:cNvPr id="20" name="Text 18"/>
          <p:cNvSpPr/>
          <p:nvPr/>
        </p:nvSpPr>
        <p:spPr>
          <a:xfrm>
            <a:off x="6080760" y="4192524"/>
            <a:ext cx="777240" cy="320040"/>
          </a:xfrm>
          <a:prstGeom prst="rect">
            <a:avLst/>
          </a:prstGeom>
          <a:noFill/>
          <a:ln/>
        </p:spPr>
        <p:txBody>
          <a:bodyPr wrap="square" lIns="0" tIns="0" rIns="0" bIns="0" rtlCol="0" anchor="ctr"/>
          <a:lstStyle/>
          <a:p>
            <a:pPr marL="0" indent="0" algn="ctr">
              <a:buNone/>
            </a:pPr>
            <a:r>
              <a:rPr lang="en-US" sz="1200" b="1" dirty="0">
                <a:solidFill>
                  <a:srgbClr val="B3261E"/>
                </a:solidFill>
              </a:rPr>
              <a:t>-3</a:t>
            </a:r>
            <a:endParaRPr lang="en-US" sz="1200" dirty="0"/>
          </a:p>
        </p:txBody>
      </p:sp>
      <p:sp>
        <p:nvSpPr>
          <p:cNvPr id="21" name="Shape 19"/>
          <p:cNvSpPr/>
          <p:nvPr/>
        </p:nvSpPr>
        <p:spPr>
          <a:xfrm>
            <a:off x="6858000" y="3360420"/>
            <a:ext cx="777240" cy="777240"/>
          </a:xfrm>
          <a:prstGeom prst="rect">
            <a:avLst/>
          </a:prstGeom>
          <a:solidFill>
            <a:srgbClr val="E8F1FA"/>
          </a:solidFill>
          <a:ln w="15875">
            <a:solidFill>
              <a:srgbClr val="1E5A96"/>
            </a:solidFill>
            <a:prstDash val="solid"/>
          </a:ln>
        </p:spPr>
      </p:sp>
      <p:sp>
        <p:nvSpPr>
          <p:cNvPr id="22" name="Text 20"/>
          <p:cNvSpPr/>
          <p:nvPr/>
        </p:nvSpPr>
        <p:spPr>
          <a:xfrm>
            <a:off x="6858000" y="3360420"/>
            <a:ext cx="777240" cy="777240"/>
          </a:xfrm>
          <a:prstGeom prst="rect">
            <a:avLst/>
          </a:prstGeom>
          <a:noFill/>
          <a:ln/>
        </p:spPr>
        <p:txBody>
          <a:bodyPr wrap="square" lIns="0" tIns="0" rIns="0" bIns="0" rtlCol="0" anchor="ctr"/>
          <a:lstStyle/>
          <a:p>
            <a:pPr marL="0" indent="0" algn="ctr">
              <a:buNone/>
            </a:pPr>
            <a:r>
              <a:rPr lang="en-US" sz="2200" b="1" dirty="0">
                <a:solidFill>
                  <a:srgbClr val="1B2733"/>
                </a:solidFill>
              </a:rPr>
              <a:t>O</a:t>
            </a:r>
            <a:endParaRPr lang="en-US" sz="2200" dirty="0"/>
          </a:p>
        </p:txBody>
      </p:sp>
      <p:sp>
        <p:nvSpPr>
          <p:cNvPr id="23" name="Text 21"/>
          <p:cNvSpPr/>
          <p:nvPr/>
        </p:nvSpPr>
        <p:spPr>
          <a:xfrm>
            <a:off x="6858000" y="2976372"/>
            <a:ext cx="777240" cy="320040"/>
          </a:xfrm>
          <a:prstGeom prst="rect">
            <a:avLst/>
          </a:prstGeom>
          <a:noFill/>
          <a:ln/>
        </p:spPr>
        <p:txBody>
          <a:bodyPr wrap="square" lIns="0" tIns="0" rIns="0" bIns="0" rtlCol="0" anchor="ctr"/>
          <a:lstStyle/>
          <a:p>
            <a:pPr marL="0" indent="0" algn="ctr">
              <a:buNone/>
            </a:pPr>
            <a:r>
              <a:rPr lang="en-US" sz="1200" b="1" dirty="0">
                <a:solidFill>
                  <a:srgbClr val="1E7D32"/>
                </a:solidFill>
              </a:rPr>
              <a:t>4</a:t>
            </a:r>
            <a:endParaRPr lang="en-US" sz="1200" dirty="0"/>
          </a:p>
        </p:txBody>
      </p:sp>
      <p:sp>
        <p:nvSpPr>
          <p:cNvPr id="24" name="Text 22"/>
          <p:cNvSpPr/>
          <p:nvPr/>
        </p:nvSpPr>
        <p:spPr>
          <a:xfrm>
            <a:off x="6858000" y="4192524"/>
            <a:ext cx="777240" cy="320040"/>
          </a:xfrm>
          <a:prstGeom prst="rect">
            <a:avLst/>
          </a:prstGeom>
          <a:noFill/>
          <a:ln/>
        </p:spPr>
        <p:txBody>
          <a:bodyPr wrap="square" lIns="0" tIns="0" rIns="0" bIns="0" rtlCol="0" anchor="ctr"/>
          <a:lstStyle/>
          <a:p>
            <a:pPr marL="0" indent="0" algn="ctr">
              <a:buNone/>
            </a:pPr>
            <a:r>
              <a:rPr lang="en-US" sz="1200" b="1" dirty="0">
                <a:solidFill>
                  <a:srgbClr val="B3261E"/>
                </a:solidFill>
              </a:rPr>
              <a:t>-2</a:t>
            </a:r>
            <a:endParaRPr lang="en-US" sz="1200" dirty="0"/>
          </a:p>
        </p:txBody>
      </p:sp>
      <p:sp>
        <p:nvSpPr>
          <p:cNvPr id="25" name="Shape 23"/>
          <p:cNvSpPr/>
          <p:nvPr/>
        </p:nvSpPr>
        <p:spPr>
          <a:xfrm>
            <a:off x="7635240" y="3360420"/>
            <a:ext cx="777240" cy="777240"/>
          </a:xfrm>
          <a:prstGeom prst="rect">
            <a:avLst/>
          </a:prstGeom>
          <a:solidFill>
            <a:srgbClr val="FFFFFF"/>
          </a:solidFill>
          <a:ln w="15875">
            <a:solidFill>
              <a:srgbClr val="1E5A96"/>
            </a:solidFill>
            <a:prstDash val="solid"/>
          </a:ln>
        </p:spPr>
      </p:sp>
      <p:sp>
        <p:nvSpPr>
          <p:cNvPr id="26" name="Text 24"/>
          <p:cNvSpPr/>
          <p:nvPr/>
        </p:nvSpPr>
        <p:spPr>
          <a:xfrm>
            <a:off x="7635240" y="3360420"/>
            <a:ext cx="777240" cy="777240"/>
          </a:xfrm>
          <a:prstGeom prst="rect">
            <a:avLst/>
          </a:prstGeom>
          <a:noFill/>
          <a:ln/>
        </p:spPr>
        <p:txBody>
          <a:bodyPr wrap="square" lIns="0" tIns="0" rIns="0" bIns="0" rtlCol="0" anchor="ctr"/>
          <a:lstStyle/>
          <a:p>
            <a:pPr marL="0" indent="0" algn="ctr">
              <a:buNone/>
            </a:pPr>
            <a:r>
              <a:rPr lang="en-US" sz="2200" b="1" dirty="0">
                <a:solidFill>
                  <a:srgbClr val="1B2733"/>
                </a:solidFill>
              </a:rPr>
              <a:t>N</a:t>
            </a:r>
            <a:endParaRPr lang="en-US" sz="2200" dirty="0"/>
          </a:p>
        </p:txBody>
      </p:sp>
      <p:sp>
        <p:nvSpPr>
          <p:cNvPr id="27" name="Text 25"/>
          <p:cNvSpPr/>
          <p:nvPr/>
        </p:nvSpPr>
        <p:spPr>
          <a:xfrm>
            <a:off x="7635240" y="2976372"/>
            <a:ext cx="777240" cy="320040"/>
          </a:xfrm>
          <a:prstGeom prst="rect">
            <a:avLst/>
          </a:prstGeom>
          <a:noFill/>
          <a:ln/>
        </p:spPr>
        <p:txBody>
          <a:bodyPr wrap="square" lIns="0" tIns="0" rIns="0" bIns="0" rtlCol="0" anchor="ctr"/>
          <a:lstStyle/>
          <a:p>
            <a:pPr marL="0" indent="0" algn="ctr">
              <a:buNone/>
            </a:pPr>
            <a:r>
              <a:rPr lang="en-US" sz="1200" b="1" dirty="0">
                <a:solidFill>
                  <a:srgbClr val="1E7D32"/>
                </a:solidFill>
              </a:rPr>
              <a:t>5</a:t>
            </a:r>
            <a:endParaRPr lang="en-US" sz="1200" dirty="0"/>
          </a:p>
        </p:txBody>
      </p:sp>
      <p:sp>
        <p:nvSpPr>
          <p:cNvPr id="28" name="Text 26"/>
          <p:cNvSpPr/>
          <p:nvPr/>
        </p:nvSpPr>
        <p:spPr>
          <a:xfrm>
            <a:off x="7635240" y="4192524"/>
            <a:ext cx="777240" cy="320040"/>
          </a:xfrm>
          <a:prstGeom prst="rect">
            <a:avLst/>
          </a:prstGeom>
          <a:noFill/>
          <a:ln/>
        </p:spPr>
        <p:txBody>
          <a:bodyPr wrap="square" lIns="0" tIns="0" rIns="0" bIns="0" rtlCol="0" anchor="ctr"/>
          <a:lstStyle/>
          <a:p>
            <a:pPr marL="0" indent="0" algn="ctr">
              <a:buNone/>
            </a:pPr>
            <a:r>
              <a:rPr lang="en-US" sz="1200" b="1" dirty="0">
                <a:solidFill>
                  <a:srgbClr val="B3261E"/>
                </a:solidFill>
              </a:rPr>
              <a:t>-1</a:t>
            </a:r>
            <a:endParaRPr lang="en-US" sz="1200" dirty="0"/>
          </a:p>
        </p:txBody>
      </p:sp>
      <p:sp>
        <p:nvSpPr>
          <p:cNvPr id="29" name="Text 27"/>
          <p:cNvSpPr/>
          <p:nvPr/>
        </p:nvSpPr>
        <p:spPr>
          <a:xfrm>
            <a:off x="822960" y="4640580"/>
            <a:ext cx="10515600" cy="320040"/>
          </a:xfrm>
          <a:prstGeom prst="rect">
            <a:avLst/>
          </a:prstGeom>
          <a:noFill/>
          <a:ln/>
        </p:spPr>
        <p:txBody>
          <a:bodyPr wrap="square" lIns="0" tIns="0" rIns="0" bIns="0" rtlCol="0" anchor="ctr"/>
          <a:lstStyle/>
          <a:p>
            <a:pPr marL="0" indent="0" algn="ctr">
              <a:buNone/>
            </a:pPr>
            <a:r>
              <a:rPr lang="en-US" sz="1150" i="1" dirty="0">
                <a:solidFill>
                  <a:srgbClr val="5C6B7A"/>
                </a:solidFill>
              </a:rPr>
              <a:t>Positive index (top)  •  Negative index (bottom)</a:t>
            </a:r>
            <a:endParaRPr lang="en-US" sz="1150" dirty="0"/>
          </a:p>
        </p:txBody>
      </p:sp>
      <p:sp>
        <p:nvSpPr>
          <p:cNvPr id="30" name="Text 2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34</a:t>
            </a:r>
            <a:endParaRPr lang="en-US" sz="1000" dirty="0"/>
          </a:p>
        </p:txBody>
      </p:sp>
      <p:sp>
        <p:nvSpPr>
          <p:cNvPr id="31" name="Text 2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5 — STRINGS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Where This Is Used</a:t>
            </a:r>
            <a:endParaRPr lang="en-US" sz="2700" dirty="0"/>
          </a:p>
        </p:txBody>
      </p:sp>
      <p:sp>
        <p:nvSpPr>
          <p:cNvPr id="4" name="Shape 2"/>
          <p:cNvSpPr/>
          <p:nvPr/>
        </p:nvSpPr>
        <p:spPr>
          <a:xfrm>
            <a:off x="548640" y="1645920"/>
            <a:ext cx="3505200" cy="3566160"/>
          </a:xfrm>
          <a:prstGeom prst="roundRect">
            <a:avLst>
              <a:gd name="adj" fmla="val 2609"/>
            </a:avLst>
          </a:prstGeom>
          <a:solidFill>
            <a:srgbClr val="1E5A96"/>
          </a:solidFill>
          <a:ln/>
        </p:spPr>
      </p:sp>
      <p:sp>
        <p:nvSpPr>
          <p:cNvPr id="5" name="Shape 3"/>
          <p:cNvSpPr/>
          <p:nvPr/>
        </p:nvSpPr>
        <p:spPr>
          <a:xfrm>
            <a:off x="1981200" y="1965960"/>
            <a:ext cx="640080" cy="640080"/>
          </a:xfrm>
          <a:prstGeom prst="ellipse">
            <a:avLst/>
          </a:prstGeom>
          <a:solidFill>
            <a:srgbClr val="FFFFFF">
              <a:alpha val="88000"/>
            </a:srgbClr>
          </a:solidFill>
          <a:ln/>
        </p:spPr>
      </p:sp>
      <p:pic>
        <p:nvPicPr>
          <p:cNvPr id="6" name="Image 0" descr="preencoded.png"/>
          <p:cNvPicPr>
            <a:picLocks noChangeAspect="1"/>
          </p:cNvPicPr>
          <p:nvPr/>
        </p:nvPicPr>
        <p:blipFill>
          <a:blip r:embed="rId3"/>
          <a:stretch>
            <a:fillRect/>
          </a:stretch>
        </p:blipFill>
        <p:spPr>
          <a:xfrm>
            <a:off x="2118360" y="2103120"/>
            <a:ext cx="365760" cy="365760"/>
          </a:xfrm>
          <a:prstGeom prst="rect">
            <a:avLst/>
          </a:prstGeom>
        </p:spPr>
      </p:pic>
      <p:sp>
        <p:nvSpPr>
          <p:cNvPr id="7" name="Text 4"/>
          <p:cNvSpPr/>
          <p:nvPr/>
        </p:nvSpPr>
        <p:spPr>
          <a:xfrm>
            <a:off x="73152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Text Processing</a:t>
            </a:r>
            <a:endParaRPr lang="en-US" sz="1500" dirty="0"/>
          </a:p>
        </p:txBody>
      </p:sp>
      <p:sp>
        <p:nvSpPr>
          <p:cNvPr id="8" name="Text 5"/>
          <p:cNvSpPr/>
          <p:nvPr/>
        </p:nvSpPr>
        <p:spPr>
          <a:xfrm>
            <a:off x="77724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Cleaning and formatting user-entered text</a:t>
            </a:r>
            <a:endParaRPr lang="en-US" sz="1200" dirty="0"/>
          </a:p>
        </p:txBody>
      </p:sp>
      <p:sp>
        <p:nvSpPr>
          <p:cNvPr id="9" name="Shape 6"/>
          <p:cNvSpPr/>
          <p:nvPr/>
        </p:nvSpPr>
        <p:spPr>
          <a:xfrm>
            <a:off x="4328160" y="1645920"/>
            <a:ext cx="3505200" cy="3566160"/>
          </a:xfrm>
          <a:prstGeom prst="roundRect">
            <a:avLst>
              <a:gd name="adj" fmla="val 2609"/>
            </a:avLst>
          </a:prstGeom>
          <a:solidFill>
            <a:srgbClr val="132A46"/>
          </a:solidFill>
          <a:ln/>
        </p:spPr>
      </p:sp>
      <p:sp>
        <p:nvSpPr>
          <p:cNvPr id="10" name="Shape 7"/>
          <p:cNvSpPr/>
          <p:nvPr/>
        </p:nvSpPr>
        <p:spPr>
          <a:xfrm>
            <a:off x="5760720" y="1965960"/>
            <a:ext cx="640080" cy="640080"/>
          </a:xfrm>
          <a:prstGeom prst="ellipse">
            <a:avLst/>
          </a:prstGeom>
          <a:solidFill>
            <a:srgbClr val="FFFFFF">
              <a:alpha val="88000"/>
            </a:srgbClr>
          </a:solidFill>
          <a:ln/>
        </p:spPr>
      </p:sp>
      <p:pic>
        <p:nvPicPr>
          <p:cNvPr id="11" name="Image 1" descr="preencoded.png"/>
          <p:cNvPicPr>
            <a:picLocks noChangeAspect="1"/>
          </p:cNvPicPr>
          <p:nvPr/>
        </p:nvPicPr>
        <p:blipFill>
          <a:blip r:embed="rId3"/>
          <a:stretch>
            <a:fillRect/>
          </a:stretch>
        </p:blipFill>
        <p:spPr>
          <a:xfrm>
            <a:off x="5897880" y="2103120"/>
            <a:ext cx="365760" cy="365760"/>
          </a:xfrm>
          <a:prstGeom prst="rect">
            <a:avLst/>
          </a:prstGeom>
        </p:spPr>
      </p:pic>
      <p:sp>
        <p:nvSpPr>
          <p:cNvPr id="12" name="Text 8"/>
          <p:cNvSpPr/>
          <p:nvPr/>
        </p:nvSpPr>
        <p:spPr>
          <a:xfrm>
            <a:off x="451104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Chatbots</a:t>
            </a:r>
            <a:endParaRPr lang="en-US" sz="1500" dirty="0"/>
          </a:p>
        </p:txBody>
      </p:sp>
      <p:sp>
        <p:nvSpPr>
          <p:cNvPr id="13" name="Text 9"/>
          <p:cNvSpPr/>
          <p:nvPr/>
        </p:nvSpPr>
        <p:spPr>
          <a:xfrm>
            <a:off x="455676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Splitting and matching words in a message</a:t>
            </a:r>
            <a:endParaRPr lang="en-US" sz="1200" dirty="0"/>
          </a:p>
        </p:txBody>
      </p:sp>
      <p:sp>
        <p:nvSpPr>
          <p:cNvPr id="14" name="Shape 10"/>
          <p:cNvSpPr/>
          <p:nvPr/>
        </p:nvSpPr>
        <p:spPr>
          <a:xfrm>
            <a:off x="8107680" y="1645920"/>
            <a:ext cx="3505200" cy="3566160"/>
          </a:xfrm>
          <a:prstGeom prst="roundRect">
            <a:avLst>
              <a:gd name="adj" fmla="val 2609"/>
            </a:avLst>
          </a:prstGeom>
          <a:solidFill>
            <a:srgbClr val="1E5A96"/>
          </a:solidFill>
          <a:ln/>
        </p:spPr>
      </p:sp>
      <p:sp>
        <p:nvSpPr>
          <p:cNvPr id="15" name="Shape 11"/>
          <p:cNvSpPr/>
          <p:nvPr/>
        </p:nvSpPr>
        <p:spPr>
          <a:xfrm>
            <a:off x="9540240" y="1965960"/>
            <a:ext cx="640080" cy="640080"/>
          </a:xfrm>
          <a:prstGeom prst="ellipse">
            <a:avLst/>
          </a:prstGeom>
          <a:solidFill>
            <a:srgbClr val="FFFFFF">
              <a:alpha val="88000"/>
            </a:srgbClr>
          </a:solidFill>
          <a:ln/>
        </p:spPr>
      </p:sp>
      <p:pic>
        <p:nvPicPr>
          <p:cNvPr id="16" name="Image 2" descr="preencoded.png"/>
          <p:cNvPicPr>
            <a:picLocks noChangeAspect="1"/>
          </p:cNvPicPr>
          <p:nvPr/>
        </p:nvPicPr>
        <p:blipFill>
          <a:blip r:embed="rId3"/>
          <a:stretch>
            <a:fillRect/>
          </a:stretch>
        </p:blipFill>
        <p:spPr>
          <a:xfrm>
            <a:off x="9677400" y="2103120"/>
            <a:ext cx="365760" cy="365760"/>
          </a:xfrm>
          <a:prstGeom prst="rect">
            <a:avLst/>
          </a:prstGeom>
        </p:spPr>
      </p:pic>
      <p:sp>
        <p:nvSpPr>
          <p:cNvPr id="17" name="Text 12"/>
          <p:cNvSpPr/>
          <p:nvPr/>
        </p:nvSpPr>
        <p:spPr>
          <a:xfrm>
            <a:off x="829056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Form Validation</a:t>
            </a:r>
            <a:endParaRPr lang="en-US" sz="1500" dirty="0"/>
          </a:p>
        </p:txBody>
      </p:sp>
      <p:sp>
        <p:nvSpPr>
          <p:cNvPr id="18" name="Text 13"/>
          <p:cNvSpPr/>
          <p:nvPr/>
        </p:nvSpPr>
        <p:spPr>
          <a:xfrm>
            <a:off x="833628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Checking string length and characters</a:t>
            </a:r>
            <a:endParaRPr lang="en-US" sz="1200" dirty="0"/>
          </a:p>
        </p:txBody>
      </p:sp>
      <p:sp>
        <p:nvSpPr>
          <p:cNvPr id="19" name="Text 14"/>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35</a:t>
            </a:r>
            <a:endParaRPr lang="en-US" sz="10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5 — STRINGS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Coding Example &amp; Practical Exercises</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937760" cy="457200"/>
          </a:xfrm>
          <a:prstGeom prst="rect">
            <a:avLst/>
          </a:prstGeom>
          <a:noFill/>
          <a:ln/>
        </p:spPr>
        <p:txBody>
          <a:bodyPr wrap="square" lIns="0" tIns="0" rIns="0" bIns="0" rtlCol="0" anchor="ctr"/>
          <a:lstStyle/>
          <a:p>
            <a:pPr marL="0" indent="0">
              <a:buNone/>
            </a:pPr>
            <a:r>
              <a:rPr lang="en-US" sz="1500" b="1" dirty="0">
                <a:solidFill>
                  <a:srgbClr val="1B2733"/>
                </a:solidFill>
              </a:rPr>
              <a:t>Coding Example</a:t>
            </a:r>
            <a:endParaRPr lang="en-US" sz="1500" dirty="0"/>
          </a:p>
        </p:txBody>
      </p:sp>
      <p:sp>
        <p:nvSpPr>
          <p:cNvPr id="7" name="Shape 4"/>
          <p:cNvSpPr/>
          <p:nvPr/>
        </p:nvSpPr>
        <p:spPr>
          <a:xfrm>
            <a:off x="548640" y="2011680"/>
            <a:ext cx="5486400" cy="3108960"/>
          </a:xfrm>
          <a:prstGeom prst="roundRect">
            <a:avLst>
              <a:gd name="adj" fmla="val 2353"/>
            </a:avLst>
          </a:prstGeom>
          <a:solidFill>
            <a:srgbClr val="1E1E2E"/>
          </a:solidFill>
          <a:ln/>
          <a:effectLst>
            <a:outerShdw blurRad="101600" dist="38100" dir="5400000" algn="bl" rotWithShape="0">
              <a:srgbClr val="000000">
                <a:alpha val="18000"/>
              </a:srgbClr>
            </a:outerShdw>
          </a:effectLst>
        </p:spPr>
      </p:sp>
      <p:sp>
        <p:nvSpPr>
          <p:cNvPr id="8" name="Text 5"/>
          <p:cNvSpPr/>
          <p:nvPr/>
        </p:nvSpPr>
        <p:spPr>
          <a:xfrm>
            <a:off x="731520" y="2103120"/>
            <a:ext cx="5120640" cy="274320"/>
          </a:xfrm>
          <a:prstGeom prst="rect">
            <a:avLst/>
          </a:prstGeom>
          <a:noFill/>
          <a:ln/>
        </p:spPr>
        <p:txBody>
          <a:bodyPr wrap="square" lIns="0" tIns="0" rIns="0" bIns="0" rtlCol="0" anchor="ctr"/>
          <a:lstStyle/>
          <a:p>
            <a:pPr marL="0" indent="0">
              <a:buNone/>
            </a:pPr>
            <a:r>
              <a:rPr lang="en-US" sz="1050" dirty="0">
                <a:solidFill>
                  <a:srgbClr val="8FA3B8"/>
                </a:solidFill>
                <a:latin typeface="Courier New" pitchFamily="34" charset="0"/>
                <a:ea typeface="Courier New" pitchFamily="34" charset="-122"/>
                <a:cs typeface="Courier New" pitchFamily="34" charset="-120"/>
              </a:rPr>
              <a:t>strings.py</a:t>
            </a:r>
            <a:endParaRPr lang="en-US" sz="1050" dirty="0"/>
          </a:p>
        </p:txBody>
      </p:sp>
      <p:sp>
        <p:nvSpPr>
          <p:cNvPr id="9" name="Text 6"/>
          <p:cNvSpPr/>
          <p:nvPr/>
        </p:nvSpPr>
        <p:spPr>
          <a:xfrm>
            <a:off x="777240" y="2395728"/>
            <a:ext cx="5029200" cy="2560320"/>
          </a:xfrm>
          <a:prstGeom prst="rect">
            <a:avLst/>
          </a:prstGeom>
          <a:noFill/>
          <a:ln/>
        </p:spPr>
        <p:txBody>
          <a:bodyPr wrap="square" lIns="0" tIns="0" rIns="0" bIns="0" rtlCol="0" anchor="t"/>
          <a:lstStyle/>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text = "Python"</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print(text[0])</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print(text[-1])</a:t>
            </a:r>
            <a:endParaRPr lang="en-US" sz="1300" dirty="0"/>
          </a:p>
        </p:txBody>
      </p:sp>
      <p:sp>
        <p:nvSpPr>
          <p:cNvPr id="10" name="Shape 7"/>
          <p:cNvSpPr/>
          <p:nvPr/>
        </p:nvSpPr>
        <p:spPr>
          <a:xfrm>
            <a:off x="6355080" y="1463040"/>
            <a:ext cx="384048" cy="384048"/>
          </a:xfrm>
          <a:prstGeom prst="ellipse">
            <a:avLst/>
          </a:prstGeom>
          <a:solidFill>
            <a:srgbClr val="1E5A96"/>
          </a:solidFill>
          <a:ln/>
        </p:spPr>
      </p:sp>
      <p:pic>
        <p:nvPicPr>
          <p:cNvPr id="11"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2" name="Text 8"/>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Practical Exercises</a:t>
            </a:r>
            <a:endParaRPr lang="en-US" sz="1500" dirty="0"/>
          </a:p>
        </p:txBody>
      </p:sp>
      <p:sp>
        <p:nvSpPr>
          <p:cNvPr id="13" name="Shape 9"/>
          <p:cNvSpPr/>
          <p:nvPr/>
        </p:nvSpPr>
        <p:spPr>
          <a:xfrm>
            <a:off x="6355080" y="2011680"/>
            <a:ext cx="5257800" cy="3108960"/>
          </a:xfrm>
          <a:prstGeom prst="roundRect">
            <a:avLst>
              <a:gd name="adj" fmla="val 2353"/>
            </a:avLst>
          </a:prstGeom>
          <a:solidFill>
            <a:srgbClr val="EEF4FA"/>
          </a:solidFill>
          <a:ln/>
        </p:spPr>
      </p:sp>
      <p:sp>
        <p:nvSpPr>
          <p:cNvPr id="14" name="Text 10"/>
          <p:cNvSpPr/>
          <p:nvPr/>
        </p:nvSpPr>
        <p:spPr>
          <a:xfrm>
            <a:off x="6583680" y="2212848"/>
            <a:ext cx="4846320" cy="27432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B2733"/>
                </a:solidFill>
              </a:rPr>
              <a:t>Reverse a string</a:t>
            </a:r>
            <a:endParaRPr lang="en-US" sz="1350" dirty="0"/>
          </a:p>
          <a:p>
            <a:pPr marL="342900" indent="-342900">
              <a:lnSpc>
                <a:spcPct val="120000"/>
              </a:lnSpc>
              <a:spcAft>
                <a:spcPts val="1200"/>
              </a:spcAft>
              <a:buSzPct val="100000"/>
              <a:buChar char="•"/>
            </a:pPr>
            <a:r>
              <a:rPr lang="en-US" sz="1350" dirty="0">
                <a:solidFill>
                  <a:srgbClr val="1B2733"/>
                </a:solidFill>
              </a:rPr>
              <a:t>Check if a string is a palindrome</a:t>
            </a:r>
            <a:endParaRPr lang="en-US" sz="1350" dirty="0"/>
          </a:p>
          <a:p>
            <a:pPr marL="342900" indent="-342900">
              <a:lnSpc>
                <a:spcPct val="120000"/>
              </a:lnSpc>
              <a:spcAft>
                <a:spcPts val="1200"/>
              </a:spcAft>
              <a:buSzPct val="100000"/>
              <a:buChar char="•"/>
            </a:pPr>
            <a:r>
              <a:rPr lang="en-US" sz="1350" dirty="0">
                <a:solidFill>
                  <a:srgbClr val="1B2733"/>
                </a:solidFill>
              </a:rPr>
              <a:t>Count words in a sentence</a:t>
            </a:r>
            <a:endParaRPr lang="en-US" sz="1350" dirty="0"/>
          </a:p>
        </p:txBody>
      </p:sp>
      <p:sp>
        <p:nvSpPr>
          <p:cNvPr id="15" name="Text 11"/>
          <p:cNvSpPr/>
          <p:nvPr/>
        </p:nvSpPr>
        <p:spPr>
          <a:xfrm>
            <a:off x="548640" y="5257800"/>
            <a:ext cx="5486400" cy="274320"/>
          </a:xfrm>
          <a:prstGeom prst="rect">
            <a:avLst/>
          </a:prstGeom>
          <a:noFill/>
          <a:ln/>
        </p:spPr>
        <p:txBody>
          <a:bodyPr wrap="square" lIns="0" tIns="0" rIns="0" bIns="0" rtlCol="0" anchor="ctr"/>
          <a:lstStyle/>
          <a:p>
            <a:pPr marL="0" indent="0">
              <a:buNone/>
            </a:pPr>
            <a:r>
              <a:rPr lang="en-US" sz="1050" i="1" dirty="0">
                <a:solidFill>
                  <a:srgbClr val="5C6B7A"/>
                </a:solidFill>
              </a:rPr>
              <a:t>Theory: 1h  •  Practical: 2h</a:t>
            </a:r>
            <a:endParaRPr lang="en-US" sz="1050" dirty="0"/>
          </a:p>
        </p:txBody>
      </p:sp>
      <p:sp>
        <p:nvSpPr>
          <p:cNvPr id="16"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36</a:t>
            </a:r>
            <a:endParaRPr lang="en-US" sz="1000" dirty="0"/>
          </a:p>
        </p:txBody>
      </p:sp>
      <p:sp>
        <p:nvSpPr>
          <p:cNvPr id="17"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5 — STRINGS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Mini Activity &amp; Expected Outcome</a:t>
            </a:r>
            <a:endParaRPr lang="en-US" sz="2700" dirty="0"/>
          </a:p>
        </p:txBody>
      </p:sp>
      <p:sp>
        <p:nvSpPr>
          <p:cNvPr id="4" name="Shape 2"/>
          <p:cNvSpPr/>
          <p:nvPr/>
        </p:nvSpPr>
        <p:spPr>
          <a:xfrm>
            <a:off x="548640" y="1600200"/>
            <a:ext cx="11064240" cy="1920240"/>
          </a:xfrm>
          <a:prstGeom prst="roundRect">
            <a:avLst>
              <a:gd name="adj" fmla="val 4762"/>
            </a:avLst>
          </a:prstGeom>
          <a:solidFill>
            <a:srgbClr val="1E5A96"/>
          </a:solidFill>
          <a:ln/>
        </p:spPr>
      </p:sp>
      <p:pic>
        <p:nvPicPr>
          <p:cNvPr id="5" name="Image 0" descr="preencoded.png"/>
          <p:cNvPicPr>
            <a:picLocks noChangeAspect="1"/>
          </p:cNvPicPr>
          <p:nvPr/>
        </p:nvPicPr>
        <p:blipFill>
          <a:blip r:embed="rId3"/>
          <a:stretch>
            <a:fillRect/>
          </a:stretch>
        </p:blipFill>
        <p:spPr>
          <a:xfrm>
            <a:off x="868680" y="1965960"/>
            <a:ext cx="502920" cy="502920"/>
          </a:xfrm>
          <a:prstGeom prst="rect">
            <a:avLst/>
          </a:prstGeom>
        </p:spPr>
      </p:pic>
      <p:sp>
        <p:nvSpPr>
          <p:cNvPr id="6" name="Text 3"/>
          <p:cNvSpPr/>
          <p:nvPr/>
        </p:nvSpPr>
        <p:spPr>
          <a:xfrm>
            <a:off x="1554480" y="1874520"/>
            <a:ext cx="3657600" cy="320040"/>
          </a:xfrm>
          <a:prstGeom prst="rect">
            <a:avLst/>
          </a:prstGeom>
          <a:noFill/>
          <a:ln/>
        </p:spPr>
        <p:txBody>
          <a:bodyPr wrap="square" lIns="0" tIns="0" rIns="0" bIns="0" rtlCol="0" anchor="ctr"/>
          <a:lstStyle/>
          <a:p>
            <a:pPr marL="0" indent="0">
              <a:buNone/>
            </a:pPr>
            <a:r>
              <a:rPr lang="en-US" sz="1250" b="1" kern="0" spc="150" dirty="0">
                <a:solidFill>
                  <a:srgbClr val="F2A93B"/>
                </a:solidFill>
              </a:rPr>
              <a:t>MINI ACTIVITY</a:t>
            </a:r>
            <a:endParaRPr lang="en-US" sz="1250" dirty="0"/>
          </a:p>
        </p:txBody>
      </p:sp>
      <p:sp>
        <p:nvSpPr>
          <p:cNvPr id="7" name="Text 4"/>
          <p:cNvSpPr/>
          <p:nvPr/>
        </p:nvSpPr>
        <p:spPr>
          <a:xfrm>
            <a:off x="1554480" y="2240280"/>
            <a:ext cx="9692640" cy="1143000"/>
          </a:xfrm>
          <a:prstGeom prst="rect">
            <a:avLst/>
          </a:prstGeom>
          <a:noFill/>
          <a:ln/>
        </p:spPr>
        <p:txBody>
          <a:bodyPr wrap="square" lIns="0" tIns="0" rIns="0" bIns="0" rtlCol="0" anchor="t"/>
          <a:lstStyle/>
          <a:p>
            <a:pPr marL="0" indent="0">
              <a:buNone/>
            </a:pPr>
            <a:r>
              <a:rPr lang="en-US" sz="1550" dirty="0">
                <a:solidFill>
                  <a:srgbClr val="FFFFFF"/>
                </a:solidFill>
              </a:rPr>
              <a:t>Build a Text Analyzer that counts letters, words, and vowels in a sentence.</a:t>
            </a:r>
            <a:endParaRPr lang="en-US" sz="1550" dirty="0"/>
          </a:p>
        </p:txBody>
      </p:sp>
      <p:sp>
        <p:nvSpPr>
          <p:cNvPr id="8" name="Shape 5"/>
          <p:cNvSpPr/>
          <p:nvPr/>
        </p:nvSpPr>
        <p:spPr>
          <a:xfrm>
            <a:off x="548640" y="3794760"/>
            <a:ext cx="11064240" cy="1691640"/>
          </a:xfrm>
          <a:prstGeom prst="roundRect">
            <a:avLst>
              <a:gd name="adj" fmla="val 5405"/>
            </a:avLst>
          </a:prstGeom>
          <a:solidFill>
            <a:srgbClr val="EEF4FA"/>
          </a:solidFill>
          <a:ln/>
        </p:spPr>
      </p:sp>
      <p:pic>
        <p:nvPicPr>
          <p:cNvPr id="9" name="Image 1" descr="preencoded.png"/>
          <p:cNvPicPr>
            <a:picLocks noChangeAspect="1"/>
          </p:cNvPicPr>
          <p:nvPr/>
        </p:nvPicPr>
        <p:blipFill>
          <a:blip r:embed="rId4"/>
          <a:stretch>
            <a:fillRect/>
          </a:stretch>
        </p:blipFill>
        <p:spPr>
          <a:xfrm>
            <a:off x="868680" y="4114800"/>
            <a:ext cx="457200" cy="457200"/>
          </a:xfrm>
          <a:prstGeom prst="rect">
            <a:avLst/>
          </a:prstGeom>
        </p:spPr>
      </p:pic>
      <p:sp>
        <p:nvSpPr>
          <p:cNvPr id="10" name="Text 6"/>
          <p:cNvSpPr/>
          <p:nvPr/>
        </p:nvSpPr>
        <p:spPr>
          <a:xfrm>
            <a:off x="1508760" y="4041648"/>
            <a:ext cx="3657600" cy="320040"/>
          </a:xfrm>
          <a:prstGeom prst="rect">
            <a:avLst/>
          </a:prstGeom>
          <a:noFill/>
          <a:ln/>
        </p:spPr>
        <p:txBody>
          <a:bodyPr wrap="square" lIns="0" tIns="0" rIns="0" bIns="0" rtlCol="0" anchor="ctr"/>
          <a:lstStyle/>
          <a:p>
            <a:pPr marL="0" indent="0">
              <a:buNone/>
            </a:pPr>
            <a:r>
              <a:rPr lang="en-US" sz="1250" b="1" kern="0" spc="150" dirty="0">
                <a:solidFill>
                  <a:srgbClr val="1E7D32"/>
                </a:solidFill>
              </a:rPr>
              <a:t>EXPECTED OUTCOME</a:t>
            </a:r>
            <a:endParaRPr lang="en-US" sz="1250" dirty="0"/>
          </a:p>
        </p:txBody>
      </p:sp>
      <p:sp>
        <p:nvSpPr>
          <p:cNvPr id="11" name="Text 7"/>
          <p:cNvSpPr/>
          <p:nvPr/>
        </p:nvSpPr>
        <p:spPr>
          <a:xfrm>
            <a:off x="1508760" y="4389120"/>
            <a:ext cx="9784080" cy="914400"/>
          </a:xfrm>
          <a:prstGeom prst="rect">
            <a:avLst/>
          </a:prstGeom>
          <a:noFill/>
          <a:ln/>
        </p:spPr>
        <p:txBody>
          <a:bodyPr wrap="square" lIns="0" tIns="0" rIns="0" bIns="0" rtlCol="0" anchor="t"/>
          <a:lstStyle/>
          <a:p>
            <a:pPr marL="0" indent="0">
              <a:buNone/>
            </a:pPr>
            <a:r>
              <a:rPr lang="en-US" sz="1550" dirty="0">
                <a:solidFill>
                  <a:srgbClr val="1B2733"/>
                </a:solidFill>
              </a:rPr>
              <a:t>Students can manipulate text data efficiently.</a:t>
            </a:r>
            <a:endParaRPr lang="en-US" sz="1550" dirty="0"/>
          </a:p>
        </p:txBody>
      </p:sp>
      <p:sp>
        <p:nvSpPr>
          <p:cNvPr id="12" name="Text 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37</a:t>
            </a:r>
            <a:endParaRPr lang="en-US" sz="100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5 — STRINGS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Interview Questions &amp; Summary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6126480" cy="457200"/>
          </a:xfrm>
          <a:prstGeom prst="rect">
            <a:avLst/>
          </a:prstGeom>
          <a:noFill/>
          <a:ln/>
        </p:spPr>
        <p:txBody>
          <a:bodyPr wrap="square" lIns="0" tIns="0" rIns="0" bIns="0" rtlCol="0" anchor="ctr"/>
          <a:lstStyle/>
          <a:p>
            <a:pPr marL="0" indent="0">
              <a:buNone/>
            </a:pPr>
            <a:r>
              <a:rPr lang="en-US" sz="1500" b="1" dirty="0">
                <a:solidFill>
                  <a:srgbClr val="1B2733"/>
                </a:solidFill>
              </a:rPr>
              <a:t>Interview Questions</a:t>
            </a:r>
            <a:endParaRPr lang="en-US" sz="1500" dirty="0"/>
          </a:p>
        </p:txBody>
      </p:sp>
      <p:sp>
        <p:nvSpPr>
          <p:cNvPr id="7" name="Shape 4"/>
          <p:cNvSpPr/>
          <p:nvPr/>
        </p:nvSpPr>
        <p:spPr>
          <a:xfrm>
            <a:off x="548640" y="1965960"/>
            <a:ext cx="6675120" cy="1170432"/>
          </a:xfrm>
          <a:prstGeom prst="roundRect">
            <a:avLst>
              <a:gd name="adj" fmla="val 5469"/>
            </a:avLst>
          </a:prstGeom>
          <a:solidFill>
            <a:srgbClr val="EEF4FA"/>
          </a:solidFill>
          <a:ln/>
        </p:spPr>
      </p:sp>
      <p:sp>
        <p:nvSpPr>
          <p:cNvPr id="8" name="Text 5"/>
          <p:cNvSpPr/>
          <p:nvPr/>
        </p:nvSpPr>
        <p:spPr>
          <a:xfrm>
            <a:off x="731520" y="2057400"/>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Why are strings immutable in Python?</a:t>
            </a:r>
            <a:endParaRPr lang="en-US" sz="1250" dirty="0"/>
          </a:p>
        </p:txBody>
      </p:sp>
      <p:sp>
        <p:nvSpPr>
          <p:cNvPr id="9" name="Text 6"/>
          <p:cNvSpPr/>
          <p:nvPr/>
        </p:nvSpPr>
        <p:spPr>
          <a:xfrm>
            <a:off x="731520" y="2441448"/>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For memory efficiency and safety — any 'change' actually creates a new string object.</a:t>
            </a:r>
            <a:endParaRPr lang="en-US" sz="1150" dirty="0"/>
          </a:p>
        </p:txBody>
      </p:sp>
      <p:sp>
        <p:nvSpPr>
          <p:cNvPr id="10" name="Shape 7"/>
          <p:cNvSpPr/>
          <p:nvPr/>
        </p:nvSpPr>
        <p:spPr>
          <a:xfrm>
            <a:off x="548640" y="3264408"/>
            <a:ext cx="6675120" cy="1170432"/>
          </a:xfrm>
          <a:prstGeom prst="roundRect">
            <a:avLst>
              <a:gd name="adj" fmla="val 5469"/>
            </a:avLst>
          </a:prstGeom>
          <a:solidFill>
            <a:srgbClr val="EEF4FA"/>
          </a:solidFill>
          <a:ln/>
        </p:spPr>
      </p:sp>
      <p:sp>
        <p:nvSpPr>
          <p:cNvPr id="11" name="Text 8"/>
          <p:cNvSpPr/>
          <p:nvPr/>
        </p:nvSpPr>
        <p:spPr>
          <a:xfrm>
            <a:off x="731520" y="3355848"/>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does text[::-1] do?</a:t>
            </a:r>
            <a:endParaRPr lang="en-US" sz="1250" dirty="0"/>
          </a:p>
        </p:txBody>
      </p:sp>
      <p:sp>
        <p:nvSpPr>
          <p:cNvPr id="12" name="Text 9"/>
          <p:cNvSpPr/>
          <p:nvPr/>
        </p:nvSpPr>
        <p:spPr>
          <a:xfrm>
            <a:off x="731520" y="3739896"/>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It reverses the string using slicing with a step of -1.</a:t>
            </a:r>
            <a:endParaRPr lang="en-US" sz="1150" dirty="0"/>
          </a:p>
        </p:txBody>
      </p:sp>
      <p:sp>
        <p:nvSpPr>
          <p:cNvPr id="13" name="Shape 10"/>
          <p:cNvSpPr/>
          <p:nvPr/>
        </p:nvSpPr>
        <p:spPr>
          <a:xfrm>
            <a:off x="548640" y="4562856"/>
            <a:ext cx="6675120" cy="1170432"/>
          </a:xfrm>
          <a:prstGeom prst="roundRect">
            <a:avLst>
              <a:gd name="adj" fmla="val 5469"/>
            </a:avLst>
          </a:prstGeom>
          <a:solidFill>
            <a:srgbClr val="EEF4FA"/>
          </a:solidFill>
          <a:ln/>
        </p:spPr>
      </p:sp>
      <p:sp>
        <p:nvSpPr>
          <p:cNvPr id="14" name="Text 11"/>
          <p:cNvSpPr/>
          <p:nvPr/>
        </p:nvSpPr>
        <p:spPr>
          <a:xfrm>
            <a:off x="731520" y="4654296"/>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Difference between find() and index()?</a:t>
            </a:r>
            <a:endParaRPr lang="en-US" sz="1250" dirty="0"/>
          </a:p>
        </p:txBody>
      </p:sp>
      <p:sp>
        <p:nvSpPr>
          <p:cNvPr id="15" name="Text 12"/>
          <p:cNvSpPr/>
          <p:nvPr/>
        </p:nvSpPr>
        <p:spPr>
          <a:xfrm>
            <a:off x="731520" y="5038344"/>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Both locate a substring; find() returns -1 if not found, index() raises an error.</a:t>
            </a:r>
            <a:endParaRPr lang="en-US" sz="1150" dirty="0"/>
          </a:p>
        </p:txBody>
      </p:sp>
      <p:sp>
        <p:nvSpPr>
          <p:cNvPr id="16" name="Shape 13"/>
          <p:cNvSpPr/>
          <p:nvPr/>
        </p:nvSpPr>
        <p:spPr>
          <a:xfrm>
            <a:off x="7452360" y="1417320"/>
            <a:ext cx="13716" cy="4709160"/>
          </a:xfrm>
          <a:prstGeom prst="rect">
            <a:avLst/>
          </a:prstGeom>
          <a:solidFill>
            <a:srgbClr val="DCE6F0"/>
          </a:solidFill>
          <a:ln/>
        </p:spPr>
      </p:sp>
      <p:sp>
        <p:nvSpPr>
          <p:cNvPr id="17" name="Shape 14"/>
          <p:cNvSpPr/>
          <p:nvPr/>
        </p:nvSpPr>
        <p:spPr>
          <a:xfrm>
            <a:off x="7680960" y="1463040"/>
            <a:ext cx="384048" cy="384048"/>
          </a:xfrm>
          <a:prstGeom prst="ellipse">
            <a:avLst/>
          </a:prstGeom>
          <a:solidFill>
            <a:srgbClr val="1E7D32"/>
          </a:solidFill>
          <a:ln/>
        </p:spPr>
      </p:sp>
      <p:pic>
        <p:nvPicPr>
          <p:cNvPr id="18" name="Image 1" descr="preencoded.png"/>
          <p:cNvPicPr>
            <a:picLocks noChangeAspect="1"/>
          </p:cNvPicPr>
          <p:nvPr/>
        </p:nvPicPr>
        <p:blipFill>
          <a:blip r:embed="rId4"/>
          <a:stretch>
            <a:fillRect/>
          </a:stretch>
        </p:blipFill>
        <p:spPr>
          <a:xfrm>
            <a:off x="7763256" y="1545336"/>
            <a:ext cx="219456" cy="219456"/>
          </a:xfrm>
          <a:prstGeom prst="rect">
            <a:avLst/>
          </a:prstGeom>
        </p:spPr>
      </p:pic>
      <p:sp>
        <p:nvSpPr>
          <p:cNvPr id="19" name="Text 15"/>
          <p:cNvSpPr/>
          <p:nvPr/>
        </p:nvSpPr>
        <p:spPr>
          <a:xfrm>
            <a:off x="8193024" y="1435608"/>
            <a:ext cx="3383280" cy="457200"/>
          </a:xfrm>
          <a:prstGeom prst="rect">
            <a:avLst/>
          </a:prstGeom>
          <a:noFill/>
          <a:ln/>
        </p:spPr>
        <p:txBody>
          <a:bodyPr wrap="square" lIns="0" tIns="0" rIns="0" bIns="0" rtlCol="0" anchor="ctr"/>
          <a:lstStyle/>
          <a:p>
            <a:pPr marL="0" indent="0">
              <a:buNone/>
            </a:pPr>
            <a:r>
              <a:rPr lang="en-US" sz="1500" b="1" dirty="0">
                <a:solidFill>
                  <a:srgbClr val="1B2733"/>
                </a:solidFill>
              </a:rPr>
              <a:t>Module Summary</a:t>
            </a:r>
            <a:endParaRPr lang="en-US" sz="1500" dirty="0"/>
          </a:p>
        </p:txBody>
      </p:sp>
      <p:sp>
        <p:nvSpPr>
          <p:cNvPr id="20" name="Text 16"/>
          <p:cNvSpPr/>
          <p:nvPr/>
        </p:nvSpPr>
        <p:spPr>
          <a:xfrm>
            <a:off x="7680960" y="2011680"/>
            <a:ext cx="3931920" cy="39319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00" dirty="0">
                <a:solidFill>
                  <a:srgbClr val="1B2733"/>
                </a:solidFill>
              </a:rPr>
              <a:t>Strings are immutable text sequences</a:t>
            </a:r>
            <a:endParaRPr lang="en-US" sz="1300" dirty="0"/>
          </a:p>
          <a:p>
            <a:pPr marL="342900" indent="-342900">
              <a:lnSpc>
                <a:spcPct val="120000"/>
              </a:lnSpc>
              <a:spcAft>
                <a:spcPts val="1200"/>
              </a:spcAft>
              <a:buSzPct val="100000"/>
              <a:buChar char="✓"/>
            </a:pPr>
            <a:r>
              <a:rPr lang="en-US" sz="1300" dirty="0">
                <a:solidFill>
                  <a:srgbClr val="1B2733"/>
                </a:solidFill>
              </a:rPr>
              <a:t>Indexing accesses characters; slicing extracts ranges</a:t>
            </a:r>
            <a:endParaRPr lang="en-US" sz="1300" dirty="0"/>
          </a:p>
          <a:p>
            <a:pPr marL="342900" indent="-342900">
              <a:lnSpc>
                <a:spcPct val="120000"/>
              </a:lnSpc>
              <a:spcAft>
                <a:spcPts val="1200"/>
              </a:spcAft>
              <a:buSzPct val="100000"/>
              <a:buChar char="✓"/>
            </a:pPr>
            <a:r>
              <a:rPr lang="en-US" sz="1300" dirty="0">
                <a:solidFill>
                  <a:srgbClr val="1B2733"/>
                </a:solidFill>
              </a:rPr>
              <a:t>String methods simplify text processing</a:t>
            </a:r>
            <a:endParaRPr lang="en-US" sz="1300" dirty="0"/>
          </a:p>
          <a:p>
            <a:pPr marL="342900" indent="-342900">
              <a:lnSpc>
                <a:spcPct val="120000"/>
              </a:lnSpc>
              <a:spcAft>
                <a:spcPts val="1200"/>
              </a:spcAft>
              <a:buSzPct val="100000"/>
              <a:buChar char="✓"/>
            </a:pPr>
            <a:r>
              <a:rPr lang="en-US" sz="1300" dirty="0">
                <a:solidFill>
                  <a:srgbClr val="1B2733"/>
                </a:solidFill>
              </a:rPr>
              <a:t>You built a working Text Analyzer</a:t>
            </a:r>
            <a:endParaRPr lang="en-US" sz="1300" dirty="0"/>
          </a:p>
        </p:txBody>
      </p:sp>
      <p:sp>
        <p:nvSpPr>
          <p:cNvPr id="21"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38</a:t>
            </a:r>
            <a:endParaRPr lang="en-US" sz="1000" dirty="0"/>
          </a:p>
        </p:txBody>
      </p:sp>
      <p:sp>
        <p:nvSpPr>
          <p:cNvPr id="22"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1E5A96">
              <a:alpha val="45000"/>
            </a:srgbClr>
          </a:solidFill>
          <a:ln/>
        </p:spPr>
      </p:sp>
      <p:sp>
        <p:nvSpPr>
          <p:cNvPr id="3" name="Shape 1"/>
          <p:cNvSpPr/>
          <p:nvPr/>
        </p:nvSpPr>
        <p:spPr>
          <a:xfrm>
            <a:off x="731520" y="914400"/>
            <a:ext cx="1554480" cy="365760"/>
          </a:xfrm>
          <a:prstGeom prst="roundRect">
            <a:avLst>
              <a:gd name="adj" fmla="val 50000"/>
            </a:avLst>
          </a:prstGeom>
          <a:solidFill>
            <a:srgbClr val="1D3A5C"/>
          </a:solidFill>
          <a:ln/>
        </p:spPr>
      </p:sp>
      <p:sp>
        <p:nvSpPr>
          <p:cNvPr id="4" name="Text 2"/>
          <p:cNvSpPr/>
          <p:nvPr/>
        </p:nvSpPr>
        <p:spPr>
          <a:xfrm>
            <a:off x="731520" y="914400"/>
            <a:ext cx="1554480" cy="365760"/>
          </a:xfrm>
          <a:prstGeom prst="rect">
            <a:avLst/>
          </a:prstGeom>
          <a:noFill/>
          <a:ln/>
        </p:spPr>
        <p:txBody>
          <a:bodyPr wrap="square" lIns="0" tIns="0" rIns="0" bIns="0" rtlCol="0" anchor="ctr"/>
          <a:lstStyle/>
          <a:p>
            <a:pPr marL="0" indent="0" algn="ctr">
              <a:buNone/>
            </a:pPr>
            <a:r>
              <a:rPr lang="en-US" sz="1100" b="1" dirty="0">
                <a:solidFill>
                  <a:srgbClr val="F2A93B"/>
                </a:solidFill>
              </a:rPr>
              <a:t>MODULE 6 OF 9</a:t>
            </a:r>
            <a:endParaRPr lang="en-US" sz="1100" dirty="0"/>
          </a:p>
        </p:txBody>
      </p:sp>
      <p:sp>
        <p:nvSpPr>
          <p:cNvPr id="5" name="Shape 3"/>
          <p:cNvSpPr/>
          <p:nvPr/>
        </p:nvSpPr>
        <p:spPr>
          <a:xfrm>
            <a:off x="731520" y="1508760"/>
            <a:ext cx="960120" cy="960120"/>
          </a:xfrm>
          <a:prstGeom prst="roundRect">
            <a:avLst>
              <a:gd name="adj" fmla="val 19048"/>
            </a:avLst>
          </a:prstGeom>
          <a:solidFill>
            <a:srgbClr val="1E5A96"/>
          </a:solidFill>
          <a:ln/>
        </p:spPr>
      </p:sp>
      <p:pic>
        <p:nvPicPr>
          <p:cNvPr id="6" name="Image 0" descr="preencoded.png"/>
          <p:cNvPicPr>
            <a:picLocks noChangeAspect="1"/>
          </p:cNvPicPr>
          <p:nvPr/>
        </p:nvPicPr>
        <p:blipFill>
          <a:blip r:embed="rId3"/>
          <a:stretch>
            <a:fillRect/>
          </a:stretch>
        </p:blipFill>
        <p:spPr>
          <a:xfrm>
            <a:off x="960120" y="1737360"/>
            <a:ext cx="502920" cy="502920"/>
          </a:xfrm>
          <a:prstGeom prst="rect">
            <a:avLst/>
          </a:prstGeom>
        </p:spPr>
      </p:pic>
      <p:sp>
        <p:nvSpPr>
          <p:cNvPr id="7" name="Text 4"/>
          <p:cNvSpPr/>
          <p:nvPr/>
        </p:nvSpPr>
        <p:spPr>
          <a:xfrm>
            <a:off x="1874520" y="1463040"/>
            <a:ext cx="91440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Collections</a:t>
            </a:r>
            <a:endParaRPr lang="en-US" sz="3200" dirty="0"/>
          </a:p>
        </p:txBody>
      </p:sp>
      <p:sp>
        <p:nvSpPr>
          <p:cNvPr id="8" name="Shape 5"/>
          <p:cNvSpPr/>
          <p:nvPr/>
        </p:nvSpPr>
        <p:spPr>
          <a:xfrm>
            <a:off x="1874520" y="2514600"/>
            <a:ext cx="1417320" cy="594360"/>
          </a:xfrm>
          <a:prstGeom prst="roundRect">
            <a:avLst>
              <a:gd name="adj" fmla="val 12308"/>
            </a:avLst>
          </a:prstGeom>
          <a:solidFill>
            <a:srgbClr val="1D3A5C"/>
          </a:solidFill>
          <a:ln w="12700">
            <a:solidFill>
              <a:srgbClr val="1E5A96"/>
            </a:solidFill>
            <a:prstDash val="solid"/>
          </a:ln>
        </p:spPr>
      </p:sp>
      <p:sp>
        <p:nvSpPr>
          <p:cNvPr id="9" name="Text 6"/>
          <p:cNvSpPr/>
          <p:nvPr/>
        </p:nvSpPr>
        <p:spPr>
          <a:xfrm>
            <a:off x="187452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0" name="Text 7"/>
          <p:cNvSpPr/>
          <p:nvPr/>
        </p:nvSpPr>
        <p:spPr>
          <a:xfrm>
            <a:off x="187452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Theory</a:t>
            </a:r>
            <a:endParaRPr lang="en-US" sz="900" dirty="0"/>
          </a:p>
        </p:txBody>
      </p:sp>
      <p:sp>
        <p:nvSpPr>
          <p:cNvPr id="11" name="Shape 8"/>
          <p:cNvSpPr/>
          <p:nvPr/>
        </p:nvSpPr>
        <p:spPr>
          <a:xfrm>
            <a:off x="3429000" y="2514600"/>
            <a:ext cx="1417320" cy="594360"/>
          </a:xfrm>
          <a:prstGeom prst="roundRect">
            <a:avLst>
              <a:gd name="adj" fmla="val 12308"/>
            </a:avLst>
          </a:prstGeom>
          <a:solidFill>
            <a:srgbClr val="1D3A5C"/>
          </a:solidFill>
          <a:ln w="12700">
            <a:solidFill>
              <a:srgbClr val="1E5A96"/>
            </a:solidFill>
            <a:prstDash val="solid"/>
          </a:ln>
        </p:spPr>
      </p:sp>
      <p:sp>
        <p:nvSpPr>
          <p:cNvPr id="12" name="Text 9"/>
          <p:cNvSpPr/>
          <p:nvPr/>
        </p:nvSpPr>
        <p:spPr>
          <a:xfrm>
            <a:off x="342900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3" name="Text 10"/>
          <p:cNvSpPr/>
          <p:nvPr/>
        </p:nvSpPr>
        <p:spPr>
          <a:xfrm>
            <a:off x="342900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Practical</a:t>
            </a:r>
            <a:endParaRPr lang="en-US" sz="900" dirty="0"/>
          </a:p>
        </p:txBody>
      </p:sp>
      <p:sp>
        <p:nvSpPr>
          <p:cNvPr id="14" name="Shape 11"/>
          <p:cNvSpPr/>
          <p:nvPr/>
        </p:nvSpPr>
        <p:spPr>
          <a:xfrm>
            <a:off x="4983480" y="2514600"/>
            <a:ext cx="1417320" cy="594360"/>
          </a:xfrm>
          <a:prstGeom prst="roundRect">
            <a:avLst>
              <a:gd name="adj" fmla="val 12308"/>
            </a:avLst>
          </a:prstGeom>
          <a:solidFill>
            <a:srgbClr val="1D3A5C"/>
          </a:solidFill>
          <a:ln w="12700">
            <a:solidFill>
              <a:srgbClr val="1E5A96"/>
            </a:solidFill>
            <a:prstDash val="solid"/>
          </a:ln>
        </p:spPr>
      </p:sp>
      <p:sp>
        <p:nvSpPr>
          <p:cNvPr id="15" name="Text 12"/>
          <p:cNvSpPr/>
          <p:nvPr/>
        </p:nvSpPr>
        <p:spPr>
          <a:xfrm>
            <a:off x="498348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4 hrs</a:t>
            </a:r>
            <a:endParaRPr lang="en-US" sz="1500" dirty="0"/>
          </a:p>
        </p:txBody>
      </p:sp>
      <p:sp>
        <p:nvSpPr>
          <p:cNvPr id="16" name="Text 13"/>
          <p:cNvSpPr/>
          <p:nvPr/>
        </p:nvSpPr>
        <p:spPr>
          <a:xfrm>
            <a:off x="498348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Total</a:t>
            </a:r>
            <a:endParaRPr lang="en-US" sz="900" dirty="0"/>
          </a:p>
        </p:txBody>
      </p:sp>
      <p:sp>
        <p:nvSpPr>
          <p:cNvPr id="17" name="Text 14"/>
          <p:cNvSpPr/>
          <p:nvPr/>
        </p:nvSpPr>
        <p:spPr>
          <a:xfrm>
            <a:off x="731520" y="3566160"/>
            <a:ext cx="5486400" cy="274320"/>
          </a:xfrm>
          <a:prstGeom prst="rect">
            <a:avLst/>
          </a:prstGeom>
          <a:noFill/>
          <a:ln/>
        </p:spPr>
        <p:txBody>
          <a:bodyPr wrap="square" lIns="0" tIns="0" rIns="0" bIns="0" rtlCol="0" anchor="ctr"/>
          <a:lstStyle/>
          <a:p>
            <a:pPr marL="0" indent="0">
              <a:buNone/>
            </a:pPr>
            <a:r>
              <a:rPr lang="en-US" sz="1150" b="1" kern="0" spc="150" dirty="0">
                <a:solidFill>
                  <a:srgbClr val="F2A93B"/>
                </a:solidFill>
              </a:rPr>
              <a:t>TOPICS COVERED</a:t>
            </a:r>
            <a:endParaRPr lang="en-US" sz="1150" dirty="0"/>
          </a:p>
        </p:txBody>
      </p:sp>
      <p:sp>
        <p:nvSpPr>
          <p:cNvPr id="18" name="Shape 15"/>
          <p:cNvSpPr/>
          <p:nvPr/>
        </p:nvSpPr>
        <p:spPr>
          <a:xfrm>
            <a:off x="731520" y="4005072"/>
            <a:ext cx="91440" cy="91440"/>
          </a:xfrm>
          <a:prstGeom prst="ellipse">
            <a:avLst/>
          </a:prstGeom>
          <a:solidFill>
            <a:srgbClr val="F2A93B"/>
          </a:solidFill>
          <a:ln/>
        </p:spPr>
      </p:sp>
      <p:sp>
        <p:nvSpPr>
          <p:cNvPr id="19" name="Text 16"/>
          <p:cNvSpPr/>
          <p:nvPr/>
        </p:nvSpPr>
        <p:spPr>
          <a:xfrm>
            <a:off x="100584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List</a:t>
            </a:r>
            <a:endParaRPr lang="en-US" sz="1300" dirty="0"/>
          </a:p>
        </p:txBody>
      </p:sp>
      <p:sp>
        <p:nvSpPr>
          <p:cNvPr id="20" name="Shape 17"/>
          <p:cNvSpPr/>
          <p:nvPr/>
        </p:nvSpPr>
        <p:spPr>
          <a:xfrm>
            <a:off x="5943600" y="4005072"/>
            <a:ext cx="91440" cy="91440"/>
          </a:xfrm>
          <a:prstGeom prst="ellipse">
            <a:avLst/>
          </a:prstGeom>
          <a:solidFill>
            <a:srgbClr val="F2A93B"/>
          </a:solidFill>
          <a:ln/>
        </p:spPr>
      </p:sp>
      <p:sp>
        <p:nvSpPr>
          <p:cNvPr id="21" name="Text 18"/>
          <p:cNvSpPr/>
          <p:nvPr/>
        </p:nvSpPr>
        <p:spPr>
          <a:xfrm>
            <a:off x="621792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Tuple</a:t>
            </a:r>
            <a:endParaRPr lang="en-US" sz="1300" dirty="0"/>
          </a:p>
        </p:txBody>
      </p:sp>
      <p:sp>
        <p:nvSpPr>
          <p:cNvPr id="22" name="Shape 19"/>
          <p:cNvSpPr/>
          <p:nvPr/>
        </p:nvSpPr>
        <p:spPr>
          <a:xfrm>
            <a:off x="731520" y="4462272"/>
            <a:ext cx="91440" cy="91440"/>
          </a:xfrm>
          <a:prstGeom prst="ellipse">
            <a:avLst/>
          </a:prstGeom>
          <a:solidFill>
            <a:srgbClr val="F2A93B"/>
          </a:solidFill>
          <a:ln/>
        </p:spPr>
      </p:sp>
      <p:sp>
        <p:nvSpPr>
          <p:cNvPr id="23" name="Text 20"/>
          <p:cNvSpPr/>
          <p:nvPr/>
        </p:nvSpPr>
        <p:spPr>
          <a:xfrm>
            <a:off x="100584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Set</a:t>
            </a:r>
            <a:endParaRPr lang="en-US" sz="1300" dirty="0"/>
          </a:p>
        </p:txBody>
      </p:sp>
      <p:sp>
        <p:nvSpPr>
          <p:cNvPr id="24" name="Shape 21"/>
          <p:cNvSpPr/>
          <p:nvPr/>
        </p:nvSpPr>
        <p:spPr>
          <a:xfrm>
            <a:off x="5943600" y="4462272"/>
            <a:ext cx="91440" cy="91440"/>
          </a:xfrm>
          <a:prstGeom prst="ellipse">
            <a:avLst/>
          </a:prstGeom>
          <a:solidFill>
            <a:srgbClr val="F2A93B"/>
          </a:solidFill>
          <a:ln/>
        </p:spPr>
      </p:sp>
      <p:sp>
        <p:nvSpPr>
          <p:cNvPr id="25" name="Text 22"/>
          <p:cNvSpPr/>
          <p:nvPr/>
        </p:nvSpPr>
        <p:spPr>
          <a:xfrm>
            <a:off x="621792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Dictionary</a:t>
            </a:r>
            <a:endParaRPr lang="en-US" sz="1300" dirty="0"/>
          </a:p>
        </p:txBody>
      </p:sp>
      <p:sp>
        <p:nvSpPr>
          <p:cNvPr id="27" name="Text 23"/>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39</a:t>
            </a:r>
            <a:endParaRPr lang="en-US" sz="1000" dirty="0"/>
          </a:p>
        </p:txBody>
      </p:sp>
      <p:sp>
        <p:nvSpPr>
          <p:cNvPr id="28" name="Text 24"/>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6 — COLLECTIONS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Learning Objectives &amp; Theory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846320" cy="457200"/>
          </a:xfrm>
          <a:prstGeom prst="rect">
            <a:avLst/>
          </a:prstGeom>
          <a:noFill/>
          <a:ln/>
        </p:spPr>
        <p:txBody>
          <a:bodyPr wrap="square" lIns="0" tIns="0" rIns="0" bIns="0" rtlCol="0" anchor="ctr"/>
          <a:lstStyle/>
          <a:p>
            <a:pPr marL="0" indent="0">
              <a:buNone/>
            </a:pPr>
            <a:r>
              <a:rPr lang="en-US" sz="1500" b="1" dirty="0">
                <a:solidFill>
                  <a:srgbClr val="1B2733"/>
                </a:solidFill>
              </a:rPr>
              <a:t>Learning Objectives</a:t>
            </a:r>
            <a:endParaRPr lang="en-US" sz="1500" dirty="0"/>
          </a:p>
        </p:txBody>
      </p:sp>
      <p:sp>
        <p:nvSpPr>
          <p:cNvPr id="7" name="Text 4"/>
          <p:cNvSpPr/>
          <p:nvPr/>
        </p:nvSpPr>
        <p:spPr>
          <a:xfrm>
            <a:off x="548640" y="2011680"/>
            <a:ext cx="539496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Differentiate between list, tuple, set, and dictionary</a:t>
            </a:r>
            <a:endParaRPr lang="en-US" sz="1300" dirty="0"/>
          </a:p>
          <a:p>
            <a:pPr marL="342900" indent="-342900">
              <a:lnSpc>
                <a:spcPct val="115000"/>
              </a:lnSpc>
              <a:spcAft>
                <a:spcPts val="1000"/>
              </a:spcAft>
              <a:buSzPct val="100000"/>
              <a:buChar char="●"/>
            </a:pPr>
            <a:r>
              <a:rPr lang="en-US" sz="1300" dirty="0">
                <a:solidFill>
                  <a:srgbClr val="1B2733"/>
                </a:solidFill>
              </a:rPr>
              <a:t>Understand mutable vs immutable and ordered vs unordered</a:t>
            </a:r>
            <a:endParaRPr lang="en-US" sz="1300" dirty="0"/>
          </a:p>
          <a:p>
            <a:pPr marL="342900" indent="-342900">
              <a:lnSpc>
                <a:spcPct val="115000"/>
              </a:lnSpc>
              <a:spcAft>
                <a:spcPts val="1000"/>
              </a:spcAft>
              <a:buSzPct val="100000"/>
              <a:buChar char="●"/>
            </a:pPr>
            <a:r>
              <a:rPr lang="en-US" sz="1300" dirty="0">
                <a:solidFill>
                  <a:srgbClr val="1B2733"/>
                </a:solidFill>
              </a:rPr>
              <a:t>Store and organise structured data</a:t>
            </a:r>
            <a:endParaRPr lang="en-US" sz="1300" dirty="0"/>
          </a:p>
          <a:p>
            <a:pPr marL="342900" indent="-342900">
              <a:lnSpc>
                <a:spcPct val="115000"/>
              </a:lnSpc>
              <a:spcAft>
                <a:spcPts val="1000"/>
              </a:spcAft>
              <a:buSzPct val="100000"/>
              <a:buChar char="●"/>
            </a:pPr>
            <a:r>
              <a:rPr lang="en-US" sz="1300" dirty="0">
                <a:solidFill>
                  <a:srgbClr val="1B2733"/>
                </a:solidFill>
              </a:rPr>
              <a:t>Remove duplicates and manage records using collections</a:t>
            </a:r>
            <a:endParaRPr lang="en-US" sz="1300" dirty="0"/>
          </a:p>
        </p:txBody>
      </p:sp>
      <p:sp>
        <p:nvSpPr>
          <p:cNvPr id="8" name="Shape 5"/>
          <p:cNvSpPr/>
          <p:nvPr/>
        </p:nvSpPr>
        <p:spPr>
          <a:xfrm>
            <a:off x="6172200" y="1417320"/>
            <a:ext cx="13716" cy="4663440"/>
          </a:xfrm>
          <a:prstGeom prst="rect">
            <a:avLst/>
          </a:prstGeom>
          <a:solidFill>
            <a:srgbClr val="DCE6F0"/>
          </a:solidFill>
          <a:ln/>
        </p:spPr>
      </p:sp>
      <p:sp>
        <p:nvSpPr>
          <p:cNvPr id="9" name="Shape 6"/>
          <p:cNvSpPr/>
          <p:nvPr/>
        </p:nvSpPr>
        <p:spPr>
          <a:xfrm>
            <a:off x="6400800" y="1463040"/>
            <a:ext cx="384048" cy="384048"/>
          </a:xfrm>
          <a:prstGeom prst="ellipse">
            <a:avLst/>
          </a:prstGeom>
          <a:solidFill>
            <a:srgbClr val="1E5A96"/>
          </a:solidFill>
          <a:ln/>
        </p:spPr>
      </p:sp>
      <p:pic>
        <p:nvPicPr>
          <p:cNvPr id="10" name="Image 1" descr="preencoded.png"/>
          <p:cNvPicPr>
            <a:picLocks noChangeAspect="1"/>
          </p:cNvPicPr>
          <p:nvPr/>
        </p:nvPicPr>
        <p:blipFill>
          <a:blip r:embed="rId4"/>
          <a:stretch>
            <a:fillRect/>
          </a:stretch>
        </p:blipFill>
        <p:spPr>
          <a:xfrm>
            <a:off x="6483096" y="1545336"/>
            <a:ext cx="219456" cy="219456"/>
          </a:xfrm>
          <a:prstGeom prst="rect">
            <a:avLst/>
          </a:prstGeom>
        </p:spPr>
      </p:pic>
      <p:sp>
        <p:nvSpPr>
          <p:cNvPr id="11" name="Text 7"/>
          <p:cNvSpPr/>
          <p:nvPr/>
        </p:nvSpPr>
        <p:spPr>
          <a:xfrm>
            <a:off x="6912864" y="1435608"/>
            <a:ext cx="4663440" cy="457200"/>
          </a:xfrm>
          <a:prstGeom prst="rect">
            <a:avLst/>
          </a:prstGeom>
          <a:noFill/>
          <a:ln/>
        </p:spPr>
        <p:txBody>
          <a:bodyPr wrap="square" lIns="0" tIns="0" rIns="0" bIns="0" rtlCol="0" anchor="ctr"/>
          <a:lstStyle/>
          <a:p>
            <a:pPr marL="0" indent="0">
              <a:buNone/>
            </a:pPr>
            <a:r>
              <a:rPr lang="en-US" sz="1500" b="1" dirty="0">
                <a:solidFill>
                  <a:srgbClr val="1B2733"/>
                </a:solidFill>
              </a:rPr>
              <a:t>Theory Explanation</a:t>
            </a:r>
            <a:endParaRPr lang="en-US" sz="1500" dirty="0"/>
          </a:p>
        </p:txBody>
      </p:sp>
      <p:sp>
        <p:nvSpPr>
          <p:cNvPr id="12" name="Text 8"/>
          <p:cNvSpPr/>
          <p:nvPr/>
        </p:nvSpPr>
        <p:spPr>
          <a:xfrm>
            <a:off x="6400800" y="2011680"/>
            <a:ext cx="521208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List: ordered, mutable, allows duplicates — [ ]</a:t>
            </a:r>
            <a:endParaRPr lang="en-US" sz="1300" dirty="0"/>
          </a:p>
          <a:p>
            <a:pPr marL="342900" indent="-342900">
              <a:lnSpc>
                <a:spcPct val="115000"/>
              </a:lnSpc>
              <a:spcAft>
                <a:spcPts val="1000"/>
              </a:spcAft>
              <a:buSzPct val="100000"/>
              <a:buChar char="●"/>
            </a:pPr>
            <a:r>
              <a:rPr lang="en-US" sz="1300" dirty="0">
                <a:solidFill>
                  <a:srgbClr val="1B2733"/>
                </a:solidFill>
              </a:rPr>
              <a:t>Tuple: ordered, immutable, allows duplicates — ( )</a:t>
            </a:r>
            <a:endParaRPr lang="en-US" sz="1300" dirty="0"/>
          </a:p>
          <a:p>
            <a:pPr marL="342900" indent="-342900">
              <a:lnSpc>
                <a:spcPct val="115000"/>
              </a:lnSpc>
              <a:spcAft>
                <a:spcPts val="1000"/>
              </a:spcAft>
              <a:buSzPct val="100000"/>
              <a:buChar char="●"/>
            </a:pPr>
            <a:r>
              <a:rPr lang="en-US" sz="1300" dirty="0">
                <a:solidFill>
                  <a:srgbClr val="1B2733"/>
                </a:solidFill>
              </a:rPr>
              <a:t>Set: unordered, mutable, no duplicates — { }</a:t>
            </a:r>
            <a:endParaRPr lang="en-US" sz="1300" dirty="0"/>
          </a:p>
          <a:p>
            <a:pPr marL="342900" indent="-342900">
              <a:lnSpc>
                <a:spcPct val="115000"/>
              </a:lnSpc>
              <a:spcAft>
                <a:spcPts val="1000"/>
              </a:spcAft>
              <a:buSzPct val="100000"/>
              <a:buChar char="●"/>
            </a:pPr>
            <a:r>
              <a:rPr lang="en-US" sz="1300" dirty="0">
                <a:solidFill>
                  <a:srgbClr val="1B2733"/>
                </a:solidFill>
              </a:rPr>
              <a:t>Dictionary: key-value pairs, mutable, keys are unique — {key: value}</a:t>
            </a:r>
            <a:endParaRPr lang="en-US" sz="1300" dirty="0"/>
          </a:p>
        </p:txBody>
      </p:sp>
      <p:sp>
        <p:nvSpPr>
          <p:cNvPr id="13" name="Text 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40</a:t>
            </a:r>
            <a:endParaRPr lang="en-US" sz="10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6 — COLLECTIONS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Concept Diagram</a:t>
            </a:r>
            <a:endParaRPr lang="en-US" sz="2700" dirty="0"/>
          </a:p>
        </p:txBody>
      </p:sp>
      <p:sp>
        <p:nvSpPr>
          <p:cNvPr id="4" name="Shape 2"/>
          <p:cNvSpPr/>
          <p:nvPr/>
        </p:nvSpPr>
        <p:spPr>
          <a:xfrm>
            <a:off x="457200" y="1417320"/>
            <a:ext cx="11247120" cy="4663440"/>
          </a:xfrm>
          <a:prstGeom prst="roundRect">
            <a:avLst>
              <a:gd name="adj" fmla="val 1961"/>
            </a:avLst>
          </a:prstGeom>
          <a:solidFill>
            <a:srgbClr val="EEF4FA"/>
          </a:solidFill>
          <a:ln/>
        </p:spPr>
      </p:sp>
      <p:sp>
        <p:nvSpPr>
          <p:cNvPr id="5" name="Shape 3"/>
          <p:cNvSpPr/>
          <p:nvPr/>
        </p:nvSpPr>
        <p:spPr>
          <a:xfrm>
            <a:off x="822960" y="1737360"/>
            <a:ext cx="1737360" cy="804672"/>
          </a:xfrm>
          <a:prstGeom prst="rect">
            <a:avLst/>
          </a:prstGeom>
          <a:solidFill>
            <a:srgbClr val="132A46"/>
          </a:solidFill>
          <a:ln w="12700">
            <a:solidFill>
              <a:srgbClr val="D7E3EE"/>
            </a:solidFill>
            <a:prstDash val="solid"/>
          </a:ln>
        </p:spPr>
      </p:sp>
      <p:sp>
        <p:nvSpPr>
          <p:cNvPr id="6" name="Text 4"/>
          <p:cNvSpPr/>
          <p:nvPr/>
        </p:nvSpPr>
        <p:spPr>
          <a:xfrm>
            <a:off x="822960" y="1737360"/>
            <a:ext cx="1737360" cy="804672"/>
          </a:xfrm>
          <a:prstGeom prst="rect">
            <a:avLst/>
          </a:prstGeom>
          <a:noFill/>
          <a:ln/>
        </p:spPr>
        <p:txBody>
          <a:bodyPr wrap="square" lIns="0" tIns="0" rIns="0" bIns="0" rtlCol="0" anchor="ctr"/>
          <a:lstStyle/>
          <a:p>
            <a:pPr marL="0" indent="0" algn="ctr">
              <a:buNone/>
            </a:pPr>
            <a:r>
              <a:rPr lang="en-US" sz="1200" b="1" dirty="0">
                <a:solidFill>
                  <a:srgbClr val="FFFFFF"/>
                </a:solidFill>
              </a:rPr>
              <a:t>Feature</a:t>
            </a:r>
            <a:endParaRPr lang="en-US" sz="1200" dirty="0"/>
          </a:p>
        </p:txBody>
      </p:sp>
      <p:sp>
        <p:nvSpPr>
          <p:cNvPr id="7" name="Shape 5"/>
          <p:cNvSpPr/>
          <p:nvPr/>
        </p:nvSpPr>
        <p:spPr>
          <a:xfrm>
            <a:off x="2560320" y="1737360"/>
            <a:ext cx="1508760" cy="804672"/>
          </a:xfrm>
          <a:prstGeom prst="rect">
            <a:avLst/>
          </a:prstGeom>
          <a:solidFill>
            <a:srgbClr val="132A46"/>
          </a:solidFill>
          <a:ln w="12700">
            <a:solidFill>
              <a:srgbClr val="D7E3EE"/>
            </a:solidFill>
            <a:prstDash val="solid"/>
          </a:ln>
        </p:spPr>
      </p:sp>
      <p:sp>
        <p:nvSpPr>
          <p:cNvPr id="8" name="Text 6"/>
          <p:cNvSpPr/>
          <p:nvPr/>
        </p:nvSpPr>
        <p:spPr>
          <a:xfrm>
            <a:off x="2560320" y="1737360"/>
            <a:ext cx="1508760" cy="804672"/>
          </a:xfrm>
          <a:prstGeom prst="rect">
            <a:avLst/>
          </a:prstGeom>
          <a:noFill/>
          <a:ln/>
        </p:spPr>
        <p:txBody>
          <a:bodyPr wrap="square" lIns="0" tIns="0" rIns="0" bIns="0" rtlCol="0" anchor="ctr"/>
          <a:lstStyle/>
          <a:p>
            <a:pPr marL="0" indent="0" algn="ctr">
              <a:buNone/>
            </a:pPr>
            <a:r>
              <a:rPr lang="en-US" sz="1200" b="1" dirty="0">
                <a:solidFill>
                  <a:srgbClr val="FFFFFF"/>
                </a:solidFill>
              </a:rPr>
              <a:t>List</a:t>
            </a:r>
            <a:endParaRPr lang="en-US" sz="1200" dirty="0"/>
          </a:p>
        </p:txBody>
      </p:sp>
      <p:sp>
        <p:nvSpPr>
          <p:cNvPr id="9" name="Shape 7"/>
          <p:cNvSpPr/>
          <p:nvPr/>
        </p:nvSpPr>
        <p:spPr>
          <a:xfrm>
            <a:off x="4069080" y="1737360"/>
            <a:ext cx="1508760" cy="804672"/>
          </a:xfrm>
          <a:prstGeom prst="rect">
            <a:avLst/>
          </a:prstGeom>
          <a:solidFill>
            <a:srgbClr val="132A46"/>
          </a:solidFill>
          <a:ln w="12700">
            <a:solidFill>
              <a:srgbClr val="D7E3EE"/>
            </a:solidFill>
            <a:prstDash val="solid"/>
          </a:ln>
        </p:spPr>
      </p:sp>
      <p:sp>
        <p:nvSpPr>
          <p:cNvPr id="10" name="Text 8"/>
          <p:cNvSpPr/>
          <p:nvPr/>
        </p:nvSpPr>
        <p:spPr>
          <a:xfrm>
            <a:off x="4069080" y="1737360"/>
            <a:ext cx="1508760" cy="804672"/>
          </a:xfrm>
          <a:prstGeom prst="rect">
            <a:avLst/>
          </a:prstGeom>
          <a:noFill/>
          <a:ln/>
        </p:spPr>
        <p:txBody>
          <a:bodyPr wrap="square" lIns="0" tIns="0" rIns="0" bIns="0" rtlCol="0" anchor="ctr"/>
          <a:lstStyle/>
          <a:p>
            <a:pPr marL="0" indent="0" algn="ctr">
              <a:buNone/>
            </a:pPr>
            <a:r>
              <a:rPr lang="en-US" sz="1200" b="1" dirty="0">
                <a:solidFill>
                  <a:srgbClr val="FFFFFF"/>
                </a:solidFill>
              </a:rPr>
              <a:t>Tuple</a:t>
            </a:r>
            <a:endParaRPr lang="en-US" sz="1200" dirty="0"/>
          </a:p>
        </p:txBody>
      </p:sp>
      <p:sp>
        <p:nvSpPr>
          <p:cNvPr id="11" name="Shape 9"/>
          <p:cNvSpPr/>
          <p:nvPr/>
        </p:nvSpPr>
        <p:spPr>
          <a:xfrm>
            <a:off x="5577840" y="1737360"/>
            <a:ext cx="1508760" cy="804672"/>
          </a:xfrm>
          <a:prstGeom prst="rect">
            <a:avLst/>
          </a:prstGeom>
          <a:solidFill>
            <a:srgbClr val="132A46"/>
          </a:solidFill>
          <a:ln w="12700">
            <a:solidFill>
              <a:srgbClr val="D7E3EE"/>
            </a:solidFill>
            <a:prstDash val="solid"/>
          </a:ln>
        </p:spPr>
      </p:sp>
      <p:sp>
        <p:nvSpPr>
          <p:cNvPr id="12" name="Text 10"/>
          <p:cNvSpPr/>
          <p:nvPr/>
        </p:nvSpPr>
        <p:spPr>
          <a:xfrm>
            <a:off x="5577840" y="1737360"/>
            <a:ext cx="1508760" cy="804672"/>
          </a:xfrm>
          <a:prstGeom prst="rect">
            <a:avLst/>
          </a:prstGeom>
          <a:noFill/>
          <a:ln/>
        </p:spPr>
        <p:txBody>
          <a:bodyPr wrap="square" lIns="0" tIns="0" rIns="0" bIns="0" rtlCol="0" anchor="ctr"/>
          <a:lstStyle/>
          <a:p>
            <a:pPr marL="0" indent="0" algn="ctr">
              <a:buNone/>
            </a:pPr>
            <a:r>
              <a:rPr lang="en-US" sz="1200" b="1" dirty="0">
                <a:solidFill>
                  <a:srgbClr val="FFFFFF"/>
                </a:solidFill>
              </a:rPr>
              <a:t>Set</a:t>
            </a:r>
            <a:endParaRPr lang="en-US" sz="1200" dirty="0"/>
          </a:p>
        </p:txBody>
      </p:sp>
      <p:sp>
        <p:nvSpPr>
          <p:cNvPr id="13" name="Shape 11"/>
          <p:cNvSpPr/>
          <p:nvPr/>
        </p:nvSpPr>
        <p:spPr>
          <a:xfrm>
            <a:off x="7086600" y="1737360"/>
            <a:ext cx="1508760" cy="804672"/>
          </a:xfrm>
          <a:prstGeom prst="rect">
            <a:avLst/>
          </a:prstGeom>
          <a:solidFill>
            <a:srgbClr val="132A46"/>
          </a:solidFill>
          <a:ln w="12700">
            <a:solidFill>
              <a:srgbClr val="D7E3EE"/>
            </a:solidFill>
            <a:prstDash val="solid"/>
          </a:ln>
        </p:spPr>
      </p:sp>
      <p:sp>
        <p:nvSpPr>
          <p:cNvPr id="14" name="Text 12"/>
          <p:cNvSpPr/>
          <p:nvPr/>
        </p:nvSpPr>
        <p:spPr>
          <a:xfrm>
            <a:off x="7086600" y="1737360"/>
            <a:ext cx="1508760" cy="804672"/>
          </a:xfrm>
          <a:prstGeom prst="rect">
            <a:avLst/>
          </a:prstGeom>
          <a:noFill/>
          <a:ln/>
        </p:spPr>
        <p:txBody>
          <a:bodyPr wrap="square" lIns="0" tIns="0" rIns="0" bIns="0" rtlCol="0" anchor="ctr"/>
          <a:lstStyle/>
          <a:p>
            <a:pPr marL="0" indent="0" algn="ctr">
              <a:buNone/>
            </a:pPr>
            <a:r>
              <a:rPr lang="en-US" sz="1200" b="1" dirty="0">
                <a:solidFill>
                  <a:srgbClr val="FFFFFF"/>
                </a:solidFill>
              </a:rPr>
              <a:t>Dict</a:t>
            </a:r>
            <a:endParaRPr lang="en-US" sz="1200" dirty="0"/>
          </a:p>
        </p:txBody>
      </p:sp>
      <p:sp>
        <p:nvSpPr>
          <p:cNvPr id="15" name="Shape 13"/>
          <p:cNvSpPr/>
          <p:nvPr/>
        </p:nvSpPr>
        <p:spPr>
          <a:xfrm>
            <a:off x="822960" y="2542032"/>
            <a:ext cx="1737360" cy="804672"/>
          </a:xfrm>
          <a:prstGeom prst="rect">
            <a:avLst/>
          </a:prstGeom>
          <a:solidFill>
            <a:srgbClr val="EEF4FA"/>
          </a:solidFill>
          <a:ln w="12700">
            <a:solidFill>
              <a:srgbClr val="D7E3EE"/>
            </a:solidFill>
            <a:prstDash val="solid"/>
          </a:ln>
        </p:spPr>
      </p:sp>
      <p:sp>
        <p:nvSpPr>
          <p:cNvPr id="16" name="Text 14"/>
          <p:cNvSpPr/>
          <p:nvPr/>
        </p:nvSpPr>
        <p:spPr>
          <a:xfrm>
            <a:off x="822960" y="2542032"/>
            <a:ext cx="1737360" cy="804672"/>
          </a:xfrm>
          <a:prstGeom prst="rect">
            <a:avLst/>
          </a:prstGeom>
          <a:noFill/>
          <a:ln/>
        </p:spPr>
        <p:txBody>
          <a:bodyPr wrap="square" lIns="0" tIns="0" rIns="0" bIns="0" rtlCol="0" anchor="ctr"/>
          <a:lstStyle/>
          <a:p>
            <a:pPr marL="0" indent="0" algn="ctr">
              <a:buNone/>
            </a:pPr>
            <a:r>
              <a:rPr lang="en-US" sz="1200" b="1" dirty="0">
                <a:solidFill>
                  <a:srgbClr val="1B2733"/>
                </a:solidFill>
              </a:rPr>
              <a:t>Syntax</a:t>
            </a:r>
            <a:endParaRPr lang="en-US" sz="1200" dirty="0"/>
          </a:p>
        </p:txBody>
      </p:sp>
      <p:sp>
        <p:nvSpPr>
          <p:cNvPr id="17" name="Shape 15"/>
          <p:cNvSpPr/>
          <p:nvPr/>
        </p:nvSpPr>
        <p:spPr>
          <a:xfrm>
            <a:off x="2560320" y="2542032"/>
            <a:ext cx="1508760" cy="804672"/>
          </a:xfrm>
          <a:prstGeom prst="rect">
            <a:avLst/>
          </a:prstGeom>
          <a:solidFill>
            <a:srgbClr val="FFFFFF"/>
          </a:solidFill>
          <a:ln w="12700">
            <a:solidFill>
              <a:srgbClr val="D7E3EE"/>
            </a:solidFill>
            <a:prstDash val="solid"/>
          </a:ln>
        </p:spPr>
      </p:sp>
      <p:sp>
        <p:nvSpPr>
          <p:cNvPr id="18" name="Text 16"/>
          <p:cNvSpPr/>
          <p:nvPr/>
        </p:nvSpPr>
        <p:spPr>
          <a:xfrm>
            <a:off x="2560320" y="2542032"/>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 ]</a:t>
            </a:r>
            <a:endParaRPr lang="en-US" sz="1200" dirty="0"/>
          </a:p>
        </p:txBody>
      </p:sp>
      <p:sp>
        <p:nvSpPr>
          <p:cNvPr id="19" name="Shape 17"/>
          <p:cNvSpPr/>
          <p:nvPr/>
        </p:nvSpPr>
        <p:spPr>
          <a:xfrm>
            <a:off x="4069080" y="2542032"/>
            <a:ext cx="1508760" cy="804672"/>
          </a:xfrm>
          <a:prstGeom prst="rect">
            <a:avLst/>
          </a:prstGeom>
          <a:solidFill>
            <a:srgbClr val="FFFFFF"/>
          </a:solidFill>
          <a:ln w="12700">
            <a:solidFill>
              <a:srgbClr val="D7E3EE"/>
            </a:solidFill>
            <a:prstDash val="solid"/>
          </a:ln>
        </p:spPr>
      </p:sp>
      <p:sp>
        <p:nvSpPr>
          <p:cNvPr id="20" name="Text 18"/>
          <p:cNvSpPr/>
          <p:nvPr/>
        </p:nvSpPr>
        <p:spPr>
          <a:xfrm>
            <a:off x="4069080" y="2542032"/>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 )</a:t>
            </a:r>
            <a:endParaRPr lang="en-US" sz="1200" dirty="0"/>
          </a:p>
        </p:txBody>
      </p:sp>
      <p:sp>
        <p:nvSpPr>
          <p:cNvPr id="21" name="Shape 19"/>
          <p:cNvSpPr/>
          <p:nvPr/>
        </p:nvSpPr>
        <p:spPr>
          <a:xfrm>
            <a:off x="5577840" y="2542032"/>
            <a:ext cx="1508760" cy="804672"/>
          </a:xfrm>
          <a:prstGeom prst="rect">
            <a:avLst/>
          </a:prstGeom>
          <a:solidFill>
            <a:srgbClr val="FFFFFF"/>
          </a:solidFill>
          <a:ln w="12700">
            <a:solidFill>
              <a:srgbClr val="D7E3EE"/>
            </a:solidFill>
            <a:prstDash val="solid"/>
          </a:ln>
        </p:spPr>
      </p:sp>
      <p:sp>
        <p:nvSpPr>
          <p:cNvPr id="22" name="Text 20"/>
          <p:cNvSpPr/>
          <p:nvPr/>
        </p:nvSpPr>
        <p:spPr>
          <a:xfrm>
            <a:off x="5577840" y="2542032"/>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 }</a:t>
            </a:r>
            <a:endParaRPr lang="en-US" sz="1200" dirty="0"/>
          </a:p>
        </p:txBody>
      </p:sp>
      <p:sp>
        <p:nvSpPr>
          <p:cNvPr id="23" name="Shape 21"/>
          <p:cNvSpPr/>
          <p:nvPr/>
        </p:nvSpPr>
        <p:spPr>
          <a:xfrm>
            <a:off x="7086600" y="2542032"/>
            <a:ext cx="1508760" cy="804672"/>
          </a:xfrm>
          <a:prstGeom prst="rect">
            <a:avLst/>
          </a:prstGeom>
          <a:solidFill>
            <a:srgbClr val="FFFFFF"/>
          </a:solidFill>
          <a:ln w="12700">
            <a:solidFill>
              <a:srgbClr val="D7E3EE"/>
            </a:solidFill>
            <a:prstDash val="solid"/>
          </a:ln>
        </p:spPr>
      </p:sp>
      <p:sp>
        <p:nvSpPr>
          <p:cNvPr id="24" name="Text 22"/>
          <p:cNvSpPr/>
          <p:nvPr/>
        </p:nvSpPr>
        <p:spPr>
          <a:xfrm>
            <a:off x="7086600" y="2542032"/>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{k: v}</a:t>
            </a:r>
            <a:endParaRPr lang="en-US" sz="1200" dirty="0"/>
          </a:p>
        </p:txBody>
      </p:sp>
      <p:sp>
        <p:nvSpPr>
          <p:cNvPr id="25" name="Shape 23"/>
          <p:cNvSpPr/>
          <p:nvPr/>
        </p:nvSpPr>
        <p:spPr>
          <a:xfrm>
            <a:off x="822960" y="3346704"/>
            <a:ext cx="1737360" cy="804672"/>
          </a:xfrm>
          <a:prstGeom prst="rect">
            <a:avLst/>
          </a:prstGeom>
          <a:solidFill>
            <a:srgbClr val="EEF4FA"/>
          </a:solidFill>
          <a:ln w="12700">
            <a:solidFill>
              <a:srgbClr val="D7E3EE"/>
            </a:solidFill>
            <a:prstDash val="solid"/>
          </a:ln>
        </p:spPr>
      </p:sp>
      <p:sp>
        <p:nvSpPr>
          <p:cNvPr id="26" name="Text 24"/>
          <p:cNvSpPr/>
          <p:nvPr/>
        </p:nvSpPr>
        <p:spPr>
          <a:xfrm>
            <a:off x="822960" y="3346704"/>
            <a:ext cx="1737360" cy="804672"/>
          </a:xfrm>
          <a:prstGeom prst="rect">
            <a:avLst/>
          </a:prstGeom>
          <a:noFill/>
          <a:ln/>
        </p:spPr>
        <p:txBody>
          <a:bodyPr wrap="square" lIns="0" tIns="0" rIns="0" bIns="0" rtlCol="0" anchor="ctr"/>
          <a:lstStyle/>
          <a:p>
            <a:pPr marL="0" indent="0" algn="ctr">
              <a:buNone/>
            </a:pPr>
            <a:r>
              <a:rPr lang="en-US" sz="1200" b="1" dirty="0">
                <a:solidFill>
                  <a:srgbClr val="1B2733"/>
                </a:solidFill>
              </a:rPr>
              <a:t>Ordered</a:t>
            </a:r>
            <a:endParaRPr lang="en-US" sz="1200" dirty="0"/>
          </a:p>
        </p:txBody>
      </p:sp>
      <p:sp>
        <p:nvSpPr>
          <p:cNvPr id="27" name="Shape 25"/>
          <p:cNvSpPr/>
          <p:nvPr/>
        </p:nvSpPr>
        <p:spPr>
          <a:xfrm>
            <a:off x="2560320" y="3346704"/>
            <a:ext cx="1508760" cy="804672"/>
          </a:xfrm>
          <a:prstGeom prst="rect">
            <a:avLst/>
          </a:prstGeom>
          <a:solidFill>
            <a:srgbClr val="FFFFFF"/>
          </a:solidFill>
          <a:ln w="12700">
            <a:solidFill>
              <a:srgbClr val="D7E3EE"/>
            </a:solidFill>
            <a:prstDash val="solid"/>
          </a:ln>
        </p:spPr>
      </p:sp>
      <p:sp>
        <p:nvSpPr>
          <p:cNvPr id="28" name="Text 26"/>
          <p:cNvSpPr/>
          <p:nvPr/>
        </p:nvSpPr>
        <p:spPr>
          <a:xfrm>
            <a:off x="2560320" y="3346704"/>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Yes</a:t>
            </a:r>
            <a:endParaRPr lang="en-US" sz="1200" dirty="0"/>
          </a:p>
        </p:txBody>
      </p:sp>
      <p:sp>
        <p:nvSpPr>
          <p:cNvPr id="29" name="Shape 27"/>
          <p:cNvSpPr/>
          <p:nvPr/>
        </p:nvSpPr>
        <p:spPr>
          <a:xfrm>
            <a:off x="4069080" y="3346704"/>
            <a:ext cx="1508760" cy="804672"/>
          </a:xfrm>
          <a:prstGeom prst="rect">
            <a:avLst/>
          </a:prstGeom>
          <a:solidFill>
            <a:srgbClr val="FFFFFF"/>
          </a:solidFill>
          <a:ln w="12700">
            <a:solidFill>
              <a:srgbClr val="D7E3EE"/>
            </a:solidFill>
            <a:prstDash val="solid"/>
          </a:ln>
        </p:spPr>
      </p:sp>
      <p:sp>
        <p:nvSpPr>
          <p:cNvPr id="30" name="Text 28"/>
          <p:cNvSpPr/>
          <p:nvPr/>
        </p:nvSpPr>
        <p:spPr>
          <a:xfrm>
            <a:off x="4069080" y="3346704"/>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Yes</a:t>
            </a:r>
            <a:endParaRPr lang="en-US" sz="1200" dirty="0"/>
          </a:p>
        </p:txBody>
      </p:sp>
      <p:sp>
        <p:nvSpPr>
          <p:cNvPr id="31" name="Shape 29"/>
          <p:cNvSpPr/>
          <p:nvPr/>
        </p:nvSpPr>
        <p:spPr>
          <a:xfrm>
            <a:off x="5577840" y="3346704"/>
            <a:ext cx="1508760" cy="804672"/>
          </a:xfrm>
          <a:prstGeom prst="rect">
            <a:avLst/>
          </a:prstGeom>
          <a:solidFill>
            <a:srgbClr val="FFFFFF"/>
          </a:solidFill>
          <a:ln w="12700">
            <a:solidFill>
              <a:srgbClr val="D7E3EE"/>
            </a:solidFill>
            <a:prstDash val="solid"/>
          </a:ln>
        </p:spPr>
      </p:sp>
      <p:sp>
        <p:nvSpPr>
          <p:cNvPr id="32" name="Text 30"/>
          <p:cNvSpPr/>
          <p:nvPr/>
        </p:nvSpPr>
        <p:spPr>
          <a:xfrm>
            <a:off x="5577840" y="3346704"/>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No</a:t>
            </a:r>
            <a:endParaRPr lang="en-US" sz="1200" dirty="0"/>
          </a:p>
        </p:txBody>
      </p:sp>
      <p:sp>
        <p:nvSpPr>
          <p:cNvPr id="33" name="Shape 31"/>
          <p:cNvSpPr/>
          <p:nvPr/>
        </p:nvSpPr>
        <p:spPr>
          <a:xfrm>
            <a:off x="7086600" y="3346704"/>
            <a:ext cx="1508760" cy="804672"/>
          </a:xfrm>
          <a:prstGeom prst="rect">
            <a:avLst/>
          </a:prstGeom>
          <a:solidFill>
            <a:srgbClr val="FFFFFF"/>
          </a:solidFill>
          <a:ln w="12700">
            <a:solidFill>
              <a:srgbClr val="D7E3EE"/>
            </a:solidFill>
            <a:prstDash val="solid"/>
          </a:ln>
        </p:spPr>
      </p:sp>
      <p:sp>
        <p:nvSpPr>
          <p:cNvPr id="34" name="Text 32"/>
          <p:cNvSpPr/>
          <p:nvPr/>
        </p:nvSpPr>
        <p:spPr>
          <a:xfrm>
            <a:off x="7086600" y="3346704"/>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Yes (3.7+)</a:t>
            </a:r>
            <a:endParaRPr lang="en-US" sz="1200" dirty="0"/>
          </a:p>
        </p:txBody>
      </p:sp>
      <p:sp>
        <p:nvSpPr>
          <p:cNvPr id="35" name="Shape 33"/>
          <p:cNvSpPr/>
          <p:nvPr/>
        </p:nvSpPr>
        <p:spPr>
          <a:xfrm>
            <a:off x="822960" y="4151376"/>
            <a:ext cx="1737360" cy="804672"/>
          </a:xfrm>
          <a:prstGeom prst="rect">
            <a:avLst/>
          </a:prstGeom>
          <a:solidFill>
            <a:srgbClr val="EEF4FA"/>
          </a:solidFill>
          <a:ln w="12700">
            <a:solidFill>
              <a:srgbClr val="D7E3EE"/>
            </a:solidFill>
            <a:prstDash val="solid"/>
          </a:ln>
        </p:spPr>
      </p:sp>
      <p:sp>
        <p:nvSpPr>
          <p:cNvPr id="36" name="Text 34"/>
          <p:cNvSpPr/>
          <p:nvPr/>
        </p:nvSpPr>
        <p:spPr>
          <a:xfrm>
            <a:off x="822960" y="4151376"/>
            <a:ext cx="1737360" cy="804672"/>
          </a:xfrm>
          <a:prstGeom prst="rect">
            <a:avLst/>
          </a:prstGeom>
          <a:noFill/>
          <a:ln/>
        </p:spPr>
        <p:txBody>
          <a:bodyPr wrap="square" lIns="0" tIns="0" rIns="0" bIns="0" rtlCol="0" anchor="ctr"/>
          <a:lstStyle/>
          <a:p>
            <a:pPr marL="0" indent="0" algn="ctr">
              <a:buNone/>
            </a:pPr>
            <a:r>
              <a:rPr lang="en-US" sz="1200" b="1" dirty="0">
                <a:solidFill>
                  <a:srgbClr val="1B2733"/>
                </a:solidFill>
              </a:rPr>
              <a:t>Mutable</a:t>
            </a:r>
            <a:endParaRPr lang="en-US" sz="1200" dirty="0"/>
          </a:p>
        </p:txBody>
      </p:sp>
      <p:sp>
        <p:nvSpPr>
          <p:cNvPr id="37" name="Shape 35"/>
          <p:cNvSpPr/>
          <p:nvPr/>
        </p:nvSpPr>
        <p:spPr>
          <a:xfrm>
            <a:off x="2560320" y="4151376"/>
            <a:ext cx="1508760" cy="804672"/>
          </a:xfrm>
          <a:prstGeom prst="rect">
            <a:avLst/>
          </a:prstGeom>
          <a:solidFill>
            <a:srgbClr val="FFFFFF"/>
          </a:solidFill>
          <a:ln w="12700">
            <a:solidFill>
              <a:srgbClr val="D7E3EE"/>
            </a:solidFill>
            <a:prstDash val="solid"/>
          </a:ln>
        </p:spPr>
      </p:sp>
      <p:sp>
        <p:nvSpPr>
          <p:cNvPr id="38" name="Text 36"/>
          <p:cNvSpPr/>
          <p:nvPr/>
        </p:nvSpPr>
        <p:spPr>
          <a:xfrm>
            <a:off x="2560320" y="4151376"/>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Yes</a:t>
            </a:r>
            <a:endParaRPr lang="en-US" sz="1200" dirty="0"/>
          </a:p>
        </p:txBody>
      </p:sp>
      <p:sp>
        <p:nvSpPr>
          <p:cNvPr id="39" name="Shape 37"/>
          <p:cNvSpPr/>
          <p:nvPr/>
        </p:nvSpPr>
        <p:spPr>
          <a:xfrm>
            <a:off x="4069080" y="4151376"/>
            <a:ext cx="1508760" cy="804672"/>
          </a:xfrm>
          <a:prstGeom prst="rect">
            <a:avLst/>
          </a:prstGeom>
          <a:solidFill>
            <a:srgbClr val="FFFFFF"/>
          </a:solidFill>
          <a:ln w="12700">
            <a:solidFill>
              <a:srgbClr val="D7E3EE"/>
            </a:solidFill>
            <a:prstDash val="solid"/>
          </a:ln>
        </p:spPr>
      </p:sp>
      <p:sp>
        <p:nvSpPr>
          <p:cNvPr id="40" name="Text 38"/>
          <p:cNvSpPr/>
          <p:nvPr/>
        </p:nvSpPr>
        <p:spPr>
          <a:xfrm>
            <a:off x="4069080" y="4151376"/>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No</a:t>
            </a:r>
            <a:endParaRPr lang="en-US" sz="1200" dirty="0"/>
          </a:p>
        </p:txBody>
      </p:sp>
      <p:sp>
        <p:nvSpPr>
          <p:cNvPr id="41" name="Shape 39"/>
          <p:cNvSpPr/>
          <p:nvPr/>
        </p:nvSpPr>
        <p:spPr>
          <a:xfrm>
            <a:off x="5577840" y="4151376"/>
            <a:ext cx="1508760" cy="804672"/>
          </a:xfrm>
          <a:prstGeom prst="rect">
            <a:avLst/>
          </a:prstGeom>
          <a:solidFill>
            <a:srgbClr val="FFFFFF"/>
          </a:solidFill>
          <a:ln w="12700">
            <a:solidFill>
              <a:srgbClr val="D7E3EE"/>
            </a:solidFill>
            <a:prstDash val="solid"/>
          </a:ln>
        </p:spPr>
      </p:sp>
      <p:sp>
        <p:nvSpPr>
          <p:cNvPr id="42" name="Text 40"/>
          <p:cNvSpPr/>
          <p:nvPr/>
        </p:nvSpPr>
        <p:spPr>
          <a:xfrm>
            <a:off x="5577840" y="4151376"/>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Yes</a:t>
            </a:r>
            <a:endParaRPr lang="en-US" sz="1200" dirty="0"/>
          </a:p>
        </p:txBody>
      </p:sp>
      <p:sp>
        <p:nvSpPr>
          <p:cNvPr id="43" name="Shape 41"/>
          <p:cNvSpPr/>
          <p:nvPr/>
        </p:nvSpPr>
        <p:spPr>
          <a:xfrm>
            <a:off x="7086600" y="4151376"/>
            <a:ext cx="1508760" cy="804672"/>
          </a:xfrm>
          <a:prstGeom prst="rect">
            <a:avLst/>
          </a:prstGeom>
          <a:solidFill>
            <a:srgbClr val="FFFFFF"/>
          </a:solidFill>
          <a:ln w="12700">
            <a:solidFill>
              <a:srgbClr val="D7E3EE"/>
            </a:solidFill>
            <a:prstDash val="solid"/>
          </a:ln>
        </p:spPr>
      </p:sp>
      <p:sp>
        <p:nvSpPr>
          <p:cNvPr id="44" name="Text 42"/>
          <p:cNvSpPr/>
          <p:nvPr/>
        </p:nvSpPr>
        <p:spPr>
          <a:xfrm>
            <a:off x="7086600" y="4151376"/>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Yes</a:t>
            </a:r>
            <a:endParaRPr lang="en-US" sz="1200" dirty="0"/>
          </a:p>
        </p:txBody>
      </p:sp>
      <p:sp>
        <p:nvSpPr>
          <p:cNvPr id="45" name="Shape 43"/>
          <p:cNvSpPr/>
          <p:nvPr/>
        </p:nvSpPr>
        <p:spPr>
          <a:xfrm>
            <a:off x="822960" y="4956048"/>
            <a:ext cx="1737360" cy="804672"/>
          </a:xfrm>
          <a:prstGeom prst="rect">
            <a:avLst/>
          </a:prstGeom>
          <a:solidFill>
            <a:srgbClr val="EEF4FA"/>
          </a:solidFill>
          <a:ln w="12700">
            <a:solidFill>
              <a:srgbClr val="D7E3EE"/>
            </a:solidFill>
            <a:prstDash val="solid"/>
          </a:ln>
        </p:spPr>
      </p:sp>
      <p:sp>
        <p:nvSpPr>
          <p:cNvPr id="46" name="Text 44"/>
          <p:cNvSpPr/>
          <p:nvPr/>
        </p:nvSpPr>
        <p:spPr>
          <a:xfrm>
            <a:off x="822960" y="4956048"/>
            <a:ext cx="1737360" cy="804672"/>
          </a:xfrm>
          <a:prstGeom prst="rect">
            <a:avLst/>
          </a:prstGeom>
          <a:noFill/>
          <a:ln/>
        </p:spPr>
        <p:txBody>
          <a:bodyPr wrap="square" lIns="0" tIns="0" rIns="0" bIns="0" rtlCol="0" anchor="ctr"/>
          <a:lstStyle/>
          <a:p>
            <a:pPr marL="0" indent="0" algn="ctr">
              <a:buNone/>
            </a:pPr>
            <a:r>
              <a:rPr lang="en-US" sz="1200" b="1" dirty="0">
                <a:solidFill>
                  <a:srgbClr val="1B2733"/>
                </a:solidFill>
              </a:rPr>
              <a:t>Duplicates</a:t>
            </a:r>
            <a:endParaRPr lang="en-US" sz="1200" dirty="0"/>
          </a:p>
        </p:txBody>
      </p:sp>
      <p:sp>
        <p:nvSpPr>
          <p:cNvPr id="47" name="Shape 45"/>
          <p:cNvSpPr/>
          <p:nvPr/>
        </p:nvSpPr>
        <p:spPr>
          <a:xfrm>
            <a:off x="2560320" y="4956048"/>
            <a:ext cx="1508760" cy="804672"/>
          </a:xfrm>
          <a:prstGeom prst="rect">
            <a:avLst/>
          </a:prstGeom>
          <a:solidFill>
            <a:srgbClr val="FFFFFF"/>
          </a:solidFill>
          <a:ln w="12700">
            <a:solidFill>
              <a:srgbClr val="D7E3EE"/>
            </a:solidFill>
            <a:prstDash val="solid"/>
          </a:ln>
        </p:spPr>
      </p:sp>
      <p:sp>
        <p:nvSpPr>
          <p:cNvPr id="48" name="Text 46"/>
          <p:cNvSpPr/>
          <p:nvPr/>
        </p:nvSpPr>
        <p:spPr>
          <a:xfrm>
            <a:off x="2560320" y="4956048"/>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Allowed</a:t>
            </a:r>
            <a:endParaRPr lang="en-US" sz="1200" dirty="0"/>
          </a:p>
        </p:txBody>
      </p:sp>
      <p:sp>
        <p:nvSpPr>
          <p:cNvPr id="49" name="Shape 47"/>
          <p:cNvSpPr/>
          <p:nvPr/>
        </p:nvSpPr>
        <p:spPr>
          <a:xfrm>
            <a:off x="4069080" y="4956048"/>
            <a:ext cx="1508760" cy="804672"/>
          </a:xfrm>
          <a:prstGeom prst="rect">
            <a:avLst/>
          </a:prstGeom>
          <a:solidFill>
            <a:srgbClr val="FFFFFF"/>
          </a:solidFill>
          <a:ln w="12700">
            <a:solidFill>
              <a:srgbClr val="D7E3EE"/>
            </a:solidFill>
            <a:prstDash val="solid"/>
          </a:ln>
        </p:spPr>
      </p:sp>
      <p:sp>
        <p:nvSpPr>
          <p:cNvPr id="50" name="Text 48"/>
          <p:cNvSpPr/>
          <p:nvPr/>
        </p:nvSpPr>
        <p:spPr>
          <a:xfrm>
            <a:off x="4069080" y="4956048"/>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Allowed</a:t>
            </a:r>
            <a:endParaRPr lang="en-US" sz="1200" dirty="0"/>
          </a:p>
        </p:txBody>
      </p:sp>
      <p:sp>
        <p:nvSpPr>
          <p:cNvPr id="51" name="Shape 49"/>
          <p:cNvSpPr/>
          <p:nvPr/>
        </p:nvSpPr>
        <p:spPr>
          <a:xfrm>
            <a:off x="5577840" y="4956048"/>
            <a:ext cx="1508760" cy="804672"/>
          </a:xfrm>
          <a:prstGeom prst="rect">
            <a:avLst/>
          </a:prstGeom>
          <a:solidFill>
            <a:srgbClr val="FFFFFF"/>
          </a:solidFill>
          <a:ln w="12700">
            <a:solidFill>
              <a:srgbClr val="D7E3EE"/>
            </a:solidFill>
            <a:prstDash val="solid"/>
          </a:ln>
        </p:spPr>
      </p:sp>
      <p:sp>
        <p:nvSpPr>
          <p:cNvPr id="52" name="Text 50"/>
          <p:cNvSpPr/>
          <p:nvPr/>
        </p:nvSpPr>
        <p:spPr>
          <a:xfrm>
            <a:off x="5577840" y="4956048"/>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Not allowed</a:t>
            </a:r>
            <a:endParaRPr lang="en-US" sz="1200" dirty="0"/>
          </a:p>
        </p:txBody>
      </p:sp>
      <p:sp>
        <p:nvSpPr>
          <p:cNvPr id="53" name="Shape 51"/>
          <p:cNvSpPr/>
          <p:nvPr/>
        </p:nvSpPr>
        <p:spPr>
          <a:xfrm>
            <a:off x="7086600" y="4956048"/>
            <a:ext cx="1508760" cy="804672"/>
          </a:xfrm>
          <a:prstGeom prst="rect">
            <a:avLst/>
          </a:prstGeom>
          <a:solidFill>
            <a:srgbClr val="FFFFFF"/>
          </a:solidFill>
          <a:ln w="12700">
            <a:solidFill>
              <a:srgbClr val="D7E3EE"/>
            </a:solidFill>
            <a:prstDash val="solid"/>
          </a:ln>
        </p:spPr>
      </p:sp>
      <p:sp>
        <p:nvSpPr>
          <p:cNvPr id="54" name="Text 52"/>
          <p:cNvSpPr/>
          <p:nvPr/>
        </p:nvSpPr>
        <p:spPr>
          <a:xfrm>
            <a:off x="7086600" y="4956048"/>
            <a:ext cx="1508760" cy="804672"/>
          </a:xfrm>
          <a:prstGeom prst="rect">
            <a:avLst/>
          </a:prstGeom>
          <a:noFill/>
          <a:ln/>
        </p:spPr>
        <p:txBody>
          <a:bodyPr wrap="square" lIns="0" tIns="0" rIns="0" bIns="0" rtlCol="0" anchor="ctr"/>
          <a:lstStyle/>
          <a:p>
            <a:pPr marL="0" indent="0" algn="ctr">
              <a:buNone/>
            </a:pPr>
            <a:r>
              <a:rPr lang="en-US" sz="1200" dirty="0">
                <a:solidFill>
                  <a:srgbClr val="1B2733"/>
                </a:solidFill>
              </a:rPr>
              <a:t>Unique keys</a:t>
            </a:r>
            <a:endParaRPr lang="en-US" sz="1200" dirty="0"/>
          </a:p>
        </p:txBody>
      </p:sp>
      <p:sp>
        <p:nvSpPr>
          <p:cNvPr id="55" name="Text 53"/>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41</a:t>
            </a:r>
            <a:endParaRPr lang="en-US" sz="1000" dirty="0"/>
          </a:p>
        </p:txBody>
      </p:sp>
      <p:sp>
        <p:nvSpPr>
          <p:cNvPr id="56" name="Text 54"/>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6 — COLLECTIONS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Where This Is Used</a:t>
            </a:r>
            <a:endParaRPr lang="en-US" sz="2700" dirty="0"/>
          </a:p>
        </p:txBody>
      </p:sp>
      <p:sp>
        <p:nvSpPr>
          <p:cNvPr id="4" name="Shape 2"/>
          <p:cNvSpPr/>
          <p:nvPr/>
        </p:nvSpPr>
        <p:spPr>
          <a:xfrm>
            <a:off x="548640" y="1645920"/>
            <a:ext cx="3505200" cy="3566160"/>
          </a:xfrm>
          <a:prstGeom prst="roundRect">
            <a:avLst>
              <a:gd name="adj" fmla="val 2609"/>
            </a:avLst>
          </a:prstGeom>
          <a:solidFill>
            <a:srgbClr val="1E5A96"/>
          </a:solidFill>
          <a:ln/>
        </p:spPr>
      </p:sp>
      <p:sp>
        <p:nvSpPr>
          <p:cNvPr id="5" name="Shape 3"/>
          <p:cNvSpPr/>
          <p:nvPr/>
        </p:nvSpPr>
        <p:spPr>
          <a:xfrm>
            <a:off x="1981200" y="1965960"/>
            <a:ext cx="640080" cy="640080"/>
          </a:xfrm>
          <a:prstGeom prst="ellipse">
            <a:avLst/>
          </a:prstGeom>
          <a:solidFill>
            <a:srgbClr val="FFFFFF">
              <a:alpha val="88000"/>
            </a:srgbClr>
          </a:solidFill>
          <a:ln/>
        </p:spPr>
      </p:sp>
      <p:pic>
        <p:nvPicPr>
          <p:cNvPr id="6" name="Image 0" descr="preencoded.png"/>
          <p:cNvPicPr>
            <a:picLocks noChangeAspect="1"/>
          </p:cNvPicPr>
          <p:nvPr/>
        </p:nvPicPr>
        <p:blipFill>
          <a:blip r:embed="rId3"/>
          <a:stretch>
            <a:fillRect/>
          </a:stretch>
        </p:blipFill>
        <p:spPr>
          <a:xfrm>
            <a:off x="2118360" y="2103120"/>
            <a:ext cx="365760" cy="365760"/>
          </a:xfrm>
          <a:prstGeom prst="rect">
            <a:avLst/>
          </a:prstGeom>
        </p:spPr>
      </p:pic>
      <p:sp>
        <p:nvSpPr>
          <p:cNvPr id="7" name="Text 4"/>
          <p:cNvSpPr/>
          <p:nvPr/>
        </p:nvSpPr>
        <p:spPr>
          <a:xfrm>
            <a:off x="73152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Student Database</a:t>
            </a:r>
            <a:endParaRPr lang="en-US" sz="1500" dirty="0"/>
          </a:p>
        </p:txBody>
      </p:sp>
      <p:sp>
        <p:nvSpPr>
          <p:cNvPr id="8" name="Text 5"/>
          <p:cNvSpPr/>
          <p:nvPr/>
        </p:nvSpPr>
        <p:spPr>
          <a:xfrm>
            <a:off x="77724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A list/dict of student names &amp; marks</a:t>
            </a:r>
            <a:endParaRPr lang="en-US" sz="1200" dirty="0"/>
          </a:p>
        </p:txBody>
      </p:sp>
      <p:sp>
        <p:nvSpPr>
          <p:cNvPr id="9" name="Shape 6"/>
          <p:cNvSpPr/>
          <p:nvPr/>
        </p:nvSpPr>
        <p:spPr>
          <a:xfrm>
            <a:off x="4328160" y="1645920"/>
            <a:ext cx="3505200" cy="3566160"/>
          </a:xfrm>
          <a:prstGeom prst="roundRect">
            <a:avLst>
              <a:gd name="adj" fmla="val 2609"/>
            </a:avLst>
          </a:prstGeom>
          <a:solidFill>
            <a:srgbClr val="132A46"/>
          </a:solidFill>
          <a:ln/>
        </p:spPr>
      </p:sp>
      <p:sp>
        <p:nvSpPr>
          <p:cNvPr id="10" name="Shape 7"/>
          <p:cNvSpPr/>
          <p:nvPr/>
        </p:nvSpPr>
        <p:spPr>
          <a:xfrm>
            <a:off x="5760720" y="1965960"/>
            <a:ext cx="640080" cy="640080"/>
          </a:xfrm>
          <a:prstGeom prst="ellipse">
            <a:avLst/>
          </a:prstGeom>
          <a:solidFill>
            <a:srgbClr val="FFFFFF">
              <a:alpha val="88000"/>
            </a:srgbClr>
          </a:solidFill>
          <a:ln/>
        </p:spPr>
      </p:sp>
      <p:pic>
        <p:nvPicPr>
          <p:cNvPr id="11" name="Image 1" descr="preencoded.png"/>
          <p:cNvPicPr>
            <a:picLocks noChangeAspect="1"/>
          </p:cNvPicPr>
          <p:nvPr/>
        </p:nvPicPr>
        <p:blipFill>
          <a:blip r:embed="rId3"/>
          <a:stretch>
            <a:fillRect/>
          </a:stretch>
        </p:blipFill>
        <p:spPr>
          <a:xfrm>
            <a:off x="5897880" y="2103120"/>
            <a:ext cx="365760" cy="365760"/>
          </a:xfrm>
          <a:prstGeom prst="rect">
            <a:avLst/>
          </a:prstGeom>
        </p:spPr>
      </p:pic>
      <p:sp>
        <p:nvSpPr>
          <p:cNvPr id="12" name="Text 8"/>
          <p:cNvSpPr/>
          <p:nvPr/>
        </p:nvSpPr>
        <p:spPr>
          <a:xfrm>
            <a:off x="451104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Shopping Cart</a:t>
            </a:r>
            <a:endParaRPr lang="en-US" sz="1500" dirty="0"/>
          </a:p>
        </p:txBody>
      </p:sp>
      <p:sp>
        <p:nvSpPr>
          <p:cNvPr id="13" name="Text 9"/>
          <p:cNvSpPr/>
          <p:nvPr/>
        </p:nvSpPr>
        <p:spPr>
          <a:xfrm>
            <a:off x="455676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A list of items with quantities</a:t>
            </a:r>
            <a:endParaRPr lang="en-US" sz="1200" dirty="0"/>
          </a:p>
        </p:txBody>
      </p:sp>
      <p:sp>
        <p:nvSpPr>
          <p:cNvPr id="14" name="Shape 10"/>
          <p:cNvSpPr/>
          <p:nvPr/>
        </p:nvSpPr>
        <p:spPr>
          <a:xfrm>
            <a:off x="8107680" y="1645920"/>
            <a:ext cx="3505200" cy="3566160"/>
          </a:xfrm>
          <a:prstGeom prst="roundRect">
            <a:avLst>
              <a:gd name="adj" fmla="val 2609"/>
            </a:avLst>
          </a:prstGeom>
          <a:solidFill>
            <a:srgbClr val="1E5A96"/>
          </a:solidFill>
          <a:ln/>
        </p:spPr>
      </p:sp>
      <p:sp>
        <p:nvSpPr>
          <p:cNvPr id="15" name="Shape 11"/>
          <p:cNvSpPr/>
          <p:nvPr/>
        </p:nvSpPr>
        <p:spPr>
          <a:xfrm>
            <a:off x="9540240" y="1965960"/>
            <a:ext cx="640080" cy="640080"/>
          </a:xfrm>
          <a:prstGeom prst="ellipse">
            <a:avLst/>
          </a:prstGeom>
          <a:solidFill>
            <a:srgbClr val="FFFFFF">
              <a:alpha val="88000"/>
            </a:srgbClr>
          </a:solidFill>
          <a:ln/>
        </p:spPr>
      </p:sp>
      <p:pic>
        <p:nvPicPr>
          <p:cNvPr id="16" name="Image 2" descr="preencoded.png"/>
          <p:cNvPicPr>
            <a:picLocks noChangeAspect="1"/>
          </p:cNvPicPr>
          <p:nvPr/>
        </p:nvPicPr>
        <p:blipFill>
          <a:blip r:embed="rId3"/>
          <a:stretch>
            <a:fillRect/>
          </a:stretch>
        </p:blipFill>
        <p:spPr>
          <a:xfrm>
            <a:off x="9677400" y="2103120"/>
            <a:ext cx="365760" cy="365760"/>
          </a:xfrm>
          <a:prstGeom prst="rect">
            <a:avLst/>
          </a:prstGeom>
        </p:spPr>
      </p:pic>
      <p:sp>
        <p:nvSpPr>
          <p:cNvPr id="17" name="Text 12"/>
          <p:cNvSpPr/>
          <p:nvPr/>
        </p:nvSpPr>
        <p:spPr>
          <a:xfrm>
            <a:off x="829056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Inventory System</a:t>
            </a:r>
            <a:endParaRPr lang="en-US" sz="1500" dirty="0"/>
          </a:p>
        </p:txBody>
      </p:sp>
      <p:sp>
        <p:nvSpPr>
          <p:cNvPr id="18" name="Text 13"/>
          <p:cNvSpPr/>
          <p:nvPr/>
        </p:nvSpPr>
        <p:spPr>
          <a:xfrm>
            <a:off x="833628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A dictionary mapping product → stock count</a:t>
            </a:r>
            <a:endParaRPr lang="en-US" sz="1200" dirty="0"/>
          </a:p>
        </p:txBody>
      </p:sp>
      <p:sp>
        <p:nvSpPr>
          <p:cNvPr id="19" name="Text 14"/>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42</a:t>
            </a:r>
            <a:endParaRPr lang="en-US" sz="10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6 — COLLECTIONS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Coding Example &amp; Practical Exercises</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937760" cy="457200"/>
          </a:xfrm>
          <a:prstGeom prst="rect">
            <a:avLst/>
          </a:prstGeom>
          <a:noFill/>
          <a:ln/>
        </p:spPr>
        <p:txBody>
          <a:bodyPr wrap="square" lIns="0" tIns="0" rIns="0" bIns="0" rtlCol="0" anchor="ctr"/>
          <a:lstStyle/>
          <a:p>
            <a:pPr marL="0" indent="0">
              <a:buNone/>
            </a:pPr>
            <a:r>
              <a:rPr lang="en-US" sz="1500" b="1" dirty="0">
                <a:solidFill>
                  <a:srgbClr val="1B2733"/>
                </a:solidFill>
              </a:rPr>
              <a:t>Coding Example</a:t>
            </a:r>
            <a:endParaRPr lang="en-US" sz="1500" dirty="0"/>
          </a:p>
        </p:txBody>
      </p:sp>
      <p:sp>
        <p:nvSpPr>
          <p:cNvPr id="7" name="Shape 4"/>
          <p:cNvSpPr/>
          <p:nvPr/>
        </p:nvSpPr>
        <p:spPr>
          <a:xfrm>
            <a:off x="548640" y="2011680"/>
            <a:ext cx="5486400" cy="3108960"/>
          </a:xfrm>
          <a:prstGeom prst="roundRect">
            <a:avLst>
              <a:gd name="adj" fmla="val 2353"/>
            </a:avLst>
          </a:prstGeom>
          <a:solidFill>
            <a:srgbClr val="1E1E2E"/>
          </a:solidFill>
          <a:ln/>
          <a:effectLst>
            <a:outerShdw blurRad="101600" dist="38100" dir="5400000" algn="bl" rotWithShape="0">
              <a:srgbClr val="000000">
                <a:alpha val="18000"/>
              </a:srgbClr>
            </a:outerShdw>
          </a:effectLst>
        </p:spPr>
      </p:sp>
      <p:sp>
        <p:nvSpPr>
          <p:cNvPr id="8" name="Text 5"/>
          <p:cNvSpPr/>
          <p:nvPr/>
        </p:nvSpPr>
        <p:spPr>
          <a:xfrm>
            <a:off x="731520" y="2103120"/>
            <a:ext cx="5120640" cy="274320"/>
          </a:xfrm>
          <a:prstGeom prst="rect">
            <a:avLst/>
          </a:prstGeom>
          <a:noFill/>
          <a:ln/>
        </p:spPr>
        <p:txBody>
          <a:bodyPr wrap="square" lIns="0" tIns="0" rIns="0" bIns="0" rtlCol="0" anchor="ctr"/>
          <a:lstStyle/>
          <a:p>
            <a:pPr marL="0" indent="0">
              <a:buNone/>
            </a:pPr>
            <a:r>
              <a:rPr lang="en-US" sz="1050" dirty="0">
                <a:solidFill>
                  <a:srgbClr val="8FA3B8"/>
                </a:solidFill>
                <a:latin typeface="Courier New" pitchFamily="34" charset="0"/>
                <a:ea typeface="Courier New" pitchFamily="34" charset="-122"/>
                <a:cs typeface="Courier New" pitchFamily="34" charset="-120"/>
              </a:rPr>
              <a:t>students.py</a:t>
            </a:r>
            <a:endParaRPr lang="en-US" sz="1050" dirty="0"/>
          </a:p>
        </p:txBody>
      </p:sp>
      <p:sp>
        <p:nvSpPr>
          <p:cNvPr id="9" name="Text 6"/>
          <p:cNvSpPr/>
          <p:nvPr/>
        </p:nvSpPr>
        <p:spPr>
          <a:xfrm>
            <a:off x="777240" y="2395728"/>
            <a:ext cx="5029200" cy="2560320"/>
          </a:xfrm>
          <a:prstGeom prst="rect">
            <a:avLst/>
          </a:prstGeom>
          <a:noFill/>
          <a:ln/>
        </p:spPr>
        <p:txBody>
          <a:bodyPr wrap="square" lIns="0" tIns="0" rIns="0" bIns="0" rtlCol="0" anchor="t"/>
          <a:lstStyle/>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students = ["John", "David", "Mike"]</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print(students)</a:t>
            </a:r>
            <a:endParaRPr lang="en-US" sz="1300" dirty="0"/>
          </a:p>
        </p:txBody>
      </p:sp>
      <p:sp>
        <p:nvSpPr>
          <p:cNvPr id="10" name="Shape 7"/>
          <p:cNvSpPr/>
          <p:nvPr/>
        </p:nvSpPr>
        <p:spPr>
          <a:xfrm>
            <a:off x="6355080" y="1463040"/>
            <a:ext cx="384048" cy="384048"/>
          </a:xfrm>
          <a:prstGeom prst="ellipse">
            <a:avLst/>
          </a:prstGeom>
          <a:solidFill>
            <a:srgbClr val="1E5A96"/>
          </a:solidFill>
          <a:ln/>
        </p:spPr>
      </p:sp>
      <p:pic>
        <p:nvPicPr>
          <p:cNvPr id="11"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2" name="Text 8"/>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Practical Exercises</a:t>
            </a:r>
            <a:endParaRPr lang="en-US" sz="1500" dirty="0"/>
          </a:p>
        </p:txBody>
      </p:sp>
      <p:sp>
        <p:nvSpPr>
          <p:cNvPr id="13" name="Shape 9"/>
          <p:cNvSpPr/>
          <p:nvPr/>
        </p:nvSpPr>
        <p:spPr>
          <a:xfrm>
            <a:off x="6355080" y="2011680"/>
            <a:ext cx="5257800" cy="3108960"/>
          </a:xfrm>
          <a:prstGeom prst="roundRect">
            <a:avLst>
              <a:gd name="adj" fmla="val 2353"/>
            </a:avLst>
          </a:prstGeom>
          <a:solidFill>
            <a:srgbClr val="EEF4FA"/>
          </a:solidFill>
          <a:ln/>
        </p:spPr>
      </p:sp>
      <p:sp>
        <p:nvSpPr>
          <p:cNvPr id="14" name="Text 10"/>
          <p:cNvSpPr/>
          <p:nvPr/>
        </p:nvSpPr>
        <p:spPr>
          <a:xfrm>
            <a:off x="6583680" y="2212848"/>
            <a:ext cx="4846320" cy="27432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B2733"/>
                </a:solidFill>
              </a:rPr>
              <a:t>Build a student records list</a:t>
            </a:r>
            <a:endParaRPr lang="en-US" sz="1350" dirty="0"/>
          </a:p>
          <a:p>
            <a:pPr marL="342900" indent="-342900">
              <a:lnSpc>
                <a:spcPct val="120000"/>
              </a:lnSpc>
              <a:spcAft>
                <a:spcPts val="1200"/>
              </a:spcAft>
              <a:buSzPct val="100000"/>
              <a:buChar char="•"/>
            </a:pPr>
            <a:r>
              <a:rPr lang="en-US" sz="1350" dirty="0">
                <a:solidFill>
                  <a:srgbClr val="1B2733"/>
                </a:solidFill>
              </a:rPr>
              <a:t>Manage marks using a dictionary</a:t>
            </a:r>
            <a:endParaRPr lang="en-US" sz="1350" dirty="0"/>
          </a:p>
          <a:p>
            <a:pPr marL="342900" indent="-342900">
              <a:lnSpc>
                <a:spcPct val="120000"/>
              </a:lnSpc>
              <a:spcAft>
                <a:spcPts val="1200"/>
              </a:spcAft>
              <a:buSzPct val="100000"/>
              <a:buChar char="•"/>
            </a:pPr>
            <a:r>
              <a:rPr lang="en-US" sz="1350" dirty="0">
                <a:solidFill>
                  <a:srgbClr val="1B2733"/>
                </a:solidFill>
              </a:rPr>
              <a:t>Remove duplicate entries using a set</a:t>
            </a:r>
            <a:endParaRPr lang="en-US" sz="1350" dirty="0"/>
          </a:p>
        </p:txBody>
      </p:sp>
      <p:sp>
        <p:nvSpPr>
          <p:cNvPr id="15" name="Text 11"/>
          <p:cNvSpPr/>
          <p:nvPr/>
        </p:nvSpPr>
        <p:spPr>
          <a:xfrm>
            <a:off x="548640" y="5257800"/>
            <a:ext cx="5486400" cy="274320"/>
          </a:xfrm>
          <a:prstGeom prst="rect">
            <a:avLst/>
          </a:prstGeom>
          <a:noFill/>
          <a:ln/>
        </p:spPr>
        <p:txBody>
          <a:bodyPr wrap="square" lIns="0" tIns="0" rIns="0" bIns="0" rtlCol="0" anchor="ctr"/>
          <a:lstStyle/>
          <a:p>
            <a:pPr marL="0" indent="0">
              <a:buNone/>
            </a:pPr>
            <a:r>
              <a:rPr lang="en-US" sz="1050" i="1" dirty="0">
                <a:solidFill>
                  <a:srgbClr val="5C6B7A"/>
                </a:solidFill>
              </a:rPr>
              <a:t>Theory: 2h  •  Practical: 2h</a:t>
            </a:r>
            <a:endParaRPr lang="en-US" sz="1050" dirty="0"/>
          </a:p>
        </p:txBody>
      </p:sp>
      <p:sp>
        <p:nvSpPr>
          <p:cNvPr id="16"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43</a:t>
            </a:r>
            <a:endParaRPr lang="en-US" sz="1000" dirty="0"/>
          </a:p>
        </p:txBody>
      </p:sp>
      <p:sp>
        <p:nvSpPr>
          <p:cNvPr id="17"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6 — COLLECTIONS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Mini Activity &amp; Expected Outcome</a:t>
            </a:r>
            <a:endParaRPr lang="en-US" sz="2700" dirty="0"/>
          </a:p>
        </p:txBody>
      </p:sp>
      <p:sp>
        <p:nvSpPr>
          <p:cNvPr id="4" name="Shape 2"/>
          <p:cNvSpPr/>
          <p:nvPr/>
        </p:nvSpPr>
        <p:spPr>
          <a:xfrm>
            <a:off x="548640" y="1600200"/>
            <a:ext cx="11064240" cy="1920240"/>
          </a:xfrm>
          <a:prstGeom prst="roundRect">
            <a:avLst>
              <a:gd name="adj" fmla="val 4762"/>
            </a:avLst>
          </a:prstGeom>
          <a:solidFill>
            <a:srgbClr val="1E5A96"/>
          </a:solidFill>
          <a:ln/>
        </p:spPr>
      </p:sp>
      <p:pic>
        <p:nvPicPr>
          <p:cNvPr id="5" name="Image 0" descr="preencoded.png"/>
          <p:cNvPicPr>
            <a:picLocks noChangeAspect="1"/>
          </p:cNvPicPr>
          <p:nvPr/>
        </p:nvPicPr>
        <p:blipFill>
          <a:blip r:embed="rId3"/>
          <a:stretch>
            <a:fillRect/>
          </a:stretch>
        </p:blipFill>
        <p:spPr>
          <a:xfrm>
            <a:off x="868680" y="1965960"/>
            <a:ext cx="502920" cy="502920"/>
          </a:xfrm>
          <a:prstGeom prst="rect">
            <a:avLst/>
          </a:prstGeom>
        </p:spPr>
      </p:pic>
      <p:sp>
        <p:nvSpPr>
          <p:cNvPr id="6" name="Text 3"/>
          <p:cNvSpPr/>
          <p:nvPr/>
        </p:nvSpPr>
        <p:spPr>
          <a:xfrm>
            <a:off x="1554480" y="1874520"/>
            <a:ext cx="3657600" cy="320040"/>
          </a:xfrm>
          <a:prstGeom prst="rect">
            <a:avLst/>
          </a:prstGeom>
          <a:noFill/>
          <a:ln/>
        </p:spPr>
        <p:txBody>
          <a:bodyPr wrap="square" lIns="0" tIns="0" rIns="0" bIns="0" rtlCol="0" anchor="ctr"/>
          <a:lstStyle/>
          <a:p>
            <a:pPr marL="0" indent="0">
              <a:buNone/>
            </a:pPr>
            <a:r>
              <a:rPr lang="en-US" sz="1250" b="1" kern="0" spc="150" dirty="0">
                <a:solidFill>
                  <a:srgbClr val="F2A93B"/>
                </a:solidFill>
              </a:rPr>
              <a:t>MINI ACTIVITY</a:t>
            </a:r>
            <a:endParaRPr lang="en-US" sz="1250" dirty="0"/>
          </a:p>
        </p:txBody>
      </p:sp>
      <p:sp>
        <p:nvSpPr>
          <p:cNvPr id="7" name="Text 4"/>
          <p:cNvSpPr/>
          <p:nvPr/>
        </p:nvSpPr>
        <p:spPr>
          <a:xfrm>
            <a:off x="1554480" y="2240280"/>
            <a:ext cx="9692640" cy="1143000"/>
          </a:xfrm>
          <a:prstGeom prst="rect">
            <a:avLst/>
          </a:prstGeom>
          <a:noFill/>
          <a:ln/>
        </p:spPr>
        <p:txBody>
          <a:bodyPr wrap="square" lIns="0" tIns="0" rIns="0" bIns="0" rtlCol="0" anchor="t"/>
          <a:lstStyle/>
          <a:p>
            <a:pPr marL="0" indent="0">
              <a:buNone/>
            </a:pPr>
            <a:r>
              <a:rPr lang="en-US" sz="1550" dirty="0">
                <a:solidFill>
                  <a:srgbClr val="FFFFFF"/>
                </a:solidFill>
              </a:rPr>
              <a:t>Build a Student Record System that stores name, marks, and grade for each student.</a:t>
            </a:r>
            <a:endParaRPr lang="en-US" sz="1550" dirty="0"/>
          </a:p>
        </p:txBody>
      </p:sp>
      <p:sp>
        <p:nvSpPr>
          <p:cNvPr id="8" name="Shape 5"/>
          <p:cNvSpPr/>
          <p:nvPr/>
        </p:nvSpPr>
        <p:spPr>
          <a:xfrm>
            <a:off x="548640" y="3794760"/>
            <a:ext cx="11064240" cy="1691640"/>
          </a:xfrm>
          <a:prstGeom prst="roundRect">
            <a:avLst>
              <a:gd name="adj" fmla="val 5405"/>
            </a:avLst>
          </a:prstGeom>
          <a:solidFill>
            <a:srgbClr val="EEF4FA"/>
          </a:solidFill>
          <a:ln/>
        </p:spPr>
      </p:sp>
      <p:pic>
        <p:nvPicPr>
          <p:cNvPr id="9" name="Image 1" descr="preencoded.png"/>
          <p:cNvPicPr>
            <a:picLocks noChangeAspect="1"/>
          </p:cNvPicPr>
          <p:nvPr/>
        </p:nvPicPr>
        <p:blipFill>
          <a:blip r:embed="rId4"/>
          <a:stretch>
            <a:fillRect/>
          </a:stretch>
        </p:blipFill>
        <p:spPr>
          <a:xfrm>
            <a:off x="868680" y="4114800"/>
            <a:ext cx="457200" cy="457200"/>
          </a:xfrm>
          <a:prstGeom prst="rect">
            <a:avLst/>
          </a:prstGeom>
        </p:spPr>
      </p:pic>
      <p:sp>
        <p:nvSpPr>
          <p:cNvPr id="10" name="Text 6"/>
          <p:cNvSpPr/>
          <p:nvPr/>
        </p:nvSpPr>
        <p:spPr>
          <a:xfrm>
            <a:off x="1508760" y="4041648"/>
            <a:ext cx="3657600" cy="320040"/>
          </a:xfrm>
          <a:prstGeom prst="rect">
            <a:avLst/>
          </a:prstGeom>
          <a:noFill/>
          <a:ln/>
        </p:spPr>
        <p:txBody>
          <a:bodyPr wrap="square" lIns="0" tIns="0" rIns="0" bIns="0" rtlCol="0" anchor="ctr"/>
          <a:lstStyle/>
          <a:p>
            <a:pPr marL="0" indent="0">
              <a:buNone/>
            </a:pPr>
            <a:r>
              <a:rPr lang="en-US" sz="1250" b="1" kern="0" spc="150" dirty="0">
                <a:solidFill>
                  <a:srgbClr val="1E7D32"/>
                </a:solidFill>
              </a:rPr>
              <a:t>EXPECTED OUTCOME</a:t>
            </a:r>
            <a:endParaRPr lang="en-US" sz="1250" dirty="0"/>
          </a:p>
        </p:txBody>
      </p:sp>
      <p:sp>
        <p:nvSpPr>
          <p:cNvPr id="11" name="Text 7"/>
          <p:cNvSpPr/>
          <p:nvPr/>
        </p:nvSpPr>
        <p:spPr>
          <a:xfrm>
            <a:off x="1508760" y="4389120"/>
            <a:ext cx="9784080" cy="914400"/>
          </a:xfrm>
          <a:prstGeom prst="rect">
            <a:avLst/>
          </a:prstGeom>
          <a:noFill/>
          <a:ln/>
        </p:spPr>
        <p:txBody>
          <a:bodyPr wrap="square" lIns="0" tIns="0" rIns="0" bIns="0" rtlCol="0" anchor="t"/>
          <a:lstStyle/>
          <a:p>
            <a:pPr marL="0" indent="0">
              <a:buNone/>
            </a:pPr>
            <a:r>
              <a:rPr lang="en-US" sz="1550" dirty="0">
                <a:solidFill>
                  <a:srgbClr val="1B2733"/>
                </a:solidFill>
              </a:rPr>
              <a:t>Students can manage and organise collections of data.</a:t>
            </a:r>
            <a:endParaRPr lang="en-US" sz="1550" dirty="0"/>
          </a:p>
        </p:txBody>
      </p:sp>
      <p:sp>
        <p:nvSpPr>
          <p:cNvPr id="12" name="Text 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44</a:t>
            </a:r>
            <a:endParaRPr lang="en-US" sz="100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6 — COLLECTIONS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Interview Questions &amp; Summary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6126480" cy="457200"/>
          </a:xfrm>
          <a:prstGeom prst="rect">
            <a:avLst/>
          </a:prstGeom>
          <a:noFill/>
          <a:ln/>
        </p:spPr>
        <p:txBody>
          <a:bodyPr wrap="square" lIns="0" tIns="0" rIns="0" bIns="0" rtlCol="0" anchor="ctr"/>
          <a:lstStyle/>
          <a:p>
            <a:pPr marL="0" indent="0">
              <a:buNone/>
            </a:pPr>
            <a:r>
              <a:rPr lang="en-US" sz="1500" b="1" dirty="0">
                <a:solidFill>
                  <a:srgbClr val="1B2733"/>
                </a:solidFill>
              </a:rPr>
              <a:t>Interview Questions</a:t>
            </a:r>
            <a:endParaRPr lang="en-US" sz="1500" dirty="0"/>
          </a:p>
        </p:txBody>
      </p:sp>
      <p:sp>
        <p:nvSpPr>
          <p:cNvPr id="7" name="Shape 4"/>
          <p:cNvSpPr/>
          <p:nvPr/>
        </p:nvSpPr>
        <p:spPr>
          <a:xfrm>
            <a:off x="548640" y="1965960"/>
            <a:ext cx="6675120" cy="1170432"/>
          </a:xfrm>
          <a:prstGeom prst="roundRect">
            <a:avLst>
              <a:gd name="adj" fmla="val 5469"/>
            </a:avLst>
          </a:prstGeom>
          <a:solidFill>
            <a:srgbClr val="EEF4FA"/>
          </a:solidFill>
          <a:ln/>
        </p:spPr>
      </p:sp>
      <p:sp>
        <p:nvSpPr>
          <p:cNvPr id="8" name="Text 5"/>
          <p:cNvSpPr/>
          <p:nvPr/>
        </p:nvSpPr>
        <p:spPr>
          <a:xfrm>
            <a:off x="731520" y="2057400"/>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When would you use a tuple instead of a list?</a:t>
            </a:r>
            <a:endParaRPr lang="en-US" sz="1250" dirty="0"/>
          </a:p>
        </p:txBody>
      </p:sp>
      <p:sp>
        <p:nvSpPr>
          <p:cNvPr id="9" name="Text 6"/>
          <p:cNvSpPr/>
          <p:nvPr/>
        </p:nvSpPr>
        <p:spPr>
          <a:xfrm>
            <a:off x="731520" y="2441448"/>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When the data should never change — tuples are immutable and slightly faster.</a:t>
            </a:r>
            <a:endParaRPr lang="en-US" sz="1150" dirty="0"/>
          </a:p>
        </p:txBody>
      </p:sp>
      <p:sp>
        <p:nvSpPr>
          <p:cNvPr id="10" name="Shape 7"/>
          <p:cNvSpPr/>
          <p:nvPr/>
        </p:nvSpPr>
        <p:spPr>
          <a:xfrm>
            <a:off x="548640" y="3264408"/>
            <a:ext cx="6675120" cy="1170432"/>
          </a:xfrm>
          <a:prstGeom prst="roundRect">
            <a:avLst>
              <a:gd name="adj" fmla="val 5469"/>
            </a:avLst>
          </a:prstGeom>
          <a:solidFill>
            <a:srgbClr val="EEF4FA"/>
          </a:solidFill>
          <a:ln/>
        </p:spPr>
      </p:sp>
      <p:sp>
        <p:nvSpPr>
          <p:cNvPr id="11" name="Text 8"/>
          <p:cNvSpPr/>
          <p:nvPr/>
        </p:nvSpPr>
        <p:spPr>
          <a:xfrm>
            <a:off x="731520" y="3355848"/>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How does a set remove duplicates?</a:t>
            </a:r>
            <a:endParaRPr lang="en-US" sz="1250" dirty="0"/>
          </a:p>
        </p:txBody>
      </p:sp>
      <p:sp>
        <p:nvSpPr>
          <p:cNvPr id="12" name="Text 9"/>
          <p:cNvSpPr/>
          <p:nvPr/>
        </p:nvSpPr>
        <p:spPr>
          <a:xfrm>
            <a:off x="731520" y="3739896"/>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A set only stores unique elements by design; adding a duplicate has no effect.</a:t>
            </a:r>
            <a:endParaRPr lang="en-US" sz="1150" dirty="0"/>
          </a:p>
        </p:txBody>
      </p:sp>
      <p:sp>
        <p:nvSpPr>
          <p:cNvPr id="13" name="Shape 10"/>
          <p:cNvSpPr/>
          <p:nvPr/>
        </p:nvSpPr>
        <p:spPr>
          <a:xfrm>
            <a:off x="548640" y="4562856"/>
            <a:ext cx="6675120" cy="1170432"/>
          </a:xfrm>
          <a:prstGeom prst="roundRect">
            <a:avLst>
              <a:gd name="adj" fmla="val 5469"/>
            </a:avLst>
          </a:prstGeom>
          <a:solidFill>
            <a:srgbClr val="EEF4FA"/>
          </a:solidFill>
          <a:ln/>
        </p:spPr>
      </p:sp>
      <p:sp>
        <p:nvSpPr>
          <p:cNvPr id="14" name="Text 11"/>
          <p:cNvSpPr/>
          <p:nvPr/>
        </p:nvSpPr>
        <p:spPr>
          <a:xfrm>
            <a:off x="731520" y="4654296"/>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must a dictionary key be?</a:t>
            </a:r>
            <a:endParaRPr lang="en-US" sz="1250" dirty="0"/>
          </a:p>
        </p:txBody>
      </p:sp>
      <p:sp>
        <p:nvSpPr>
          <p:cNvPr id="15" name="Text 12"/>
          <p:cNvSpPr/>
          <p:nvPr/>
        </p:nvSpPr>
        <p:spPr>
          <a:xfrm>
            <a:off x="731520" y="5038344"/>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Unique and immutable (e.g. a string, number, or tuple).</a:t>
            </a:r>
            <a:endParaRPr lang="en-US" sz="1150" dirty="0"/>
          </a:p>
        </p:txBody>
      </p:sp>
      <p:sp>
        <p:nvSpPr>
          <p:cNvPr id="16" name="Shape 13"/>
          <p:cNvSpPr/>
          <p:nvPr/>
        </p:nvSpPr>
        <p:spPr>
          <a:xfrm>
            <a:off x="7452360" y="1417320"/>
            <a:ext cx="13716" cy="4709160"/>
          </a:xfrm>
          <a:prstGeom prst="rect">
            <a:avLst/>
          </a:prstGeom>
          <a:solidFill>
            <a:srgbClr val="DCE6F0"/>
          </a:solidFill>
          <a:ln/>
        </p:spPr>
      </p:sp>
      <p:sp>
        <p:nvSpPr>
          <p:cNvPr id="17" name="Shape 14"/>
          <p:cNvSpPr/>
          <p:nvPr/>
        </p:nvSpPr>
        <p:spPr>
          <a:xfrm>
            <a:off x="7680960" y="1463040"/>
            <a:ext cx="384048" cy="384048"/>
          </a:xfrm>
          <a:prstGeom prst="ellipse">
            <a:avLst/>
          </a:prstGeom>
          <a:solidFill>
            <a:srgbClr val="1E7D32"/>
          </a:solidFill>
          <a:ln/>
        </p:spPr>
      </p:sp>
      <p:pic>
        <p:nvPicPr>
          <p:cNvPr id="18" name="Image 1" descr="preencoded.png"/>
          <p:cNvPicPr>
            <a:picLocks noChangeAspect="1"/>
          </p:cNvPicPr>
          <p:nvPr/>
        </p:nvPicPr>
        <p:blipFill>
          <a:blip r:embed="rId4"/>
          <a:stretch>
            <a:fillRect/>
          </a:stretch>
        </p:blipFill>
        <p:spPr>
          <a:xfrm>
            <a:off x="7763256" y="1545336"/>
            <a:ext cx="219456" cy="219456"/>
          </a:xfrm>
          <a:prstGeom prst="rect">
            <a:avLst/>
          </a:prstGeom>
        </p:spPr>
      </p:pic>
      <p:sp>
        <p:nvSpPr>
          <p:cNvPr id="19" name="Text 15"/>
          <p:cNvSpPr/>
          <p:nvPr/>
        </p:nvSpPr>
        <p:spPr>
          <a:xfrm>
            <a:off x="8193024" y="1435608"/>
            <a:ext cx="3383280" cy="457200"/>
          </a:xfrm>
          <a:prstGeom prst="rect">
            <a:avLst/>
          </a:prstGeom>
          <a:noFill/>
          <a:ln/>
        </p:spPr>
        <p:txBody>
          <a:bodyPr wrap="square" lIns="0" tIns="0" rIns="0" bIns="0" rtlCol="0" anchor="ctr"/>
          <a:lstStyle/>
          <a:p>
            <a:pPr marL="0" indent="0">
              <a:buNone/>
            </a:pPr>
            <a:r>
              <a:rPr lang="en-US" sz="1500" b="1" dirty="0">
                <a:solidFill>
                  <a:srgbClr val="1B2733"/>
                </a:solidFill>
              </a:rPr>
              <a:t>Module Summary</a:t>
            </a:r>
            <a:endParaRPr lang="en-US" sz="1500" dirty="0"/>
          </a:p>
        </p:txBody>
      </p:sp>
      <p:sp>
        <p:nvSpPr>
          <p:cNvPr id="20" name="Text 16"/>
          <p:cNvSpPr/>
          <p:nvPr/>
        </p:nvSpPr>
        <p:spPr>
          <a:xfrm>
            <a:off x="7680960" y="2011680"/>
            <a:ext cx="3931920" cy="39319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00" dirty="0">
                <a:solidFill>
                  <a:srgbClr val="1B2733"/>
                </a:solidFill>
              </a:rPr>
              <a:t>List, Tuple, Set, and Dict each solve different problems</a:t>
            </a:r>
            <a:endParaRPr lang="en-US" sz="1300" dirty="0"/>
          </a:p>
          <a:p>
            <a:pPr marL="342900" indent="-342900">
              <a:lnSpc>
                <a:spcPct val="120000"/>
              </a:lnSpc>
              <a:spcAft>
                <a:spcPts val="1200"/>
              </a:spcAft>
              <a:buSzPct val="100000"/>
              <a:buChar char="✓"/>
            </a:pPr>
            <a:r>
              <a:rPr lang="en-US" sz="1300" dirty="0">
                <a:solidFill>
                  <a:srgbClr val="1B2733"/>
                </a:solidFill>
              </a:rPr>
              <a:t>Mutability &amp; ordering are the key differences</a:t>
            </a:r>
            <a:endParaRPr lang="en-US" sz="1300" dirty="0"/>
          </a:p>
          <a:p>
            <a:pPr marL="342900" indent="-342900">
              <a:lnSpc>
                <a:spcPct val="120000"/>
              </a:lnSpc>
              <a:spcAft>
                <a:spcPts val="1200"/>
              </a:spcAft>
              <a:buSzPct val="100000"/>
              <a:buChar char="✓"/>
            </a:pPr>
            <a:r>
              <a:rPr lang="en-US" sz="1300" dirty="0">
                <a:solidFill>
                  <a:srgbClr val="1B2733"/>
                </a:solidFill>
              </a:rPr>
              <a:t>Dictionaries map keys to values for fast lookup</a:t>
            </a:r>
            <a:endParaRPr lang="en-US" sz="1300" dirty="0"/>
          </a:p>
          <a:p>
            <a:pPr marL="342900" indent="-342900">
              <a:lnSpc>
                <a:spcPct val="120000"/>
              </a:lnSpc>
              <a:spcAft>
                <a:spcPts val="1200"/>
              </a:spcAft>
              <a:buSzPct val="100000"/>
              <a:buChar char="✓"/>
            </a:pPr>
            <a:r>
              <a:rPr lang="en-US" sz="1300" dirty="0">
                <a:solidFill>
                  <a:srgbClr val="1B2733"/>
                </a:solidFill>
              </a:rPr>
              <a:t>You built a Student Record System</a:t>
            </a:r>
            <a:endParaRPr lang="en-US" sz="1300" dirty="0"/>
          </a:p>
        </p:txBody>
      </p:sp>
      <p:sp>
        <p:nvSpPr>
          <p:cNvPr id="21"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45</a:t>
            </a:r>
            <a:endParaRPr lang="en-US" sz="1000" dirty="0"/>
          </a:p>
        </p:txBody>
      </p:sp>
      <p:sp>
        <p:nvSpPr>
          <p:cNvPr id="22"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1E5A96">
              <a:alpha val="45000"/>
            </a:srgbClr>
          </a:solidFill>
          <a:ln/>
        </p:spPr>
      </p:sp>
      <p:sp>
        <p:nvSpPr>
          <p:cNvPr id="3" name="Shape 1"/>
          <p:cNvSpPr/>
          <p:nvPr/>
        </p:nvSpPr>
        <p:spPr>
          <a:xfrm>
            <a:off x="731520" y="914400"/>
            <a:ext cx="1554480" cy="365760"/>
          </a:xfrm>
          <a:prstGeom prst="roundRect">
            <a:avLst>
              <a:gd name="adj" fmla="val 50000"/>
            </a:avLst>
          </a:prstGeom>
          <a:solidFill>
            <a:srgbClr val="1D3A5C"/>
          </a:solidFill>
          <a:ln/>
        </p:spPr>
      </p:sp>
      <p:sp>
        <p:nvSpPr>
          <p:cNvPr id="4" name="Text 2"/>
          <p:cNvSpPr/>
          <p:nvPr/>
        </p:nvSpPr>
        <p:spPr>
          <a:xfrm>
            <a:off x="731520" y="914400"/>
            <a:ext cx="1554480" cy="365760"/>
          </a:xfrm>
          <a:prstGeom prst="rect">
            <a:avLst/>
          </a:prstGeom>
          <a:noFill/>
          <a:ln/>
        </p:spPr>
        <p:txBody>
          <a:bodyPr wrap="square" lIns="0" tIns="0" rIns="0" bIns="0" rtlCol="0" anchor="ctr"/>
          <a:lstStyle/>
          <a:p>
            <a:pPr marL="0" indent="0" algn="ctr">
              <a:buNone/>
            </a:pPr>
            <a:r>
              <a:rPr lang="en-US" sz="1100" b="1" dirty="0">
                <a:solidFill>
                  <a:srgbClr val="F2A93B"/>
                </a:solidFill>
              </a:rPr>
              <a:t>MODULE 7 OF 9</a:t>
            </a:r>
            <a:endParaRPr lang="en-US" sz="1100" dirty="0"/>
          </a:p>
        </p:txBody>
      </p:sp>
      <p:sp>
        <p:nvSpPr>
          <p:cNvPr id="5" name="Shape 3"/>
          <p:cNvSpPr/>
          <p:nvPr/>
        </p:nvSpPr>
        <p:spPr>
          <a:xfrm>
            <a:off x="731520" y="1508760"/>
            <a:ext cx="960120" cy="960120"/>
          </a:xfrm>
          <a:prstGeom prst="roundRect">
            <a:avLst>
              <a:gd name="adj" fmla="val 19048"/>
            </a:avLst>
          </a:prstGeom>
          <a:solidFill>
            <a:srgbClr val="1E5A96"/>
          </a:solidFill>
          <a:ln/>
        </p:spPr>
      </p:sp>
      <p:pic>
        <p:nvPicPr>
          <p:cNvPr id="6" name="Image 0" descr="preencoded.png"/>
          <p:cNvPicPr>
            <a:picLocks noChangeAspect="1"/>
          </p:cNvPicPr>
          <p:nvPr/>
        </p:nvPicPr>
        <p:blipFill>
          <a:blip r:embed="rId3"/>
          <a:stretch>
            <a:fillRect/>
          </a:stretch>
        </p:blipFill>
        <p:spPr>
          <a:xfrm>
            <a:off x="960120" y="1737360"/>
            <a:ext cx="502920" cy="502920"/>
          </a:xfrm>
          <a:prstGeom prst="rect">
            <a:avLst/>
          </a:prstGeom>
        </p:spPr>
      </p:pic>
      <p:sp>
        <p:nvSpPr>
          <p:cNvPr id="7" name="Text 4"/>
          <p:cNvSpPr/>
          <p:nvPr/>
        </p:nvSpPr>
        <p:spPr>
          <a:xfrm>
            <a:off x="1874520" y="1463040"/>
            <a:ext cx="91440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Functions</a:t>
            </a:r>
            <a:endParaRPr lang="en-US" sz="3200" dirty="0"/>
          </a:p>
        </p:txBody>
      </p:sp>
      <p:sp>
        <p:nvSpPr>
          <p:cNvPr id="8" name="Shape 5"/>
          <p:cNvSpPr/>
          <p:nvPr/>
        </p:nvSpPr>
        <p:spPr>
          <a:xfrm>
            <a:off x="1874520" y="2514600"/>
            <a:ext cx="1417320" cy="594360"/>
          </a:xfrm>
          <a:prstGeom prst="roundRect">
            <a:avLst>
              <a:gd name="adj" fmla="val 12308"/>
            </a:avLst>
          </a:prstGeom>
          <a:solidFill>
            <a:srgbClr val="1D3A5C"/>
          </a:solidFill>
          <a:ln w="12700">
            <a:solidFill>
              <a:srgbClr val="1E5A96"/>
            </a:solidFill>
            <a:prstDash val="solid"/>
          </a:ln>
        </p:spPr>
      </p:sp>
      <p:sp>
        <p:nvSpPr>
          <p:cNvPr id="9" name="Text 6"/>
          <p:cNvSpPr/>
          <p:nvPr/>
        </p:nvSpPr>
        <p:spPr>
          <a:xfrm>
            <a:off x="187452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0" name="Text 7"/>
          <p:cNvSpPr/>
          <p:nvPr/>
        </p:nvSpPr>
        <p:spPr>
          <a:xfrm>
            <a:off x="187452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Theory</a:t>
            </a:r>
            <a:endParaRPr lang="en-US" sz="900" dirty="0"/>
          </a:p>
        </p:txBody>
      </p:sp>
      <p:sp>
        <p:nvSpPr>
          <p:cNvPr id="11" name="Shape 8"/>
          <p:cNvSpPr/>
          <p:nvPr/>
        </p:nvSpPr>
        <p:spPr>
          <a:xfrm>
            <a:off x="3429000" y="2514600"/>
            <a:ext cx="1417320" cy="594360"/>
          </a:xfrm>
          <a:prstGeom prst="roundRect">
            <a:avLst>
              <a:gd name="adj" fmla="val 12308"/>
            </a:avLst>
          </a:prstGeom>
          <a:solidFill>
            <a:srgbClr val="1D3A5C"/>
          </a:solidFill>
          <a:ln w="12700">
            <a:solidFill>
              <a:srgbClr val="1E5A96"/>
            </a:solidFill>
            <a:prstDash val="solid"/>
          </a:ln>
        </p:spPr>
      </p:sp>
      <p:sp>
        <p:nvSpPr>
          <p:cNvPr id="12" name="Text 9"/>
          <p:cNvSpPr/>
          <p:nvPr/>
        </p:nvSpPr>
        <p:spPr>
          <a:xfrm>
            <a:off x="342900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3" name="Text 10"/>
          <p:cNvSpPr/>
          <p:nvPr/>
        </p:nvSpPr>
        <p:spPr>
          <a:xfrm>
            <a:off x="342900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Practical</a:t>
            </a:r>
            <a:endParaRPr lang="en-US" sz="900" dirty="0"/>
          </a:p>
        </p:txBody>
      </p:sp>
      <p:sp>
        <p:nvSpPr>
          <p:cNvPr id="14" name="Shape 11"/>
          <p:cNvSpPr/>
          <p:nvPr/>
        </p:nvSpPr>
        <p:spPr>
          <a:xfrm>
            <a:off x="4983480" y="2514600"/>
            <a:ext cx="1417320" cy="594360"/>
          </a:xfrm>
          <a:prstGeom prst="roundRect">
            <a:avLst>
              <a:gd name="adj" fmla="val 12308"/>
            </a:avLst>
          </a:prstGeom>
          <a:solidFill>
            <a:srgbClr val="1D3A5C"/>
          </a:solidFill>
          <a:ln w="12700">
            <a:solidFill>
              <a:srgbClr val="1E5A96"/>
            </a:solidFill>
            <a:prstDash val="solid"/>
          </a:ln>
        </p:spPr>
      </p:sp>
      <p:sp>
        <p:nvSpPr>
          <p:cNvPr id="15" name="Text 12"/>
          <p:cNvSpPr/>
          <p:nvPr/>
        </p:nvSpPr>
        <p:spPr>
          <a:xfrm>
            <a:off x="498348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3 hrs</a:t>
            </a:r>
            <a:endParaRPr lang="en-US" sz="1500" dirty="0"/>
          </a:p>
        </p:txBody>
      </p:sp>
      <p:sp>
        <p:nvSpPr>
          <p:cNvPr id="16" name="Text 13"/>
          <p:cNvSpPr/>
          <p:nvPr/>
        </p:nvSpPr>
        <p:spPr>
          <a:xfrm>
            <a:off x="498348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Total</a:t>
            </a:r>
            <a:endParaRPr lang="en-US" sz="900" dirty="0"/>
          </a:p>
        </p:txBody>
      </p:sp>
      <p:sp>
        <p:nvSpPr>
          <p:cNvPr id="17" name="Text 14"/>
          <p:cNvSpPr/>
          <p:nvPr/>
        </p:nvSpPr>
        <p:spPr>
          <a:xfrm>
            <a:off x="731520" y="3566160"/>
            <a:ext cx="5486400" cy="274320"/>
          </a:xfrm>
          <a:prstGeom prst="rect">
            <a:avLst/>
          </a:prstGeom>
          <a:noFill/>
          <a:ln/>
        </p:spPr>
        <p:txBody>
          <a:bodyPr wrap="square" lIns="0" tIns="0" rIns="0" bIns="0" rtlCol="0" anchor="ctr"/>
          <a:lstStyle/>
          <a:p>
            <a:pPr marL="0" indent="0">
              <a:buNone/>
            </a:pPr>
            <a:r>
              <a:rPr lang="en-US" sz="1150" b="1" kern="0" spc="150" dirty="0">
                <a:solidFill>
                  <a:srgbClr val="F2A93B"/>
                </a:solidFill>
              </a:rPr>
              <a:t>TOPICS COVERED</a:t>
            </a:r>
            <a:endParaRPr lang="en-US" sz="1150" dirty="0"/>
          </a:p>
        </p:txBody>
      </p:sp>
      <p:sp>
        <p:nvSpPr>
          <p:cNvPr id="18" name="Shape 15"/>
          <p:cNvSpPr/>
          <p:nvPr/>
        </p:nvSpPr>
        <p:spPr>
          <a:xfrm>
            <a:off x="731520" y="4005072"/>
            <a:ext cx="91440" cy="91440"/>
          </a:xfrm>
          <a:prstGeom prst="ellipse">
            <a:avLst/>
          </a:prstGeom>
          <a:solidFill>
            <a:srgbClr val="F2A93B"/>
          </a:solidFill>
          <a:ln/>
        </p:spPr>
      </p:sp>
      <p:sp>
        <p:nvSpPr>
          <p:cNvPr id="19" name="Text 16"/>
          <p:cNvSpPr/>
          <p:nvPr/>
        </p:nvSpPr>
        <p:spPr>
          <a:xfrm>
            <a:off x="100584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Function Definition</a:t>
            </a:r>
            <a:endParaRPr lang="en-US" sz="1300" dirty="0"/>
          </a:p>
        </p:txBody>
      </p:sp>
      <p:sp>
        <p:nvSpPr>
          <p:cNvPr id="20" name="Shape 17"/>
          <p:cNvSpPr/>
          <p:nvPr/>
        </p:nvSpPr>
        <p:spPr>
          <a:xfrm>
            <a:off x="5943600" y="4005072"/>
            <a:ext cx="91440" cy="91440"/>
          </a:xfrm>
          <a:prstGeom prst="ellipse">
            <a:avLst/>
          </a:prstGeom>
          <a:solidFill>
            <a:srgbClr val="F2A93B"/>
          </a:solidFill>
          <a:ln/>
        </p:spPr>
      </p:sp>
      <p:sp>
        <p:nvSpPr>
          <p:cNvPr id="21" name="Text 18"/>
          <p:cNvSpPr/>
          <p:nvPr/>
        </p:nvSpPr>
        <p:spPr>
          <a:xfrm>
            <a:off x="621792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Arguments</a:t>
            </a:r>
            <a:endParaRPr lang="en-US" sz="1300" dirty="0"/>
          </a:p>
        </p:txBody>
      </p:sp>
      <p:sp>
        <p:nvSpPr>
          <p:cNvPr id="22" name="Shape 19"/>
          <p:cNvSpPr/>
          <p:nvPr/>
        </p:nvSpPr>
        <p:spPr>
          <a:xfrm>
            <a:off x="731520" y="4462272"/>
            <a:ext cx="91440" cy="91440"/>
          </a:xfrm>
          <a:prstGeom prst="ellipse">
            <a:avLst/>
          </a:prstGeom>
          <a:solidFill>
            <a:srgbClr val="F2A93B"/>
          </a:solidFill>
          <a:ln/>
        </p:spPr>
      </p:sp>
      <p:sp>
        <p:nvSpPr>
          <p:cNvPr id="23" name="Text 20"/>
          <p:cNvSpPr/>
          <p:nvPr/>
        </p:nvSpPr>
        <p:spPr>
          <a:xfrm>
            <a:off x="100584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Return Statement</a:t>
            </a:r>
            <a:endParaRPr lang="en-US" sz="1300" dirty="0"/>
          </a:p>
        </p:txBody>
      </p:sp>
      <p:sp>
        <p:nvSpPr>
          <p:cNvPr id="24" name="Shape 21"/>
          <p:cNvSpPr/>
          <p:nvPr/>
        </p:nvSpPr>
        <p:spPr>
          <a:xfrm>
            <a:off x="5943600" y="4462272"/>
            <a:ext cx="91440" cy="91440"/>
          </a:xfrm>
          <a:prstGeom prst="ellipse">
            <a:avLst/>
          </a:prstGeom>
          <a:solidFill>
            <a:srgbClr val="F2A93B"/>
          </a:solidFill>
          <a:ln/>
        </p:spPr>
      </p:sp>
      <p:sp>
        <p:nvSpPr>
          <p:cNvPr id="25" name="Text 22"/>
          <p:cNvSpPr/>
          <p:nvPr/>
        </p:nvSpPr>
        <p:spPr>
          <a:xfrm>
            <a:off x="621792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Lambda Functions</a:t>
            </a:r>
            <a:endParaRPr lang="en-US" sz="1300" dirty="0"/>
          </a:p>
        </p:txBody>
      </p:sp>
      <p:sp>
        <p:nvSpPr>
          <p:cNvPr id="27" name="Text 23"/>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46</a:t>
            </a:r>
            <a:endParaRPr lang="en-US" sz="1000" dirty="0"/>
          </a:p>
        </p:txBody>
      </p:sp>
      <p:sp>
        <p:nvSpPr>
          <p:cNvPr id="28" name="Text 24"/>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7 — FUNCTIONS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Learning Objectives &amp; Theory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846320" cy="457200"/>
          </a:xfrm>
          <a:prstGeom prst="rect">
            <a:avLst/>
          </a:prstGeom>
          <a:noFill/>
          <a:ln/>
        </p:spPr>
        <p:txBody>
          <a:bodyPr wrap="square" lIns="0" tIns="0" rIns="0" bIns="0" rtlCol="0" anchor="ctr"/>
          <a:lstStyle/>
          <a:p>
            <a:pPr marL="0" indent="0">
              <a:buNone/>
            </a:pPr>
            <a:r>
              <a:rPr lang="en-US" sz="1500" b="1" dirty="0">
                <a:solidFill>
                  <a:srgbClr val="1B2733"/>
                </a:solidFill>
              </a:rPr>
              <a:t>Learning Objectives</a:t>
            </a:r>
            <a:endParaRPr lang="en-US" sz="1500" dirty="0"/>
          </a:p>
        </p:txBody>
      </p:sp>
      <p:sp>
        <p:nvSpPr>
          <p:cNvPr id="7" name="Text 4"/>
          <p:cNvSpPr/>
          <p:nvPr/>
        </p:nvSpPr>
        <p:spPr>
          <a:xfrm>
            <a:off x="548640" y="2011680"/>
            <a:ext cx="539496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Understand why functions improve reusability &amp; modularity</a:t>
            </a:r>
            <a:endParaRPr lang="en-US" sz="1300" dirty="0"/>
          </a:p>
          <a:p>
            <a:pPr marL="342900" indent="-342900">
              <a:lnSpc>
                <a:spcPct val="115000"/>
              </a:lnSpc>
              <a:spcAft>
                <a:spcPts val="1000"/>
              </a:spcAft>
              <a:buSzPct val="100000"/>
              <a:buChar char="●"/>
            </a:pPr>
            <a:r>
              <a:rPr lang="en-US" sz="1300" dirty="0">
                <a:solidFill>
                  <a:srgbClr val="1B2733"/>
                </a:solidFill>
              </a:rPr>
              <a:t>Define functions with parameters and return values</a:t>
            </a:r>
            <a:endParaRPr lang="en-US" sz="1300" dirty="0"/>
          </a:p>
          <a:p>
            <a:pPr marL="342900" indent="-342900">
              <a:lnSpc>
                <a:spcPct val="115000"/>
              </a:lnSpc>
              <a:spcAft>
                <a:spcPts val="1000"/>
              </a:spcAft>
              <a:buSzPct val="100000"/>
              <a:buChar char="●"/>
            </a:pPr>
            <a:r>
              <a:rPr lang="en-US" sz="1300" dirty="0">
                <a:solidFill>
                  <a:srgbClr val="1B2733"/>
                </a:solidFill>
              </a:rPr>
              <a:t>Understand local vs global scope</a:t>
            </a:r>
            <a:endParaRPr lang="en-US" sz="1300" dirty="0"/>
          </a:p>
          <a:p>
            <a:pPr marL="342900" indent="-342900">
              <a:lnSpc>
                <a:spcPct val="115000"/>
              </a:lnSpc>
              <a:spcAft>
                <a:spcPts val="1000"/>
              </a:spcAft>
              <a:buSzPct val="100000"/>
              <a:buChar char="●"/>
            </a:pPr>
            <a:r>
              <a:rPr lang="en-US" sz="1300" dirty="0">
                <a:solidFill>
                  <a:srgbClr val="1B2733"/>
                </a:solidFill>
              </a:rPr>
              <a:t>Write short lambda functions for simple operations</a:t>
            </a:r>
            <a:endParaRPr lang="en-US" sz="1300" dirty="0"/>
          </a:p>
        </p:txBody>
      </p:sp>
      <p:sp>
        <p:nvSpPr>
          <p:cNvPr id="8" name="Shape 5"/>
          <p:cNvSpPr/>
          <p:nvPr/>
        </p:nvSpPr>
        <p:spPr>
          <a:xfrm>
            <a:off x="6172200" y="1417320"/>
            <a:ext cx="13716" cy="4663440"/>
          </a:xfrm>
          <a:prstGeom prst="rect">
            <a:avLst/>
          </a:prstGeom>
          <a:solidFill>
            <a:srgbClr val="DCE6F0"/>
          </a:solidFill>
          <a:ln/>
        </p:spPr>
      </p:sp>
      <p:sp>
        <p:nvSpPr>
          <p:cNvPr id="9" name="Shape 6"/>
          <p:cNvSpPr/>
          <p:nvPr/>
        </p:nvSpPr>
        <p:spPr>
          <a:xfrm>
            <a:off x="6400800" y="1463040"/>
            <a:ext cx="384048" cy="384048"/>
          </a:xfrm>
          <a:prstGeom prst="ellipse">
            <a:avLst/>
          </a:prstGeom>
          <a:solidFill>
            <a:srgbClr val="1E5A96"/>
          </a:solidFill>
          <a:ln/>
        </p:spPr>
      </p:sp>
      <p:pic>
        <p:nvPicPr>
          <p:cNvPr id="10" name="Image 1" descr="preencoded.png"/>
          <p:cNvPicPr>
            <a:picLocks noChangeAspect="1"/>
          </p:cNvPicPr>
          <p:nvPr/>
        </p:nvPicPr>
        <p:blipFill>
          <a:blip r:embed="rId4"/>
          <a:stretch>
            <a:fillRect/>
          </a:stretch>
        </p:blipFill>
        <p:spPr>
          <a:xfrm>
            <a:off x="6483096" y="1545336"/>
            <a:ext cx="219456" cy="219456"/>
          </a:xfrm>
          <a:prstGeom prst="rect">
            <a:avLst/>
          </a:prstGeom>
        </p:spPr>
      </p:pic>
      <p:sp>
        <p:nvSpPr>
          <p:cNvPr id="11" name="Text 7"/>
          <p:cNvSpPr/>
          <p:nvPr/>
        </p:nvSpPr>
        <p:spPr>
          <a:xfrm>
            <a:off x="6912864" y="1435608"/>
            <a:ext cx="4663440" cy="457200"/>
          </a:xfrm>
          <a:prstGeom prst="rect">
            <a:avLst/>
          </a:prstGeom>
          <a:noFill/>
          <a:ln/>
        </p:spPr>
        <p:txBody>
          <a:bodyPr wrap="square" lIns="0" tIns="0" rIns="0" bIns="0" rtlCol="0" anchor="ctr"/>
          <a:lstStyle/>
          <a:p>
            <a:pPr marL="0" indent="0">
              <a:buNone/>
            </a:pPr>
            <a:r>
              <a:rPr lang="en-US" sz="1500" b="1" dirty="0">
                <a:solidFill>
                  <a:srgbClr val="1B2733"/>
                </a:solidFill>
              </a:rPr>
              <a:t>Theory Explanation</a:t>
            </a:r>
            <a:endParaRPr lang="en-US" sz="1500" dirty="0"/>
          </a:p>
        </p:txBody>
      </p:sp>
      <p:sp>
        <p:nvSpPr>
          <p:cNvPr id="12" name="Text 8"/>
          <p:cNvSpPr/>
          <p:nvPr/>
        </p:nvSpPr>
        <p:spPr>
          <a:xfrm>
            <a:off x="6400800" y="2011680"/>
            <a:ext cx="521208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A function is a named, reusable block of code</a:t>
            </a:r>
            <a:endParaRPr lang="en-US" sz="1300" dirty="0"/>
          </a:p>
          <a:p>
            <a:pPr marL="342900" indent="-342900">
              <a:lnSpc>
                <a:spcPct val="115000"/>
              </a:lnSpc>
              <a:spcAft>
                <a:spcPts val="1000"/>
              </a:spcAft>
              <a:buSzPct val="100000"/>
              <a:buChar char="●"/>
            </a:pPr>
            <a:r>
              <a:rPr lang="en-US" sz="1300" dirty="0">
                <a:solidFill>
                  <a:srgbClr val="1B2733"/>
                </a:solidFill>
              </a:rPr>
              <a:t>Parameters pass data in; return sends a result out</a:t>
            </a:r>
            <a:endParaRPr lang="en-US" sz="1300" dirty="0"/>
          </a:p>
          <a:p>
            <a:pPr marL="342900" indent="-342900">
              <a:lnSpc>
                <a:spcPct val="115000"/>
              </a:lnSpc>
              <a:spcAft>
                <a:spcPts val="1000"/>
              </a:spcAft>
              <a:buSzPct val="100000"/>
              <a:buChar char="●"/>
            </a:pPr>
            <a:r>
              <a:rPr lang="en-US" sz="1300" dirty="0">
                <a:solidFill>
                  <a:srgbClr val="1B2733"/>
                </a:solidFill>
              </a:rPr>
              <a:t>Local variables exist only inside the function; global variables exist everywhere</a:t>
            </a:r>
            <a:endParaRPr lang="en-US" sz="1300" dirty="0"/>
          </a:p>
          <a:p>
            <a:pPr marL="342900" indent="-342900">
              <a:lnSpc>
                <a:spcPct val="115000"/>
              </a:lnSpc>
              <a:spcAft>
                <a:spcPts val="1000"/>
              </a:spcAft>
              <a:buSzPct val="100000"/>
              <a:buChar char="●"/>
            </a:pPr>
            <a:r>
              <a:rPr lang="en-US" sz="1300" dirty="0">
                <a:solidFill>
                  <a:srgbClr val="1B2733"/>
                </a:solidFill>
              </a:rPr>
              <a:t>lambda creates small, unnamed functions for one-line operations</a:t>
            </a:r>
            <a:endParaRPr lang="en-US" sz="1300" dirty="0"/>
          </a:p>
        </p:txBody>
      </p:sp>
      <p:sp>
        <p:nvSpPr>
          <p:cNvPr id="13" name="Text 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47</a:t>
            </a:r>
            <a:endParaRPr lang="en-US" sz="10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7 — FUNCTIONS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Concept Diagram</a:t>
            </a:r>
            <a:endParaRPr lang="en-US" sz="2700" dirty="0"/>
          </a:p>
        </p:txBody>
      </p:sp>
      <p:sp>
        <p:nvSpPr>
          <p:cNvPr id="4" name="Shape 2"/>
          <p:cNvSpPr/>
          <p:nvPr/>
        </p:nvSpPr>
        <p:spPr>
          <a:xfrm>
            <a:off x="457200" y="1417320"/>
            <a:ext cx="11247120" cy="4663440"/>
          </a:xfrm>
          <a:prstGeom prst="roundRect">
            <a:avLst>
              <a:gd name="adj" fmla="val 1961"/>
            </a:avLst>
          </a:prstGeom>
          <a:solidFill>
            <a:srgbClr val="EEF4FA"/>
          </a:solidFill>
          <a:ln/>
        </p:spPr>
      </p:sp>
      <p:sp>
        <p:nvSpPr>
          <p:cNvPr id="5" name="Shape 3"/>
          <p:cNvSpPr/>
          <p:nvPr/>
        </p:nvSpPr>
        <p:spPr>
          <a:xfrm>
            <a:off x="1005840" y="3291840"/>
            <a:ext cx="2011680" cy="914400"/>
          </a:xfrm>
          <a:prstGeom prst="roundRect">
            <a:avLst>
              <a:gd name="adj" fmla="val 7000"/>
            </a:avLst>
          </a:prstGeom>
          <a:solidFill>
            <a:srgbClr val="132A46"/>
          </a:solidFill>
          <a:ln/>
        </p:spPr>
      </p:sp>
      <p:sp>
        <p:nvSpPr>
          <p:cNvPr id="6" name="Text 4"/>
          <p:cNvSpPr/>
          <p:nvPr/>
        </p:nvSpPr>
        <p:spPr>
          <a:xfrm>
            <a:off x="1097280" y="3291840"/>
            <a:ext cx="1828800" cy="914400"/>
          </a:xfrm>
          <a:prstGeom prst="rect">
            <a:avLst/>
          </a:prstGeom>
          <a:noFill/>
          <a:ln/>
        </p:spPr>
        <p:txBody>
          <a:bodyPr wrap="square" lIns="0" tIns="0" rIns="0" bIns="0" rtlCol="0" anchor="ctr"/>
          <a:lstStyle/>
          <a:p>
            <a:pPr marL="0" indent="0" algn="ctr">
              <a:buNone/>
            </a:pPr>
            <a:r>
              <a:rPr lang="en-US" sz="1150" b="1" dirty="0">
                <a:solidFill>
                  <a:srgbClr val="FFFFFF"/>
                </a:solidFill>
              </a:rPr>
              <a:t>Input</a:t>
            </a:r>
            <a:endParaRPr lang="en-US" sz="1150" dirty="0"/>
          </a:p>
          <a:p>
            <a:pPr marL="0" indent="0" algn="ctr">
              <a:buNone/>
            </a:pPr>
            <a:r>
              <a:rPr lang="en-US" sz="1150" b="1" dirty="0">
                <a:solidFill>
                  <a:srgbClr val="FFFFFF"/>
                </a:solidFill>
              </a:rPr>
              <a:t>(arguments)</a:t>
            </a:r>
            <a:endParaRPr lang="en-US" sz="1150" dirty="0"/>
          </a:p>
        </p:txBody>
      </p:sp>
      <p:sp>
        <p:nvSpPr>
          <p:cNvPr id="7" name="Shape 5"/>
          <p:cNvSpPr/>
          <p:nvPr/>
        </p:nvSpPr>
        <p:spPr>
          <a:xfrm>
            <a:off x="3017520" y="3749040"/>
            <a:ext cx="1097280" cy="0"/>
          </a:xfrm>
          <a:prstGeom prst="line">
            <a:avLst/>
          </a:prstGeom>
          <a:noFill/>
          <a:ln w="25400">
            <a:solidFill>
              <a:srgbClr val="5C6B7A"/>
            </a:solidFill>
            <a:prstDash val="solid"/>
            <a:tailEnd type="triangle"/>
          </a:ln>
        </p:spPr>
      </p:sp>
      <p:sp>
        <p:nvSpPr>
          <p:cNvPr id="8" name="Shape 6"/>
          <p:cNvSpPr/>
          <p:nvPr/>
        </p:nvSpPr>
        <p:spPr>
          <a:xfrm>
            <a:off x="4892040" y="3154680"/>
            <a:ext cx="2377440" cy="1188720"/>
          </a:xfrm>
          <a:prstGeom prst="roundRect">
            <a:avLst>
              <a:gd name="adj" fmla="val 5385"/>
            </a:avLst>
          </a:prstGeom>
          <a:solidFill>
            <a:srgbClr val="1E5A96"/>
          </a:solidFill>
          <a:ln/>
        </p:spPr>
      </p:sp>
      <p:sp>
        <p:nvSpPr>
          <p:cNvPr id="9" name="Text 7"/>
          <p:cNvSpPr/>
          <p:nvPr/>
        </p:nvSpPr>
        <p:spPr>
          <a:xfrm>
            <a:off x="4983480" y="3154680"/>
            <a:ext cx="2194560" cy="1188720"/>
          </a:xfrm>
          <a:prstGeom prst="rect">
            <a:avLst/>
          </a:prstGeom>
          <a:noFill/>
          <a:ln/>
        </p:spPr>
        <p:txBody>
          <a:bodyPr wrap="square" lIns="0" tIns="0" rIns="0" bIns="0" rtlCol="0" anchor="ctr"/>
          <a:lstStyle/>
          <a:p>
            <a:pPr marL="0" indent="0" algn="ctr">
              <a:buNone/>
            </a:pPr>
            <a:r>
              <a:rPr lang="en-US" sz="1150" b="1" dirty="0">
                <a:solidFill>
                  <a:srgbClr val="FFFFFF"/>
                </a:solidFill>
              </a:rPr>
              <a:t>Function</a:t>
            </a:r>
            <a:endParaRPr lang="en-US" sz="1150" dirty="0"/>
          </a:p>
          <a:p>
            <a:pPr marL="0" indent="0" algn="ctr">
              <a:buNone/>
            </a:pPr>
            <a:r>
              <a:rPr lang="en-US" sz="1150" b="1" dirty="0">
                <a:solidFill>
                  <a:srgbClr val="FFFFFF"/>
                </a:solidFill>
              </a:rPr>
              <a:t>greet(name)</a:t>
            </a:r>
            <a:endParaRPr lang="en-US" sz="1150" dirty="0"/>
          </a:p>
        </p:txBody>
      </p:sp>
      <p:sp>
        <p:nvSpPr>
          <p:cNvPr id="10" name="Shape 8"/>
          <p:cNvSpPr/>
          <p:nvPr/>
        </p:nvSpPr>
        <p:spPr>
          <a:xfrm>
            <a:off x="7269480" y="3749040"/>
            <a:ext cx="1783080" cy="0"/>
          </a:xfrm>
          <a:prstGeom prst="line">
            <a:avLst/>
          </a:prstGeom>
          <a:noFill/>
          <a:ln w="25400">
            <a:solidFill>
              <a:srgbClr val="5C6B7A"/>
            </a:solidFill>
            <a:prstDash val="solid"/>
            <a:tailEnd type="triangle"/>
          </a:ln>
        </p:spPr>
      </p:sp>
      <p:sp>
        <p:nvSpPr>
          <p:cNvPr id="11" name="Shape 9"/>
          <p:cNvSpPr/>
          <p:nvPr/>
        </p:nvSpPr>
        <p:spPr>
          <a:xfrm>
            <a:off x="9144000" y="3291840"/>
            <a:ext cx="2011680" cy="914400"/>
          </a:xfrm>
          <a:prstGeom prst="roundRect">
            <a:avLst>
              <a:gd name="adj" fmla="val 7000"/>
            </a:avLst>
          </a:prstGeom>
          <a:solidFill>
            <a:srgbClr val="F2A93B"/>
          </a:solidFill>
          <a:ln/>
        </p:spPr>
      </p:sp>
      <p:sp>
        <p:nvSpPr>
          <p:cNvPr id="12" name="Text 10"/>
          <p:cNvSpPr/>
          <p:nvPr/>
        </p:nvSpPr>
        <p:spPr>
          <a:xfrm>
            <a:off x="9235440" y="3291840"/>
            <a:ext cx="1828800" cy="914400"/>
          </a:xfrm>
          <a:prstGeom prst="rect">
            <a:avLst/>
          </a:prstGeom>
          <a:noFill/>
          <a:ln/>
        </p:spPr>
        <p:txBody>
          <a:bodyPr wrap="square" lIns="0" tIns="0" rIns="0" bIns="0" rtlCol="0" anchor="ctr"/>
          <a:lstStyle/>
          <a:p>
            <a:pPr marL="0" indent="0" algn="ctr">
              <a:buNone/>
            </a:pPr>
            <a:r>
              <a:rPr lang="en-US" sz="1150" b="1" dirty="0">
                <a:solidFill>
                  <a:srgbClr val="1B2733"/>
                </a:solidFill>
              </a:rPr>
              <a:t>Output</a:t>
            </a:r>
            <a:endParaRPr lang="en-US" sz="1150" dirty="0"/>
          </a:p>
          <a:p>
            <a:pPr marL="0" indent="0" algn="ctr">
              <a:buNone/>
            </a:pPr>
            <a:r>
              <a:rPr lang="en-US" sz="1150" b="1" dirty="0">
                <a:solidFill>
                  <a:srgbClr val="1B2733"/>
                </a:solidFill>
              </a:rPr>
              <a:t>(return value)</a:t>
            </a:r>
            <a:endParaRPr lang="en-US" sz="1150" dirty="0"/>
          </a:p>
        </p:txBody>
      </p:sp>
      <p:sp>
        <p:nvSpPr>
          <p:cNvPr id="13" name="Text 11"/>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48</a:t>
            </a:r>
            <a:endParaRPr lang="en-US" sz="1000" dirty="0"/>
          </a:p>
        </p:txBody>
      </p:sp>
      <p:sp>
        <p:nvSpPr>
          <p:cNvPr id="14" name="Text 12"/>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7 — FUNCTIONS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Where This Is Used</a:t>
            </a:r>
            <a:endParaRPr lang="en-US" sz="2700" dirty="0"/>
          </a:p>
        </p:txBody>
      </p:sp>
      <p:sp>
        <p:nvSpPr>
          <p:cNvPr id="4" name="Shape 2"/>
          <p:cNvSpPr/>
          <p:nvPr/>
        </p:nvSpPr>
        <p:spPr>
          <a:xfrm>
            <a:off x="548640" y="1645920"/>
            <a:ext cx="3505200" cy="3566160"/>
          </a:xfrm>
          <a:prstGeom prst="roundRect">
            <a:avLst>
              <a:gd name="adj" fmla="val 2609"/>
            </a:avLst>
          </a:prstGeom>
          <a:solidFill>
            <a:srgbClr val="1E5A96"/>
          </a:solidFill>
          <a:ln/>
        </p:spPr>
      </p:sp>
      <p:sp>
        <p:nvSpPr>
          <p:cNvPr id="5" name="Shape 3"/>
          <p:cNvSpPr/>
          <p:nvPr/>
        </p:nvSpPr>
        <p:spPr>
          <a:xfrm>
            <a:off x="1981200" y="1965960"/>
            <a:ext cx="640080" cy="640080"/>
          </a:xfrm>
          <a:prstGeom prst="ellipse">
            <a:avLst/>
          </a:prstGeom>
          <a:solidFill>
            <a:srgbClr val="FFFFFF">
              <a:alpha val="88000"/>
            </a:srgbClr>
          </a:solidFill>
          <a:ln/>
        </p:spPr>
      </p:sp>
      <p:pic>
        <p:nvPicPr>
          <p:cNvPr id="6" name="Image 0" descr="preencoded.png"/>
          <p:cNvPicPr>
            <a:picLocks noChangeAspect="1"/>
          </p:cNvPicPr>
          <p:nvPr/>
        </p:nvPicPr>
        <p:blipFill>
          <a:blip r:embed="rId3"/>
          <a:stretch>
            <a:fillRect/>
          </a:stretch>
        </p:blipFill>
        <p:spPr>
          <a:xfrm>
            <a:off x="2118360" y="2103120"/>
            <a:ext cx="365760" cy="365760"/>
          </a:xfrm>
          <a:prstGeom prst="rect">
            <a:avLst/>
          </a:prstGeom>
        </p:spPr>
      </p:pic>
      <p:sp>
        <p:nvSpPr>
          <p:cNvPr id="7" name="Text 4"/>
          <p:cNvSpPr/>
          <p:nvPr/>
        </p:nvSpPr>
        <p:spPr>
          <a:xfrm>
            <a:off x="73152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Utility Libraries</a:t>
            </a:r>
            <a:endParaRPr lang="en-US" sz="1500" dirty="0"/>
          </a:p>
        </p:txBody>
      </p:sp>
      <p:sp>
        <p:nvSpPr>
          <p:cNvPr id="8" name="Text 5"/>
          <p:cNvSpPr/>
          <p:nvPr/>
        </p:nvSpPr>
        <p:spPr>
          <a:xfrm>
            <a:off x="77724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Reusable helper functions across a project</a:t>
            </a:r>
            <a:endParaRPr lang="en-US" sz="1200" dirty="0"/>
          </a:p>
        </p:txBody>
      </p:sp>
      <p:sp>
        <p:nvSpPr>
          <p:cNvPr id="9" name="Shape 6"/>
          <p:cNvSpPr/>
          <p:nvPr/>
        </p:nvSpPr>
        <p:spPr>
          <a:xfrm>
            <a:off x="4328160" y="1645920"/>
            <a:ext cx="3505200" cy="3566160"/>
          </a:xfrm>
          <a:prstGeom prst="roundRect">
            <a:avLst>
              <a:gd name="adj" fmla="val 2609"/>
            </a:avLst>
          </a:prstGeom>
          <a:solidFill>
            <a:srgbClr val="132A46"/>
          </a:solidFill>
          <a:ln/>
        </p:spPr>
      </p:sp>
      <p:sp>
        <p:nvSpPr>
          <p:cNvPr id="10" name="Shape 7"/>
          <p:cNvSpPr/>
          <p:nvPr/>
        </p:nvSpPr>
        <p:spPr>
          <a:xfrm>
            <a:off x="5760720" y="1965960"/>
            <a:ext cx="640080" cy="640080"/>
          </a:xfrm>
          <a:prstGeom prst="ellipse">
            <a:avLst/>
          </a:prstGeom>
          <a:solidFill>
            <a:srgbClr val="FFFFFF">
              <a:alpha val="88000"/>
            </a:srgbClr>
          </a:solidFill>
          <a:ln/>
        </p:spPr>
      </p:sp>
      <p:pic>
        <p:nvPicPr>
          <p:cNvPr id="11" name="Image 1" descr="preencoded.png"/>
          <p:cNvPicPr>
            <a:picLocks noChangeAspect="1"/>
          </p:cNvPicPr>
          <p:nvPr/>
        </p:nvPicPr>
        <p:blipFill>
          <a:blip r:embed="rId3"/>
          <a:stretch>
            <a:fillRect/>
          </a:stretch>
        </p:blipFill>
        <p:spPr>
          <a:xfrm>
            <a:off x="5897880" y="2103120"/>
            <a:ext cx="365760" cy="365760"/>
          </a:xfrm>
          <a:prstGeom prst="rect">
            <a:avLst/>
          </a:prstGeom>
        </p:spPr>
      </p:pic>
      <p:sp>
        <p:nvSpPr>
          <p:cNvPr id="12" name="Text 8"/>
          <p:cNvSpPr/>
          <p:nvPr/>
        </p:nvSpPr>
        <p:spPr>
          <a:xfrm>
            <a:off x="451104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APIs</a:t>
            </a:r>
            <a:endParaRPr lang="en-US" sz="1500" dirty="0"/>
          </a:p>
        </p:txBody>
      </p:sp>
      <p:sp>
        <p:nvSpPr>
          <p:cNvPr id="13" name="Text 9"/>
          <p:cNvSpPr/>
          <p:nvPr/>
        </p:nvSpPr>
        <p:spPr>
          <a:xfrm>
            <a:off x="455676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Each endpoint is often backed by a function</a:t>
            </a:r>
            <a:endParaRPr lang="en-US" sz="1200" dirty="0"/>
          </a:p>
        </p:txBody>
      </p:sp>
      <p:sp>
        <p:nvSpPr>
          <p:cNvPr id="14" name="Shape 10"/>
          <p:cNvSpPr/>
          <p:nvPr/>
        </p:nvSpPr>
        <p:spPr>
          <a:xfrm>
            <a:off x="8107680" y="1645920"/>
            <a:ext cx="3505200" cy="3566160"/>
          </a:xfrm>
          <a:prstGeom prst="roundRect">
            <a:avLst>
              <a:gd name="adj" fmla="val 2609"/>
            </a:avLst>
          </a:prstGeom>
          <a:solidFill>
            <a:srgbClr val="1E5A96"/>
          </a:solidFill>
          <a:ln/>
        </p:spPr>
      </p:sp>
      <p:sp>
        <p:nvSpPr>
          <p:cNvPr id="15" name="Shape 11"/>
          <p:cNvSpPr/>
          <p:nvPr/>
        </p:nvSpPr>
        <p:spPr>
          <a:xfrm>
            <a:off x="9540240" y="1965960"/>
            <a:ext cx="640080" cy="640080"/>
          </a:xfrm>
          <a:prstGeom prst="ellipse">
            <a:avLst/>
          </a:prstGeom>
          <a:solidFill>
            <a:srgbClr val="FFFFFF">
              <a:alpha val="88000"/>
            </a:srgbClr>
          </a:solidFill>
          <a:ln/>
        </p:spPr>
      </p:sp>
      <p:pic>
        <p:nvPicPr>
          <p:cNvPr id="16" name="Image 2" descr="preencoded.png"/>
          <p:cNvPicPr>
            <a:picLocks noChangeAspect="1"/>
          </p:cNvPicPr>
          <p:nvPr/>
        </p:nvPicPr>
        <p:blipFill>
          <a:blip r:embed="rId3"/>
          <a:stretch>
            <a:fillRect/>
          </a:stretch>
        </p:blipFill>
        <p:spPr>
          <a:xfrm>
            <a:off x="9677400" y="2103120"/>
            <a:ext cx="365760" cy="365760"/>
          </a:xfrm>
          <a:prstGeom prst="rect">
            <a:avLst/>
          </a:prstGeom>
        </p:spPr>
      </p:pic>
      <p:sp>
        <p:nvSpPr>
          <p:cNvPr id="17" name="Text 12"/>
          <p:cNvSpPr/>
          <p:nvPr/>
        </p:nvSpPr>
        <p:spPr>
          <a:xfrm>
            <a:off x="829056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Validation Logic</a:t>
            </a:r>
            <a:endParaRPr lang="en-US" sz="1500" dirty="0"/>
          </a:p>
        </p:txBody>
      </p:sp>
      <p:sp>
        <p:nvSpPr>
          <p:cNvPr id="18" name="Text 13"/>
          <p:cNvSpPr/>
          <p:nvPr/>
        </p:nvSpPr>
        <p:spPr>
          <a:xfrm>
            <a:off x="833628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A function checking if an email/password is valid</a:t>
            </a:r>
            <a:endParaRPr lang="en-US" sz="1200" dirty="0"/>
          </a:p>
        </p:txBody>
      </p:sp>
      <p:sp>
        <p:nvSpPr>
          <p:cNvPr id="19" name="Text 14"/>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49</a:t>
            </a:r>
            <a:endParaRPr lang="en-US" sz="10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7 — FUNCTIONS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Coding Example &amp; Practical Exercises</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937760" cy="457200"/>
          </a:xfrm>
          <a:prstGeom prst="rect">
            <a:avLst/>
          </a:prstGeom>
          <a:noFill/>
          <a:ln/>
        </p:spPr>
        <p:txBody>
          <a:bodyPr wrap="square" lIns="0" tIns="0" rIns="0" bIns="0" rtlCol="0" anchor="ctr"/>
          <a:lstStyle/>
          <a:p>
            <a:pPr marL="0" indent="0">
              <a:buNone/>
            </a:pPr>
            <a:r>
              <a:rPr lang="en-US" sz="1500" b="1" dirty="0">
                <a:solidFill>
                  <a:srgbClr val="1B2733"/>
                </a:solidFill>
              </a:rPr>
              <a:t>Coding Example</a:t>
            </a:r>
            <a:endParaRPr lang="en-US" sz="1500" dirty="0"/>
          </a:p>
        </p:txBody>
      </p:sp>
      <p:sp>
        <p:nvSpPr>
          <p:cNvPr id="7" name="Shape 4"/>
          <p:cNvSpPr/>
          <p:nvPr/>
        </p:nvSpPr>
        <p:spPr>
          <a:xfrm>
            <a:off x="548640" y="2011680"/>
            <a:ext cx="5486400" cy="3108960"/>
          </a:xfrm>
          <a:prstGeom prst="roundRect">
            <a:avLst>
              <a:gd name="adj" fmla="val 2353"/>
            </a:avLst>
          </a:prstGeom>
          <a:solidFill>
            <a:srgbClr val="1E1E2E"/>
          </a:solidFill>
          <a:ln/>
          <a:effectLst>
            <a:outerShdw blurRad="101600" dist="38100" dir="5400000" algn="bl" rotWithShape="0">
              <a:srgbClr val="000000">
                <a:alpha val="18000"/>
              </a:srgbClr>
            </a:outerShdw>
          </a:effectLst>
        </p:spPr>
      </p:sp>
      <p:sp>
        <p:nvSpPr>
          <p:cNvPr id="8" name="Text 5"/>
          <p:cNvSpPr/>
          <p:nvPr/>
        </p:nvSpPr>
        <p:spPr>
          <a:xfrm>
            <a:off x="731520" y="2103120"/>
            <a:ext cx="5120640" cy="274320"/>
          </a:xfrm>
          <a:prstGeom prst="rect">
            <a:avLst/>
          </a:prstGeom>
          <a:noFill/>
          <a:ln/>
        </p:spPr>
        <p:txBody>
          <a:bodyPr wrap="square" lIns="0" tIns="0" rIns="0" bIns="0" rtlCol="0" anchor="ctr"/>
          <a:lstStyle/>
          <a:p>
            <a:pPr marL="0" indent="0">
              <a:buNone/>
            </a:pPr>
            <a:r>
              <a:rPr lang="en-US" sz="1050" dirty="0">
                <a:solidFill>
                  <a:srgbClr val="8FA3B8"/>
                </a:solidFill>
                <a:latin typeface="Courier New" pitchFamily="34" charset="0"/>
                <a:ea typeface="Courier New" pitchFamily="34" charset="-122"/>
                <a:cs typeface="Courier New" pitchFamily="34" charset="-120"/>
              </a:rPr>
              <a:t>greet.py</a:t>
            </a:r>
            <a:endParaRPr lang="en-US" sz="1050" dirty="0"/>
          </a:p>
        </p:txBody>
      </p:sp>
      <p:sp>
        <p:nvSpPr>
          <p:cNvPr id="9" name="Text 6"/>
          <p:cNvSpPr/>
          <p:nvPr/>
        </p:nvSpPr>
        <p:spPr>
          <a:xfrm>
            <a:off x="777240" y="2395728"/>
            <a:ext cx="5029200" cy="2560320"/>
          </a:xfrm>
          <a:prstGeom prst="rect">
            <a:avLst/>
          </a:prstGeom>
          <a:noFill/>
          <a:ln/>
        </p:spPr>
        <p:txBody>
          <a:bodyPr wrap="square" lIns="0" tIns="0" rIns="0" bIns="0" rtlCol="0" anchor="t"/>
          <a:lstStyle/>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def greet(name):</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return "Hello " + name</a:t>
            </a:r>
            <a:endParaRPr lang="en-US" sz="1300" dirty="0"/>
          </a:p>
        </p:txBody>
      </p:sp>
      <p:sp>
        <p:nvSpPr>
          <p:cNvPr id="10" name="Shape 7"/>
          <p:cNvSpPr/>
          <p:nvPr/>
        </p:nvSpPr>
        <p:spPr>
          <a:xfrm>
            <a:off x="6355080" y="1463040"/>
            <a:ext cx="384048" cy="384048"/>
          </a:xfrm>
          <a:prstGeom prst="ellipse">
            <a:avLst/>
          </a:prstGeom>
          <a:solidFill>
            <a:srgbClr val="1E5A96"/>
          </a:solidFill>
          <a:ln/>
        </p:spPr>
      </p:sp>
      <p:pic>
        <p:nvPicPr>
          <p:cNvPr id="11"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2" name="Text 8"/>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Practical Exercises</a:t>
            </a:r>
            <a:endParaRPr lang="en-US" sz="1500" dirty="0"/>
          </a:p>
        </p:txBody>
      </p:sp>
      <p:sp>
        <p:nvSpPr>
          <p:cNvPr id="13" name="Shape 9"/>
          <p:cNvSpPr/>
          <p:nvPr/>
        </p:nvSpPr>
        <p:spPr>
          <a:xfrm>
            <a:off x="6355080" y="2011680"/>
            <a:ext cx="5257800" cy="3108960"/>
          </a:xfrm>
          <a:prstGeom prst="roundRect">
            <a:avLst>
              <a:gd name="adj" fmla="val 2353"/>
            </a:avLst>
          </a:prstGeom>
          <a:solidFill>
            <a:srgbClr val="EEF4FA"/>
          </a:solidFill>
          <a:ln/>
        </p:spPr>
      </p:sp>
      <p:sp>
        <p:nvSpPr>
          <p:cNvPr id="14" name="Text 10"/>
          <p:cNvSpPr/>
          <p:nvPr/>
        </p:nvSpPr>
        <p:spPr>
          <a:xfrm>
            <a:off x="6583680" y="2212848"/>
            <a:ext cx="4846320" cy="27432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B2733"/>
                </a:solidFill>
              </a:rPr>
              <a:t>Build calculator functions (add, sub, mul, div)</a:t>
            </a:r>
            <a:endParaRPr lang="en-US" sz="1350" dirty="0"/>
          </a:p>
          <a:p>
            <a:pPr marL="342900" indent="-342900">
              <a:lnSpc>
                <a:spcPct val="120000"/>
              </a:lnSpc>
              <a:spcAft>
                <a:spcPts val="1200"/>
              </a:spcAft>
              <a:buSzPct val="100000"/>
              <a:buChar char="•"/>
            </a:pPr>
            <a:r>
              <a:rPr lang="en-US" sz="1350" dirty="0">
                <a:solidFill>
                  <a:srgbClr val="1B2733"/>
                </a:solidFill>
              </a:rPr>
              <a:t>Build a temperature converter (C ↔ F)</a:t>
            </a:r>
            <a:endParaRPr lang="en-US" sz="1350" dirty="0"/>
          </a:p>
          <a:p>
            <a:pPr marL="342900" indent="-342900">
              <a:lnSpc>
                <a:spcPct val="120000"/>
              </a:lnSpc>
              <a:spcAft>
                <a:spcPts val="1200"/>
              </a:spcAft>
              <a:buSzPct val="100000"/>
              <a:buChar char="•"/>
            </a:pPr>
            <a:r>
              <a:rPr lang="en-US" sz="1350" dirty="0">
                <a:solidFill>
                  <a:srgbClr val="1B2733"/>
                </a:solidFill>
              </a:rPr>
              <a:t>Build an area calculator for shapes</a:t>
            </a:r>
            <a:endParaRPr lang="en-US" sz="1350" dirty="0"/>
          </a:p>
        </p:txBody>
      </p:sp>
      <p:sp>
        <p:nvSpPr>
          <p:cNvPr id="15" name="Text 11"/>
          <p:cNvSpPr/>
          <p:nvPr/>
        </p:nvSpPr>
        <p:spPr>
          <a:xfrm>
            <a:off x="548640" y="5257800"/>
            <a:ext cx="5486400" cy="274320"/>
          </a:xfrm>
          <a:prstGeom prst="rect">
            <a:avLst/>
          </a:prstGeom>
          <a:noFill/>
          <a:ln/>
        </p:spPr>
        <p:txBody>
          <a:bodyPr wrap="square" lIns="0" tIns="0" rIns="0" bIns="0" rtlCol="0" anchor="ctr"/>
          <a:lstStyle/>
          <a:p>
            <a:pPr marL="0" indent="0">
              <a:buNone/>
            </a:pPr>
            <a:r>
              <a:rPr lang="en-US" sz="1050" i="1" dirty="0">
                <a:solidFill>
                  <a:srgbClr val="5C6B7A"/>
                </a:solidFill>
              </a:rPr>
              <a:t>Theory: 1h  •  Practical: 2h</a:t>
            </a:r>
            <a:endParaRPr lang="en-US" sz="1050" dirty="0"/>
          </a:p>
        </p:txBody>
      </p:sp>
      <p:sp>
        <p:nvSpPr>
          <p:cNvPr id="16"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50</a:t>
            </a:r>
            <a:endParaRPr lang="en-US" sz="1000" dirty="0"/>
          </a:p>
        </p:txBody>
      </p:sp>
      <p:sp>
        <p:nvSpPr>
          <p:cNvPr id="17"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7 — FUNCTIONS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Mini Activity &amp; Expected Outcome</a:t>
            </a:r>
            <a:endParaRPr lang="en-US" sz="2700" dirty="0"/>
          </a:p>
        </p:txBody>
      </p:sp>
      <p:sp>
        <p:nvSpPr>
          <p:cNvPr id="4" name="Shape 2"/>
          <p:cNvSpPr/>
          <p:nvPr/>
        </p:nvSpPr>
        <p:spPr>
          <a:xfrm>
            <a:off x="548640" y="1600200"/>
            <a:ext cx="11064240" cy="1920240"/>
          </a:xfrm>
          <a:prstGeom prst="roundRect">
            <a:avLst>
              <a:gd name="adj" fmla="val 4762"/>
            </a:avLst>
          </a:prstGeom>
          <a:solidFill>
            <a:srgbClr val="1E5A96"/>
          </a:solidFill>
          <a:ln/>
        </p:spPr>
      </p:sp>
      <p:pic>
        <p:nvPicPr>
          <p:cNvPr id="5" name="Image 0" descr="preencoded.png"/>
          <p:cNvPicPr>
            <a:picLocks noChangeAspect="1"/>
          </p:cNvPicPr>
          <p:nvPr/>
        </p:nvPicPr>
        <p:blipFill>
          <a:blip r:embed="rId3"/>
          <a:stretch>
            <a:fillRect/>
          </a:stretch>
        </p:blipFill>
        <p:spPr>
          <a:xfrm>
            <a:off x="868680" y="1965960"/>
            <a:ext cx="502920" cy="502920"/>
          </a:xfrm>
          <a:prstGeom prst="rect">
            <a:avLst/>
          </a:prstGeom>
        </p:spPr>
      </p:pic>
      <p:sp>
        <p:nvSpPr>
          <p:cNvPr id="6" name="Text 3"/>
          <p:cNvSpPr/>
          <p:nvPr/>
        </p:nvSpPr>
        <p:spPr>
          <a:xfrm>
            <a:off x="1554480" y="1874520"/>
            <a:ext cx="3657600" cy="320040"/>
          </a:xfrm>
          <a:prstGeom prst="rect">
            <a:avLst/>
          </a:prstGeom>
          <a:noFill/>
          <a:ln/>
        </p:spPr>
        <p:txBody>
          <a:bodyPr wrap="square" lIns="0" tIns="0" rIns="0" bIns="0" rtlCol="0" anchor="ctr"/>
          <a:lstStyle/>
          <a:p>
            <a:pPr marL="0" indent="0">
              <a:buNone/>
            </a:pPr>
            <a:r>
              <a:rPr lang="en-US" sz="1250" b="1" kern="0" spc="150" dirty="0">
                <a:solidFill>
                  <a:srgbClr val="F2A93B"/>
                </a:solidFill>
              </a:rPr>
              <a:t>MINI ACTIVITY</a:t>
            </a:r>
            <a:endParaRPr lang="en-US" sz="1250" dirty="0"/>
          </a:p>
        </p:txBody>
      </p:sp>
      <p:sp>
        <p:nvSpPr>
          <p:cNvPr id="7" name="Text 4"/>
          <p:cNvSpPr/>
          <p:nvPr/>
        </p:nvSpPr>
        <p:spPr>
          <a:xfrm>
            <a:off x="1554480" y="2240280"/>
            <a:ext cx="9692640" cy="1143000"/>
          </a:xfrm>
          <a:prstGeom prst="rect">
            <a:avLst/>
          </a:prstGeom>
          <a:noFill/>
          <a:ln/>
        </p:spPr>
        <p:txBody>
          <a:bodyPr wrap="square" lIns="0" tIns="0" rIns="0" bIns="0" rtlCol="0" anchor="t"/>
          <a:lstStyle/>
          <a:p>
            <a:pPr marL="0" indent="0">
              <a:buNone/>
            </a:pPr>
            <a:r>
              <a:rPr lang="en-US" sz="1550" dirty="0">
                <a:solidFill>
                  <a:srgbClr val="FFFFFF"/>
                </a:solidFill>
              </a:rPr>
              <a:t>Create a small utility module with 3 reusable functions of your choice.</a:t>
            </a:r>
            <a:endParaRPr lang="en-US" sz="1550" dirty="0"/>
          </a:p>
        </p:txBody>
      </p:sp>
      <p:sp>
        <p:nvSpPr>
          <p:cNvPr id="8" name="Shape 5"/>
          <p:cNvSpPr/>
          <p:nvPr/>
        </p:nvSpPr>
        <p:spPr>
          <a:xfrm>
            <a:off x="548640" y="3794760"/>
            <a:ext cx="11064240" cy="1691640"/>
          </a:xfrm>
          <a:prstGeom prst="roundRect">
            <a:avLst>
              <a:gd name="adj" fmla="val 5405"/>
            </a:avLst>
          </a:prstGeom>
          <a:solidFill>
            <a:srgbClr val="EEF4FA"/>
          </a:solidFill>
          <a:ln/>
        </p:spPr>
      </p:sp>
      <p:pic>
        <p:nvPicPr>
          <p:cNvPr id="9" name="Image 1" descr="preencoded.png"/>
          <p:cNvPicPr>
            <a:picLocks noChangeAspect="1"/>
          </p:cNvPicPr>
          <p:nvPr/>
        </p:nvPicPr>
        <p:blipFill>
          <a:blip r:embed="rId4"/>
          <a:stretch>
            <a:fillRect/>
          </a:stretch>
        </p:blipFill>
        <p:spPr>
          <a:xfrm>
            <a:off x="868680" y="4114800"/>
            <a:ext cx="457200" cy="457200"/>
          </a:xfrm>
          <a:prstGeom prst="rect">
            <a:avLst/>
          </a:prstGeom>
        </p:spPr>
      </p:pic>
      <p:sp>
        <p:nvSpPr>
          <p:cNvPr id="10" name="Text 6"/>
          <p:cNvSpPr/>
          <p:nvPr/>
        </p:nvSpPr>
        <p:spPr>
          <a:xfrm>
            <a:off x="1508760" y="4041648"/>
            <a:ext cx="3657600" cy="320040"/>
          </a:xfrm>
          <a:prstGeom prst="rect">
            <a:avLst/>
          </a:prstGeom>
          <a:noFill/>
          <a:ln/>
        </p:spPr>
        <p:txBody>
          <a:bodyPr wrap="square" lIns="0" tIns="0" rIns="0" bIns="0" rtlCol="0" anchor="ctr"/>
          <a:lstStyle/>
          <a:p>
            <a:pPr marL="0" indent="0">
              <a:buNone/>
            </a:pPr>
            <a:r>
              <a:rPr lang="en-US" sz="1250" b="1" kern="0" spc="150" dirty="0">
                <a:solidFill>
                  <a:srgbClr val="1E7D32"/>
                </a:solidFill>
              </a:rPr>
              <a:t>EXPECTED OUTCOME</a:t>
            </a:r>
            <a:endParaRPr lang="en-US" sz="1250" dirty="0"/>
          </a:p>
        </p:txBody>
      </p:sp>
      <p:sp>
        <p:nvSpPr>
          <p:cNvPr id="11" name="Text 7"/>
          <p:cNvSpPr/>
          <p:nvPr/>
        </p:nvSpPr>
        <p:spPr>
          <a:xfrm>
            <a:off x="1508760" y="4389120"/>
            <a:ext cx="9784080" cy="914400"/>
          </a:xfrm>
          <a:prstGeom prst="rect">
            <a:avLst/>
          </a:prstGeom>
          <a:noFill/>
          <a:ln/>
        </p:spPr>
        <p:txBody>
          <a:bodyPr wrap="square" lIns="0" tIns="0" rIns="0" bIns="0" rtlCol="0" anchor="t"/>
          <a:lstStyle/>
          <a:p>
            <a:pPr marL="0" indent="0">
              <a:buNone/>
            </a:pPr>
            <a:r>
              <a:rPr lang="en-US" sz="1550" dirty="0">
                <a:solidFill>
                  <a:srgbClr val="1B2733"/>
                </a:solidFill>
              </a:rPr>
              <a:t>Students can create reusable code modules.</a:t>
            </a:r>
            <a:endParaRPr lang="en-US" sz="1550" dirty="0"/>
          </a:p>
        </p:txBody>
      </p:sp>
      <p:sp>
        <p:nvSpPr>
          <p:cNvPr id="12" name="Text 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51</a:t>
            </a:r>
            <a:endParaRPr lang="en-US" sz="100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7 — FUNCTIONS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Interview Questions &amp; Summary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6126480" cy="457200"/>
          </a:xfrm>
          <a:prstGeom prst="rect">
            <a:avLst/>
          </a:prstGeom>
          <a:noFill/>
          <a:ln/>
        </p:spPr>
        <p:txBody>
          <a:bodyPr wrap="square" lIns="0" tIns="0" rIns="0" bIns="0" rtlCol="0" anchor="ctr"/>
          <a:lstStyle/>
          <a:p>
            <a:pPr marL="0" indent="0">
              <a:buNone/>
            </a:pPr>
            <a:r>
              <a:rPr lang="en-US" sz="1500" b="1" dirty="0">
                <a:solidFill>
                  <a:srgbClr val="1B2733"/>
                </a:solidFill>
              </a:rPr>
              <a:t>Interview Questions</a:t>
            </a:r>
            <a:endParaRPr lang="en-US" sz="1500" dirty="0"/>
          </a:p>
        </p:txBody>
      </p:sp>
      <p:sp>
        <p:nvSpPr>
          <p:cNvPr id="7" name="Shape 4"/>
          <p:cNvSpPr/>
          <p:nvPr/>
        </p:nvSpPr>
        <p:spPr>
          <a:xfrm>
            <a:off x="548640" y="1965960"/>
            <a:ext cx="6675120" cy="1170432"/>
          </a:xfrm>
          <a:prstGeom prst="roundRect">
            <a:avLst>
              <a:gd name="adj" fmla="val 5469"/>
            </a:avLst>
          </a:prstGeom>
          <a:solidFill>
            <a:srgbClr val="EEF4FA"/>
          </a:solidFill>
          <a:ln/>
        </p:spPr>
      </p:sp>
      <p:sp>
        <p:nvSpPr>
          <p:cNvPr id="8" name="Text 5"/>
          <p:cNvSpPr/>
          <p:nvPr/>
        </p:nvSpPr>
        <p:spPr>
          <a:xfrm>
            <a:off x="731520" y="2057400"/>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Difference between parameters and arguments?</a:t>
            </a:r>
            <a:endParaRPr lang="en-US" sz="1250" dirty="0"/>
          </a:p>
        </p:txBody>
      </p:sp>
      <p:sp>
        <p:nvSpPr>
          <p:cNvPr id="9" name="Text 6"/>
          <p:cNvSpPr/>
          <p:nvPr/>
        </p:nvSpPr>
        <p:spPr>
          <a:xfrm>
            <a:off x="731520" y="2441448"/>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Parameters are the names in the function definition; arguments are the actual values passed in.</a:t>
            </a:r>
            <a:endParaRPr lang="en-US" sz="1150" dirty="0"/>
          </a:p>
        </p:txBody>
      </p:sp>
      <p:sp>
        <p:nvSpPr>
          <p:cNvPr id="10" name="Shape 7"/>
          <p:cNvSpPr/>
          <p:nvPr/>
        </p:nvSpPr>
        <p:spPr>
          <a:xfrm>
            <a:off x="548640" y="3264408"/>
            <a:ext cx="6675120" cy="1170432"/>
          </a:xfrm>
          <a:prstGeom prst="roundRect">
            <a:avLst>
              <a:gd name="adj" fmla="val 5469"/>
            </a:avLst>
          </a:prstGeom>
          <a:solidFill>
            <a:srgbClr val="EEF4FA"/>
          </a:solidFill>
          <a:ln/>
        </p:spPr>
      </p:sp>
      <p:sp>
        <p:nvSpPr>
          <p:cNvPr id="11" name="Text 8"/>
          <p:cNvSpPr/>
          <p:nvPr/>
        </p:nvSpPr>
        <p:spPr>
          <a:xfrm>
            <a:off x="731520" y="3355848"/>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is the difference between lambda and def?</a:t>
            </a:r>
            <a:endParaRPr lang="en-US" sz="1250" dirty="0"/>
          </a:p>
        </p:txBody>
      </p:sp>
      <p:sp>
        <p:nvSpPr>
          <p:cNvPr id="12" name="Text 9"/>
          <p:cNvSpPr/>
          <p:nvPr/>
        </p:nvSpPr>
        <p:spPr>
          <a:xfrm>
            <a:off x="731520" y="3739896"/>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lambda creates a small anonymous function in one line; def creates a full named function.</a:t>
            </a:r>
            <a:endParaRPr lang="en-US" sz="1150" dirty="0"/>
          </a:p>
        </p:txBody>
      </p:sp>
      <p:sp>
        <p:nvSpPr>
          <p:cNvPr id="13" name="Shape 10"/>
          <p:cNvSpPr/>
          <p:nvPr/>
        </p:nvSpPr>
        <p:spPr>
          <a:xfrm>
            <a:off x="548640" y="4562856"/>
            <a:ext cx="6675120" cy="1170432"/>
          </a:xfrm>
          <a:prstGeom prst="roundRect">
            <a:avLst>
              <a:gd name="adj" fmla="val 5469"/>
            </a:avLst>
          </a:prstGeom>
          <a:solidFill>
            <a:srgbClr val="EEF4FA"/>
          </a:solidFill>
          <a:ln/>
        </p:spPr>
      </p:sp>
      <p:sp>
        <p:nvSpPr>
          <p:cNvPr id="14" name="Text 11"/>
          <p:cNvSpPr/>
          <p:nvPr/>
        </p:nvSpPr>
        <p:spPr>
          <a:xfrm>
            <a:off x="731520" y="4654296"/>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is variable scope?</a:t>
            </a:r>
            <a:endParaRPr lang="en-US" sz="1250" dirty="0"/>
          </a:p>
        </p:txBody>
      </p:sp>
      <p:sp>
        <p:nvSpPr>
          <p:cNvPr id="15" name="Text 12"/>
          <p:cNvSpPr/>
          <p:nvPr/>
        </p:nvSpPr>
        <p:spPr>
          <a:xfrm>
            <a:off x="731520" y="5038344"/>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It defines where a variable can be accessed — local (inside a function) or global (everywhere).</a:t>
            </a:r>
            <a:endParaRPr lang="en-US" sz="1150" dirty="0"/>
          </a:p>
        </p:txBody>
      </p:sp>
      <p:sp>
        <p:nvSpPr>
          <p:cNvPr id="16" name="Shape 13"/>
          <p:cNvSpPr/>
          <p:nvPr/>
        </p:nvSpPr>
        <p:spPr>
          <a:xfrm>
            <a:off x="7452360" y="1417320"/>
            <a:ext cx="13716" cy="4709160"/>
          </a:xfrm>
          <a:prstGeom prst="rect">
            <a:avLst/>
          </a:prstGeom>
          <a:solidFill>
            <a:srgbClr val="DCE6F0"/>
          </a:solidFill>
          <a:ln/>
        </p:spPr>
      </p:sp>
      <p:sp>
        <p:nvSpPr>
          <p:cNvPr id="17" name="Shape 14"/>
          <p:cNvSpPr/>
          <p:nvPr/>
        </p:nvSpPr>
        <p:spPr>
          <a:xfrm>
            <a:off x="7680960" y="1463040"/>
            <a:ext cx="384048" cy="384048"/>
          </a:xfrm>
          <a:prstGeom prst="ellipse">
            <a:avLst/>
          </a:prstGeom>
          <a:solidFill>
            <a:srgbClr val="1E7D32"/>
          </a:solidFill>
          <a:ln/>
        </p:spPr>
      </p:sp>
      <p:pic>
        <p:nvPicPr>
          <p:cNvPr id="18" name="Image 1" descr="preencoded.png"/>
          <p:cNvPicPr>
            <a:picLocks noChangeAspect="1"/>
          </p:cNvPicPr>
          <p:nvPr/>
        </p:nvPicPr>
        <p:blipFill>
          <a:blip r:embed="rId4"/>
          <a:stretch>
            <a:fillRect/>
          </a:stretch>
        </p:blipFill>
        <p:spPr>
          <a:xfrm>
            <a:off x="7763256" y="1545336"/>
            <a:ext cx="219456" cy="219456"/>
          </a:xfrm>
          <a:prstGeom prst="rect">
            <a:avLst/>
          </a:prstGeom>
        </p:spPr>
      </p:pic>
      <p:sp>
        <p:nvSpPr>
          <p:cNvPr id="19" name="Text 15"/>
          <p:cNvSpPr/>
          <p:nvPr/>
        </p:nvSpPr>
        <p:spPr>
          <a:xfrm>
            <a:off x="8193024" y="1435608"/>
            <a:ext cx="3383280" cy="457200"/>
          </a:xfrm>
          <a:prstGeom prst="rect">
            <a:avLst/>
          </a:prstGeom>
          <a:noFill/>
          <a:ln/>
        </p:spPr>
        <p:txBody>
          <a:bodyPr wrap="square" lIns="0" tIns="0" rIns="0" bIns="0" rtlCol="0" anchor="ctr"/>
          <a:lstStyle/>
          <a:p>
            <a:pPr marL="0" indent="0">
              <a:buNone/>
            </a:pPr>
            <a:r>
              <a:rPr lang="en-US" sz="1500" b="1" dirty="0">
                <a:solidFill>
                  <a:srgbClr val="1B2733"/>
                </a:solidFill>
              </a:rPr>
              <a:t>Module Summary</a:t>
            </a:r>
            <a:endParaRPr lang="en-US" sz="1500" dirty="0"/>
          </a:p>
        </p:txBody>
      </p:sp>
      <p:sp>
        <p:nvSpPr>
          <p:cNvPr id="20" name="Text 16"/>
          <p:cNvSpPr/>
          <p:nvPr/>
        </p:nvSpPr>
        <p:spPr>
          <a:xfrm>
            <a:off x="7680960" y="2011680"/>
            <a:ext cx="3931920" cy="39319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00" dirty="0">
                <a:solidFill>
                  <a:srgbClr val="1B2733"/>
                </a:solidFill>
              </a:rPr>
              <a:t>Functions make code reusable and modular</a:t>
            </a:r>
            <a:endParaRPr lang="en-US" sz="1300" dirty="0"/>
          </a:p>
          <a:p>
            <a:pPr marL="342900" indent="-342900">
              <a:lnSpc>
                <a:spcPct val="120000"/>
              </a:lnSpc>
              <a:spcAft>
                <a:spcPts val="1200"/>
              </a:spcAft>
              <a:buSzPct val="100000"/>
              <a:buChar char="✓"/>
            </a:pPr>
            <a:r>
              <a:rPr lang="en-US" sz="1300" dirty="0">
                <a:solidFill>
                  <a:srgbClr val="1B2733"/>
                </a:solidFill>
              </a:rPr>
              <a:t>Arguments go in, return sends a value out</a:t>
            </a:r>
            <a:endParaRPr lang="en-US" sz="1300" dirty="0"/>
          </a:p>
          <a:p>
            <a:pPr marL="342900" indent="-342900">
              <a:lnSpc>
                <a:spcPct val="120000"/>
              </a:lnSpc>
              <a:spcAft>
                <a:spcPts val="1200"/>
              </a:spcAft>
              <a:buSzPct val="100000"/>
              <a:buChar char="✓"/>
            </a:pPr>
            <a:r>
              <a:rPr lang="en-US" sz="1300" dirty="0">
                <a:solidFill>
                  <a:srgbClr val="1B2733"/>
                </a:solidFill>
              </a:rPr>
              <a:t>Scope controls where variables are visible</a:t>
            </a:r>
            <a:endParaRPr lang="en-US" sz="1300" dirty="0"/>
          </a:p>
          <a:p>
            <a:pPr marL="342900" indent="-342900">
              <a:lnSpc>
                <a:spcPct val="120000"/>
              </a:lnSpc>
              <a:spcAft>
                <a:spcPts val="1200"/>
              </a:spcAft>
              <a:buSzPct val="100000"/>
              <a:buChar char="✓"/>
            </a:pPr>
            <a:r>
              <a:rPr lang="en-US" sz="1300" dirty="0">
                <a:solidFill>
                  <a:srgbClr val="1B2733"/>
                </a:solidFill>
              </a:rPr>
              <a:t>lambda is useful for quick, simple functions</a:t>
            </a:r>
            <a:endParaRPr lang="en-US" sz="1300" dirty="0"/>
          </a:p>
        </p:txBody>
      </p:sp>
      <p:sp>
        <p:nvSpPr>
          <p:cNvPr id="21"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52</a:t>
            </a:r>
            <a:endParaRPr lang="en-US" sz="1000" dirty="0"/>
          </a:p>
        </p:txBody>
      </p:sp>
      <p:sp>
        <p:nvSpPr>
          <p:cNvPr id="22"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1E5A96">
              <a:alpha val="45000"/>
            </a:srgbClr>
          </a:solidFill>
          <a:ln/>
        </p:spPr>
      </p:sp>
      <p:sp>
        <p:nvSpPr>
          <p:cNvPr id="3" name="Shape 1"/>
          <p:cNvSpPr/>
          <p:nvPr/>
        </p:nvSpPr>
        <p:spPr>
          <a:xfrm>
            <a:off x="731520" y="914400"/>
            <a:ext cx="1554480" cy="365760"/>
          </a:xfrm>
          <a:prstGeom prst="roundRect">
            <a:avLst>
              <a:gd name="adj" fmla="val 50000"/>
            </a:avLst>
          </a:prstGeom>
          <a:solidFill>
            <a:srgbClr val="1D3A5C"/>
          </a:solidFill>
          <a:ln/>
        </p:spPr>
      </p:sp>
      <p:sp>
        <p:nvSpPr>
          <p:cNvPr id="4" name="Text 2"/>
          <p:cNvSpPr/>
          <p:nvPr/>
        </p:nvSpPr>
        <p:spPr>
          <a:xfrm>
            <a:off x="731520" y="914400"/>
            <a:ext cx="1554480" cy="365760"/>
          </a:xfrm>
          <a:prstGeom prst="rect">
            <a:avLst/>
          </a:prstGeom>
          <a:noFill/>
          <a:ln/>
        </p:spPr>
        <p:txBody>
          <a:bodyPr wrap="square" lIns="0" tIns="0" rIns="0" bIns="0" rtlCol="0" anchor="ctr"/>
          <a:lstStyle/>
          <a:p>
            <a:pPr marL="0" indent="0" algn="ctr">
              <a:buNone/>
            </a:pPr>
            <a:r>
              <a:rPr lang="en-US" sz="1100" b="1" dirty="0">
                <a:solidFill>
                  <a:srgbClr val="F2A93B"/>
                </a:solidFill>
              </a:rPr>
              <a:t>MODULE 8 OF 9</a:t>
            </a:r>
            <a:endParaRPr lang="en-US" sz="1100" dirty="0"/>
          </a:p>
        </p:txBody>
      </p:sp>
      <p:sp>
        <p:nvSpPr>
          <p:cNvPr id="5" name="Shape 3"/>
          <p:cNvSpPr/>
          <p:nvPr/>
        </p:nvSpPr>
        <p:spPr>
          <a:xfrm>
            <a:off x="731520" y="1508760"/>
            <a:ext cx="960120" cy="960120"/>
          </a:xfrm>
          <a:prstGeom prst="roundRect">
            <a:avLst>
              <a:gd name="adj" fmla="val 19048"/>
            </a:avLst>
          </a:prstGeom>
          <a:solidFill>
            <a:srgbClr val="1E5A96"/>
          </a:solidFill>
          <a:ln/>
        </p:spPr>
      </p:sp>
      <p:pic>
        <p:nvPicPr>
          <p:cNvPr id="6" name="Image 0" descr="preencoded.png"/>
          <p:cNvPicPr>
            <a:picLocks noChangeAspect="1"/>
          </p:cNvPicPr>
          <p:nvPr/>
        </p:nvPicPr>
        <p:blipFill>
          <a:blip r:embed="rId3"/>
          <a:stretch>
            <a:fillRect/>
          </a:stretch>
        </p:blipFill>
        <p:spPr>
          <a:xfrm>
            <a:off x="960120" y="1737360"/>
            <a:ext cx="502920" cy="502920"/>
          </a:xfrm>
          <a:prstGeom prst="rect">
            <a:avLst/>
          </a:prstGeom>
        </p:spPr>
      </p:pic>
      <p:sp>
        <p:nvSpPr>
          <p:cNvPr id="7" name="Text 4"/>
          <p:cNvSpPr/>
          <p:nvPr/>
        </p:nvSpPr>
        <p:spPr>
          <a:xfrm>
            <a:off x="1874520" y="1463040"/>
            <a:ext cx="91440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Files and Exception Handling</a:t>
            </a:r>
            <a:endParaRPr lang="en-US" sz="3200" dirty="0"/>
          </a:p>
        </p:txBody>
      </p:sp>
      <p:sp>
        <p:nvSpPr>
          <p:cNvPr id="8" name="Shape 5"/>
          <p:cNvSpPr/>
          <p:nvPr/>
        </p:nvSpPr>
        <p:spPr>
          <a:xfrm>
            <a:off x="1874520" y="2514600"/>
            <a:ext cx="1417320" cy="594360"/>
          </a:xfrm>
          <a:prstGeom prst="roundRect">
            <a:avLst>
              <a:gd name="adj" fmla="val 12308"/>
            </a:avLst>
          </a:prstGeom>
          <a:solidFill>
            <a:srgbClr val="1D3A5C"/>
          </a:solidFill>
          <a:ln w="12700">
            <a:solidFill>
              <a:srgbClr val="1E5A96"/>
            </a:solidFill>
            <a:prstDash val="solid"/>
          </a:ln>
        </p:spPr>
      </p:sp>
      <p:sp>
        <p:nvSpPr>
          <p:cNvPr id="9" name="Text 6"/>
          <p:cNvSpPr/>
          <p:nvPr/>
        </p:nvSpPr>
        <p:spPr>
          <a:xfrm>
            <a:off x="187452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1 hr</a:t>
            </a:r>
            <a:endParaRPr lang="en-US" sz="1500" dirty="0"/>
          </a:p>
        </p:txBody>
      </p:sp>
      <p:sp>
        <p:nvSpPr>
          <p:cNvPr id="10" name="Text 7"/>
          <p:cNvSpPr/>
          <p:nvPr/>
        </p:nvSpPr>
        <p:spPr>
          <a:xfrm>
            <a:off x="187452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Theory</a:t>
            </a:r>
            <a:endParaRPr lang="en-US" sz="900" dirty="0"/>
          </a:p>
        </p:txBody>
      </p:sp>
      <p:sp>
        <p:nvSpPr>
          <p:cNvPr id="11" name="Shape 8"/>
          <p:cNvSpPr/>
          <p:nvPr/>
        </p:nvSpPr>
        <p:spPr>
          <a:xfrm>
            <a:off x="3429000" y="2514600"/>
            <a:ext cx="1417320" cy="594360"/>
          </a:xfrm>
          <a:prstGeom prst="roundRect">
            <a:avLst>
              <a:gd name="adj" fmla="val 12308"/>
            </a:avLst>
          </a:prstGeom>
          <a:solidFill>
            <a:srgbClr val="1D3A5C"/>
          </a:solidFill>
          <a:ln w="12700">
            <a:solidFill>
              <a:srgbClr val="1E5A96"/>
            </a:solidFill>
            <a:prstDash val="solid"/>
          </a:ln>
        </p:spPr>
      </p:sp>
      <p:sp>
        <p:nvSpPr>
          <p:cNvPr id="12" name="Text 9"/>
          <p:cNvSpPr/>
          <p:nvPr/>
        </p:nvSpPr>
        <p:spPr>
          <a:xfrm>
            <a:off x="342900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3" name="Text 10"/>
          <p:cNvSpPr/>
          <p:nvPr/>
        </p:nvSpPr>
        <p:spPr>
          <a:xfrm>
            <a:off x="342900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Practical</a:t>
            </a:r>
            <a:endParaRPr lang="en-US" sz="900" dirty="0"/>
          </a:p>
        </p:txBody>
      </p:sp>
      <p:sp>
        <p:nvSpPr>
          <p:cNvPr id="14" name="Shape 11"/>
          <p:cNvSpPr/>
          <p:nvPr/>
        </p:nvSpPr>
        <p:spPr>
          <a:xfrm>
            <a:off x="4983480" y="2514600"/>
            <a:ext cx="1417320" cy="594360"/>
          </a:xfrm>
          <a:prstGeom prst="roundRect">
            <a:avLst>
              <a:gd name="adj" fmla="val 12308"/>
            </a:avLst>
          </a:prstGeom>
          <a:solidFill>
            <a:srgbClr val="1D3A5C"/>
          </a:solidFill>
          <a:ln w="12700">
            <a:solidFill>
              <a:srgbClr val="1E5A96"/>
            </a:solidFill>
            <a:prstDash val="solid"/>
          </a:ln>
        </p:spPr>
      </p:sp>
      <p:sp>
        <p:nvSpPr>
          <p:cNvPr id="15" name="Text 12"/>
          <p:cNvSpPr/>
          <p:nvPr/>
        </p:nvSpPr>
        <p:spPr>
          <a:xfrm>
            <a:off x="498348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3 hrs</a:t>
            </a:r>
            <a:endParaRPr lang="en-US" sz="1500" dirty="0"/>
          </a:p>
        </p:txBody>
      </p:sp>
      <p:sp>
        <p:nvSpPr>
          <p:cNvPr id="16" name="Text 13"/>
          <p:cNvSpPr/>
          <p:nvPr/>
        </p:nvSpPr>
        <p:spPr>
          <a:xfrm>
            <a:off x="498348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Total</a:t>
            </a:r>
            <a:endParaRPr lang="en-US" sz="900" dirty="0"/>
          </a:p>
        </p:txBody>
      </p:sp>
      <p:sp>
        <p:nvSpPr>
          <p:cNvPr id="17" name="Text 14"/>
          <p:cNvSpPr/>
          <p:nvPr/>
        </p:nvSpPr>
        <p:spPr>
          <a:xfrm>
            <a:off x="731520" y="3566160"/>
            <a:ext cx="5486400" cy="274320"/>
          </a:xfrm>
          <a:prstGeom prst="rect">
            <a:avLst/>
          </a:prstGeom>
          <a:noFill/>
          <a:ln/>
        </p:spPr>
        <p:txBody>
          <a:bodyPr wrap="square" lIns="0" tIns="0" rIns="0" bIns="0" rtlCol="0" anchor="ctr"/>
          <a:lstStyle/>
          <a:p>
            <a:pPr marL="0" indent="0">
              <a:buNone/>
            </a:pPr>
            <a:r>
              <a:rPr lang="en-US" sz="1150" b="1" kern="0" spc="150" dirty="0">
                <a:solidFill>
                  <a:srgbClr val="F2A93B"/>
                </a:solidFill>
              </a:rPr>
              <a:t>TOPICS COVERED</a:t>
            </a:r>
            <a:endParaRPr lang="en-US" sz="1150" dirty="0"/>
          </a:p>
        </p:txBody>
      </p:sp>
      <p:sp>
        <p:nvSpPr>
          <p:cNvPr id="18" name="Shape 15"/>
          <p:cNvSpPr/>
          <p:nvPr/>
        </p:nvSpPr>
        <p:spPr>
          <a:xfrm>
            <a:off x="731520" y="4005072"/>
            <a:ext cx="91440" cy="91440"/>
          </a:xfrm>
          <a:prstGeom prst="ellipse">
            <a:avLst/>
          </a:prstGeom>
          <a:solidFill>
            <a:srgbClr val="F2A93B"/>
          </a:solidFill>
          <a:ln/>
        </p:spPr>
      </p:sp>
      <p:sp>
        <p:nvSpPr>
          <p:cNvPr id="19" name="Text 16"/>
          <p:cNvSpPr/>
          <p:nvPr/>
        </p:nvSpPr>
        <p:spPr>
          <a:xfrm>
            <a:off x="100584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File Handling</a:t>
            </a:r>
            <a:endParaRPr lang="en-US" sz="1300" dirty="0"/>
          </a:p>
        </p:txBody>
      </p:sp>
      <p:sp>
        <p:nvSpPr>
          <p:cNvPr id="20" name="Shape 17"/>
          <p:cNvSpPr/>
          <p:nvPr/>
        </p:nvSpPr>
        <p:spPr>
          <a:xfrm>
            <a:off x="5943600" y="4005072"/>
            <a:ext cx="91440" cy="91440"/>
          </a:xfrm>
          <a:prstGeom prst="ellipse">
            <a:avLst/>
          </a:prstGeom>
          <a:solidFill>
            <a:srgbClr val="F2A93B"/>
          </a:solidFill>
          <a:ln/>
        </p:spPr>
      </p:sp>
      <p:sp>
        <p:nvSpPr>
          <p:cNvPr id="21" name="Text 18"/>
          <p:cNvSpPr/>
          <p:nvPr/>
        </p:nvSpPr>
        <p:spPr>
          <a:xfrm>
            <a:off x="621792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Read Files</a:t>
            </a:r>
            <a:endParaRPr lang="en-US" sz="1300" dirty="0"/>
          </a:p>
        </p:txBody>
      </p:sp>
      <p:sp>
        <p:nvSpPr>
          <p:cNvPr id="22" name="Shape 19"/>
          <p:cNvSpPr/>
          <p:nvPr/>
        </p:nvSpPr>
        <p:spPr>
          <a:xfrm>
            <a:off x="731520" y="4462272"/>
            <a:ext cx="91440" cy="91440"/>
          </a:xfrm>
          <a:prstGeom prst="ellipse">
            <a:avLst/>
          </a:prstGeom>
          <a:solidFill>
            <a:srgbClr val="F2A93B"/>
          </a:solidFill>
          <a:ln/>
        </p:spPr>
      </p:sp>
      <p:sp>
        <p:nvSpPr>
          <p:cNvPr id="23" name="Text 20"/>
          <p:cNvSpPr/>
          <p:nvPr/>
        </p:nvSpPr>
        <p:spPr>
          <a:xfrm>
            <a:off x="100584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Write Files</a:t>
            </a:r>
            <a:endParaRPr lang="en-US" sz="1300" dirty="0"/>
          </a:p>
        </p:txBody>
      </p:sp>
      <p:sp>
        <p:nvSpPr>
          <p:cNvPr id="24" name="Shape 21"/>
          <p:cNvSpPr/>
          <p:nvPr/>
        </p:nvSpPr>
        <p:spPr>
          <a:xfrm>
            <a:off x="5943600" y="4462272"/>
            <a:ext cx="91440" cy="91440"/>
          </a:xfrm>
          <a:prstGeom prst="ellipse">
            <a:avLst/>
          </a:prstGeom>
          <a:solidFill>
            <a:srgbClr val="F2A93B"/>
          </a:solidFill>
          <a:ln/>
        </p:spPr>
      </p:sp>
      <p:sp>
        <p:nvSpPr>
          <p:cNvPr id="25" name="Text 22"/>
          <p:cNvSpPr/>
          <p:nvPr/>
        </p:nvSpPr>
        <p:spPr>
          <a:xfrm>
            <a:off x="621792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Exceptions</a:t>
            </a:r>
            <a:endParaRPr lang="en-US" sz="1300" dirty="0"/>
          </a:p>
        </p:txBody>
      </p:sp>
      <p:sp>
        <p:nvSpPr>
          <p:cNvPr id="26" name="Shape 23"/>
          <p:cNvSpPr/>
          <p:nvPr/>
        </p:nvSpPr>
        <p:spPr>
          <a:xfrm>
            <a:off x="731520" y="4919472"/>
            <a:ext cx="91440" cy="91440"/>
          </a:xfrm>
          <a:prstGeom prst="ellipse">
            <a:avLst/>
          </a:prstGeom>
          <a:solidFill>
            <a:srgbClr val="F2A93B"/>
          </a:solidFill>
          <a:ln/>
        </p:spPr>
      </p:sp>
      <p:sp>
        <p:nvSpPr>
          <p:cNvPr id="27" name="Text 24"/>
          <p:cNvSpPr/>
          <p:nvPr/>
        </p:nvSpPr>
        <p:spPr>
          <a:xfrm>
            <a:off x="1005840" y="48463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Try Except</a:t>
            </a:r>
            <a:endParaRPr lang="en-US" sz="1300" dirty="0"/>
          </a:p>
        </p:txBody>
      </p:sp>
      <p:sp>
        <p:nvSpPr>
          <p:cNvPr id="29" name="Text 25"/>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53</a:t>
            </a:r>
            <a:endParaRPr lang="en-US" sz="1000" dirty="0"/>
          </a:p>
        </p:txBody>
      </p:sp>
      <p:sp>
        <p:nvSpPr>
          <p:cNvPr id="30" name="Text 26"/>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8 — FILES AND EXCEPTION HANDLING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Learning Objectives &amp; Theory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846320" cy="457200"/>
          </a:xfrm>
          <a:prstGeom prst="rect">
            <a:avLst/>
          </a:prstGeom>
          <a:noFill/>
          <a:ln/>
        </p:spPr>
        <p:txBody>
          <a:bodyPr wrap="square" lIns="0" tIns="0" rIns="0" bIns="0" rtlCol="0" anchor="ctr"/>
          <a:lstStyle/>
          <a:p>
            <a:pPr marL="0" indent="0">
              <a:buNone/>
            </a:pPr>
            <a:r>
              <a:rPr lang="en-US" sz="1500" b="1" dirty="0">
                <a:solidFill>
                  <a:srgbClr val="1B2733"/>
                </a:solidFill>
              </a:rPr>
              <a:t>Learning Objectives</a:t>
            </a:r>
            <a:endParaRPr lang="en-US" sz="1500" dirty="0"/>
          </a:p>
        </p:txBody>
      </p:sp>
      <p:sp>
        <p:nvSpPr>
          <p:cNvPr id="7" name="Text 4"/>
          <p:cNvSpPr/>
          <p:nvPr/>
        </p:nvSpPr>
        <p:spPr>
          <a:xfrm>
            <a:off x="548640" y="2011680"/>
            <a:ext cx="539496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Read from and write to files using Python</a:t>
            </a:r>
            <a:endParaRPr lang="en-US" sz="1300" dirty="0"/>
          </a:p>
          <a:p>
            <a:pPr marL="342900" indent="-342900">
              <a:lnSpc>
                <a:spcPct val="115000"/>
              </a:lnSpc>
              <a:spcAft>
                <a:spcPts val="1000"/>
              </a:spcAft>
              <a:buSzPct val="100000"/>
              <a:buChar char="●"/>
            </a:pPr>
            <a:r>
              <a:rPr lang="en-US" sz="1300" dirty="0">
                <a:solidFill>
                  <a:srgbClr val="1B2733"/>
                </a:solidFill>
              </a:rPr>
              <a:t>Understand common file modes</a:t>
            </a:r>
            <a:endParaRPr lang="en-US" sz="1300" dirty="0"/>
          </a:p>
          <a:p>
            <a:pPr marL="342900" indent="-342900">
              <a:lnSpc>
                <a:spcPct val="115000"/>
              </a:lnSpc>
              <a:spcAft>
                <a:spcPts val="1000"/>
              </a:spcAft>
              <a:buSzPct val="100000"/>
              <a:buChar char="●"/>
            </a:pPr>
            <a:r>
              <a:rPr lang="en-US" sz="1300" dirty="0">
                <a:solidFill>
                  <a:srgbClr val="1B2733"/>
                </a:solidFill>
              </a:rPr>
              <a:t>Understand common error/exception types</a:t>
            </a:r>
            <a:endParaRPr lang="en-US" sz="1300" dirty="0"/>
          </a:p>
          <a:p>
            <a:pPr marL="342900" indent="-342900">
              <a:lnSpc>
                <a:spcPct val="115000"/>
              </a:lnSpc>
              <a:spcAft>
                <a:spcPts val="1000"/>
              </a:spcAft>
              <a:buSzPct val="100000"/>
              <a:buChar char="●"/>
            </a:pPr>
            <a:r>
              <a:rPr lang="en-US" sz="1300" dirty="0">
                <a:solidFill>
                  <a:srgbClr val="1B2733"/>
                </a:solidFill>
              </a:rPr>
              <a:t>Handle errors safely using try-except</a:t>
            </a:r>
            <a:endParaRPr lang="en-US" sz="1300" dirty="0"/>
          </a:p>
        </p:txBody>
      </p:sp>
      <p:sp>
        <p:nvSpPr>
          <p:cNvPr id="8" name="Shape 5"/>
          <p:cNvSpPr/>
          <p:nvPr/>
        </p:nvSpPr>
        <p:spPr>
          <a:xfrm>
            <a:off x="6172200" y="1417320"/>
            <a:ext cx="13716" cy="4663440"/>
          </a:xfrm>
          <a:prstGeom prst="rect">
            <a:avLst/>
          </a:prstGeom>
          <a:solidFill>
            <a:srgbClr val="DCE6F0"/>
          </a:solidFill>
          <a:ln/>
        </p:spPr>
      </p:sp>
      <p:sp>
        <p:nvSpPr>
          <p:cNvPr id="9" name="Shape 6"/>
          <p:cNvSpPr/>
          <p:nvPr/>
        </p:nvSpPr>
        <p:spPr>
          <a:xfrm>
            <a:off x="6400800" y="1463040"/>
            <a:ext cx="384048" cy="384048"/>
          </a:xfrm>
          <a:prstGeom prst="ellipse">
            <a:avLst/>
          </a:prstGeom>
          <a:solidFill>
            <a:srgbClr val="1E5A96"/>
          </a:solidFill>
          <a:ln/>
        </p:spPr>
      </p:sp>
      <p:pic>
        <p:nvPicPr>
          <p:cNvPr id="10" name="Image 1" descr="preencoded.png"/>
          <p:cNvPicPr>
            <a:picLocks noChangeAspect="1"/>
          </p:cNvPicPr>
          <p:nvPr/>
        </p:nvPicPr>
        <p:blipFill>
          <a:blip r:embed="rId4"/>
          <a:stretch>
            <a:fillRect/>
          </a:stretch>
        </p:blipFill>
        <p:spPr>
          <a:xfrm>
            <a:off x="6483096" y="1545336"/>
            <a:ext cx="219456" cy="219456"/>
          </a:xfrm>
          <a:prstGeom prst="rect">
            <a:avLst/>
          </a:prstGeom>
        </p:spPr>
      </p:pic>
      <p:sp>
        <p:nvSpPr>
          <p:cNvPr id="11" name="Text 7"/>
          <p:cNvSpPr/>
          <p:nvPr/>
        </p:nvSpPr>
        <p:spPr>
          <a:xfrm>
            <a:off x="6912864" y="1435608"/>
            <a:ext cx="4663440" cy="457200"/>
          </a:xfrm>
          <a:prstGeom prst="rect">
            <a:avLst/>
          </a:prstGeom>
          <a:noFill/>
          <a:ln/>
        </p:spPr>
        <p:txBody>
          <a:bodyPr wrap="square" lIns="0" tIns="0" rIns="0" bIns="0" rtlCol="0" anchor="ctr"/>
          <a:lstStyle/>
          <a:p>
            <a:pPr marL="0" indent="0">
              <a:buNone/>
            </a:pPr>
            <a:r>
              <a:rPr lang="en-US" sz="1500" b="1" dirty="0">
                <a:solidFill>
                  <a:srgbClr val="1B2733"/>
                </a:solidFill>
              </a:rPr>
              <a:t>Theory Explanation</a:t>
            </a:r>
            <a:endParaRPr lang="en-US" sz="1500" dirty="0"/>
          </a:p>
        </p:txBody>
      </p:sp>
      <p:sp>
        <p:nvSpPr>
          <p:cNvPr id="12" name="Text 8"/>
          <p:cNvSpPr/>
          <p:nvPr/>
        </p:nvSpPr>
        <p:spPr>
          <a:xfrm>
            <a:off x="6400800" y="2011680"/>
            <a:ext cx="521208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File modes: 'r' read, 'w' write (overwrite), 'a' append, 'r+' read &amp; write</a:t>
            </a:r>
            <a:endParaRPr lang="en-US" sz="1300" dirty="0"/>
          </a:p>
          <a:p>
            <a:pPr marL="342900" indent="-342900">
              <a:lnSpc>
                <a:spcPct val="115000"/>
              </a:lnSpc>
              <a:spcAft>
                <a:spcPts val="1000"/>
              </a:spcAft>
              <a:buSzPct val="100000"/>
              <a:buChar char="●"/>
            </a:pPr>
            <a:r>
              <a:rPr lang="en-US" sz="1300" dirty="0">
                <a:solidFill>
                  <a:srgbClr val="1B2733"/>
                </a:solidFill>
              </a:rPr>
              <a:t>Common exceptions: ValueError, TypeError, ZeroDivisionError, FileNotFoundError</a:t>
            </a:r>
            <a:endParaRPr lang="en-US" sz="1300" dirty="0"/>
          </a:p>
          <a:p>
            <a:pPr marL="342900" indent="-342900">
              <a:lnSpc>
                <a:spcPct val="115000"/>
              </a:lnSpc>
              <a:spcAft>
                <a:spcPts val="1000"/>
              </a:spcAft>
              <a:buSzPct val="100000"/>
              <a:buChar char="●"/>
            </a:pPr>
            <a:r>
              <a:rPr lang="en-US" sz="1300" dirty="0">
                <a:solidFill>
                  <a:srgbClr val="1B2733"/>
                </a:solidFill>
              </a:rPr>
              <a:t>try runs risky code; except catches errors; finally always runs</a:t>
            </a:r>
            <a:endParaRPr lang="en-US" sz="1300" dirty="0"/>
          </a:p>
          <a:p>
            <a:pPr marL="342900" indent="-342900">
              <a:lnSpc>
                <a:spcPct val="115000"/>
              </a:lnSpc>
              <a:spcAft>
                <a:spcPts val="1000"/>
              </a:spcAft>
              <a:buSzPct val="100000"/>
              <a:buChar char="●"/>
            </a:pPr>
            <a:r>
              <a:rPr lang="en-US" sz="1300" dirty="0">
                <a:solidFill>
                  <a:srgbClr val="1B2733"/>
                </a:solidFill>
              </a:rPr>
              <a:t>Using the with statement automatically closes files safely</a:t>
            </a:r>
            <a:endParaRPr lang="en-US" sz="1300" dirty="0"/>
          </a:p>
        </p:txBody>
      </p:sp>
      <p:sp>
        <p:nvSpPr>
          <p:cNvPr id="13" name="Text 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54</a:t>
            </a:r>
            <a:endParaRPr lang="en-US" sz="10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8 — FILES AND EXCEPTION HANDLING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Concept Diagram</a:t>
            </a:r>
            <a:endParaRPr lang="en-US" sz="2700" dirty="0"/>
          </a:p>
        </p:txBody>
      </p:sp>
      <p:sp>
        <p:nvSpPr>
          <p:cNvPr id="4" name="Shape 2"/>
          <p:cNvSpPr/>
          <p:nvPr/>
        </p:nvSpPr>
        <p:spPr>
          <a:xfrm>
            <a:off x="457200" y="1417320"/>
            <a:ext cx="11247120" cy="4663440"/>
          </a:xfrm>
          <a:prstGeom prst="roundRect">
            <a:avLst>
              <a:gd name="adj" fmla="val 1961"/>
            </a:avLst>
          </a:prstGeom>
          <a:solidFill>
            <a:srgbClr val="EEF4FA"/>
          </a:solidFill>
          <a:ln/>
        </p:spPr>
      </p:sp>
      <p:sp>
        <p:nvSpPr>
          <p:cNvPr id="5" name="Shape 3"/>
          <p:cNvSpPr/>
          <p:nvPr/>
        </p:nvSpPr>
        <p:spPr>
          <a:xfrm>
            <a:off x="1280160" y="1783080"/>
            <a:ext cx="2377440" cy="548640"/>
          </a:xfrm>
          <a:prstGeom prst="roundRect">
            <a:avLst>
              <a:gd name="adj" fmla="val 11667"/>
            </a:avLst>
          </a:prstGeom>
          <a:solidFill>
            <a:srgbClr val="132A46"/>
          </a:solidFill>
          <a:ln/>
        </p:spPr>
      </p:sp>
      <p:sp>
        <p:nvSpPr>
          <p:cNvPr id="6" name="Text 4"/>
          <p:cNvSpPr/>
          <p:nvPr/>
        </p:nvSpPr>
        <p:spPr>
          <a:xfrm>
            <a:off x="1371600" y="1783080"/>
            <a:ext cx="2194560" cy="548640"/>
          </a:xfrm>
          <a:prstGeom prst="rect">
            <a:avLst/>
          </a:prstGeom>
          <a:noFill/>
          <a:ln/>
        </p:spPr>
        <p:txBody>
          <a:bodyPr wrap="square" lIns="0" tIns="0" rIns="0" bIns="0" rtlCol="0" anchor="ctr"/>
          <a:lstStyle/>
          <a:p>
            <a:pPr marL="0" indent="0" algn="ctr">
              <a:buNone/>
            </a:pPr>
            <a:r>
              <a:rPr lang="en-US" sz="1150" b="1" dirty="0">
                <a:solidFill>
                  <a:srgbClr val="FFFFFF"/>
                </a:solidFill>
              </a:rPr>
              <a:t>try: risky code</a:t>
            </a:r>
            <a:endParaRPr lang="en-US" sz="1150" dirty="0"/>
          </a:p>
        </p:txBody>
      </p:sp>
      <p:sp>
        <p:nvSpPr>
          <p:cNvPr id="7" name="Shape 5"/>
          <p:cNvSpPr/>
          <p:nvPr/>
        </p:nvSpPr>
        <p:spPr>
          <a:xfrm>
            <a:off x="2468880" y="2331720"/>
            <a:ext cx="0" cy="365760"/>
          </a:xfrm>
          <a:prstGeom prst="line">
            <a:avLst/>
          </a:prstGeom>
          <a:noFill/>
          <a:ln w="25400">
            <a:solidFill>
              <a:srgbClr val="5C6B7A"/>
            </a:solidFill>
            <a:prstDash val="solid"/>
            <a:tailEnd type="triangle"/>
          </a:ln>
        </p:spPr>
      </p:sp>
      <p:sp>
        <p:nvSpPr>
          <p:cNvPr id="8" name="Shape 6"/>
          <p:cNvSpPr/>
          <p:nvPr/>
        </p:nvSpPr>
        <p:spPr>
          <a:xfrm>
            <a:off x="1188720" y="2788920"/>
            <a:ext cx="2560320" cy="1005840"/>
          </a:xfrm>
          <a:prstGeom prst="diamond">
            <a:avLst/>
          </a:prstGeom>
          <a:solidFill>
            <a:srgbClr val="F2A93B"/>
          </a:solidFill>
          <a:ln/>
        </p:spPr>
      </p:sp>
      <p:sp>
        <p:nvSpPr>
          <p:cNvPr id="9" name="Text 7"/>
          <p:cNvSpPr/>
          <p:nvPr/>
        </p:nvSpPr>
        <p:spPr>
          <a:xfrm>
            <a:off x="1280160" y="2788920"/>
            <a:ext cx="2377440" cy="1005840"/>
          </a:xfrm>
          <a:prstGeom prst="rect">
            <a:avLst/>
          </a:prstGeom>
          <a:noFill/>
          <a:ln/>
        </p:spPr>
        <p:txBody>
          <a:bodyPr wrap="square" lIns="0" tIns="0" rIns="0" bIns="0" rtlCol="0" anchor="ctr"/>
          <a:lstStyle/>
          <a:p>
            <a:pPr marL="0" indent="0" algn="ctr">
              <a:buNone/>
            </a:pPr>
            <a:r>
              <a:rPr lang="en-US" sz="1100" b="1" dirty="0">
                <a:solidFill>
                  <a:srgbClr val="1B2733"/>
                </a:solidFill>
              </a:rPr>
              <a:t>Error</a:t>
            </a:r>
            <a:endParaRPr lang="en-US" sz="1100" dirty="0"/>
          </a:p>
          <a:p>
            <a:pPr marL="0" indent="0" algn="ctr">
              <a:buNone/>
            </a:pPr>
            <a:r>
              <a:rPr lang="en-US" sz="1100" b="1" dirty="0">
                <a:solidFill>
                  <a:srgbClr val="1B2733"/>
                </a:solidFill>
              </a:rPr>
              <a:t>occurred?</a:t>
            </a:r>
            <a:endParaRPr lang="en-US" sz="1100" dirty="0"/>
          </a:p>
        </p:txBody>
      </p:sp>
      <p:sp>
        <p:nvSpPr>
          <p:cNvPr id="10" name="Shape 8"/>
          <p:cNvSpPr/>
          <p:nvPr/>
        </p:nvSpPr>
        <p:spPr>
          <a:xfrm>
            <a:off x="2468880" y="3794760"/>
            <a:ext cx="0" cy="365760"/>
          </a:xfrm>
          <a:prstGeom prst="line">
            <a:avLst/>
          </a:prstGeom>
          <a:noFill/>
          <a:ln w="25400">
            <a:solidFill>
              <a:srgbClr val="5C6B7A"/>
            </a:solidFill>
            <a:prstDash val="solid"/>
            <a:tailEnd type="triangle"/>
          </a:ln>
        </p:spPr>
      </p:sp>
      <p:sp>
        <p:nvSpPr>
          <p:cNvPr id="11" name="Shape 9"/>
          <p:cNvSpPr/>
          <p:nvPr/>
        </p:nvSpPr>
        <p:spPr>
          <a:xfrm>
            <a:off x="1280160" y="4206240"/>
            <a:ext cx="2377440" cy="548640"/>
          </a:xfrm>
          <a:prstGeom prst="roundRect">
            <a:avLst>
              <a:gd name="adj" fmla="val 11667"/>
            </a:avLst>
          </a:prstGeom>
          <a:solidFill>
            <a:srgbClr val="1E5A96"/>
          </a:solidFill>
          <a:ln/>
        </p:spPr>
      </p:sp>
      <p:sp>
        <p:nvSpPr>
          <p:cNvPr id="12" name="Text 10"/>
          <p:cNvSpPr/>
          <p:nvPr/>
        </p:nvSpPr>
        <p:spPr>
          <a:xfrm>
            <a:off x="1371600" y="4206240"/>
            <a:ext cx="2194560" cy="548640"/>
          </a:xfrm>
          <a:prstGeom prst="rect">
            <a:avLst/>
          </a:prstGeom>
          <a:noFill/>
          <a:ln/>
        </p:spPr>
        <p:txBody>
          <a:bodyPr wrap="square" lIns="0" tIns="0" rIns="0" bIns="0" rtlCol="0" anchor="ctr"/>
          <a:lstStyle/>
          <a:p>
            <a:pPr marL="0" indent="0" algn="ctr">
              <a:buNone/>
            </a:pPr>
            <a:r>
              <a:rPr lang="en-US" sz="1150" b="1" dirty="0">
                <a:solidFill>
                  <a:srgbClr val="FFFFFF"/>
                </a:solidFill>
              </a:rPr>
              <a:t>finally: cleanup</a:t>
            </a:r>
            <a:endParaRPr lang="en-US" sz="1150" dirty="0"/>
          </a:p>
        </p:txBody>
      </p:sp>
      <p:sp>
        <p:nvSpPr>
          <p:cNvPr id="13" name="Shape 11"/>
          <p:cNvSpPr/>
          <p:nvPr/>
        </p:nvSpPr>
        <p:spPr>
          <a:xfrm>
            <a:off x="3749040" y="3291840"/>
            <a:ext cx="1645920" cy="0"/>
          </a:xfrm>
          <a:prstGeom prst="line">
            <a:avLst/>
          </a:prstGeom>
          <a:noFill/>
          <a:ln w="25400">
            <a:solidFill>
              <a:srgbClr val="5C6B7A"/>
            </a:solidFill>
            <a:prstDash val="solid"/>
            <a:tailEnd type="triangle"/>
          </a:ln>
        </p:spPr>
      </p:sp>
      <p:sp>
        <p:nvSpPr>
          <p:cNvPr id="14" name="Text 12"/>
          <p:cNvSpPr/>
          <p:nvPr/>
        </p:nvSpPr>
        <p:spPr>
          <a:xfrm>
            <a:off x="3840480" y="2971800"/>
            <a:ext cx="548640" cy="274320"/>
          </a:xfrm>
          <a:prstGeom prst="rect">
            <a:avLst/>
          </a:prstGeom>
          <a:noFill/>
          <a:ln/>
        </p:spPr>
        <p:txBody>
          <a:bodyPr wrap="square" lIns="0" tIns="0" rIns="0" bIns="0" rtlCol="0" anchor="ctr"/>
          <a:lstStyle/>
          <a:p>
            <a:pPr marL="0" indent="0">
              <a:buNone/>
            </a:pPr>
            <a:r>
              <a:rPr lang="en-US" sz="1000" i="1" dirty="0">
                <a:solidFill>
                  <a:srgbClr val="5C6B7A"/>
                </a:solidFill>
              </a:rPr>
              <a:t>Yes</a:t>
            </a:r>
            <a:endParaRPr lang="en-US" sz="1000" dirty="0"/>
          </a:p>
        </p:txBody>
      </p:sp>
      <p:sp>
        <p:nvSpPr>
          <p:cNvPr id="15" name="Text 13"/>
          <p:cNvSpPr/>
          <p:nvPr/>
        </p:nvSpPr>
        <p:spPr>
          <a:xfrm>
            <a:off x="2651760" y="3840480"/>
            <a:ext cx="548640" cy="274320"/>
          </a:xfrm>
          <a:prstGeom prst="rect">
            <a:avLst/>
          </a:prstGeom>
          <a:noFill/>
          <a:ln/>
        </p:spPr>
        <p:txBody>
          <a:bodyPr wrap="square" lIns="0" tIns="0" rIns="0" bIns="0" rtlCol="0" anchor="ctr"/>
          <a:lstStyle/>
          <a:p>
            <a:pPr marL="0" indent="0">
              <a:buNone/>
            </a:pPr>
            <a:r>
              <a:rPr lang="en-US" sz="1000" i="1" dirty="0">
                <a:solidFill>
                  <a:srgbClr val="5C6B7A"/>
                </a:solidFill>
              </a:rPr>
              <a:t>No</a:t>
            </a:r>
            <a:endParaRPr lang="en-US" sz="1000" dirty="0"/>
          </a:p>
        </p:txBody>
      </p:sp>
      <p:sp>
        <p:nvSpPr>
          <p:cNvPr id="16" name="Shape 14"/>
          <p:cNvSpPr/>
          <p:nvPr/>
        </p:nvSpPr>
        <p:spPr>
          <a:xfrm>
            <a:off x="5486400" y="2971800"/>
            <a:ext cx="2377440" cy="640080"/>
          </a:xfrm>
          <a:prstGeom prst="roundRect">
            <a:avLst>
              <a:gd name="adj" fmla="val 10000"/>
            </a:avLst>
          </a:prstGeom>
          <a:solidFill>
            <a:srgbClr val="B3261E"/>
          </a:solidFill>
          <a:ln/>
        </p:spPr>
      </p:sp>
      <p:sp>
        <p:nvSpPr>
          <p:cNvPr id="17" name="Text 15"/>
          <p:cNvSpPr/>
          <p:nvPr/>
        </p:nvSpPr>
        <p:spPr>
          <a:xfrm>
            <a:off x="5577840" y="2971800"/>
            <a:ext cx="2194560" cy="640080"/>
          </a:xfrm>
          <a:prstGeom prst="rect">
            <a:avLst/>
          </a:prstGeom>
          <a:noFill/>
          <a:ln/>
        </p:spPr>
        <p:txBody>
          <a:bodyPr wrap="square" lIns="0" tIns="0" rIns="0" bIns="0" rtlCol="0" anchor="ctr"/>
          <a:lstStyle/>
          <a:p>
            <a:pPr marL="0" indent="0" algn="ctr">
              <a:buNone/>
            </a:pPr>
            <a:r>
              <a:rPr lang="en-US" sz="1150" b="1" dirty="0">
                <a:solidFill>
                  <a:srgbClr val="FFFFFF"/>
                </a:solidFill>
              </a:rPr>
              <a:t>except: handle error</a:t>
            </a:r>
            <a:endParaRPr lang="en-US" sz="1150" dirty="0"/>
          </a:p>
        </p:txBody>
      </p:sp>
      <p:sp>
        <p:nvSpPr>
          <p:cNvPr id="18" name="Shape 16"/>
          <p:cNvSpPr/>
          <p:nvPr/>
        </p:nvSpPr>
        <p:spPr>
          <a:xfrm>
            <a:off x="6675120" y="3611880"/>
            <a:ext cx="0" cy="548640"/>
          </a:xfrm>
          <a:prstGeom prst="line">
            <a:avLst/>
          </a:prstGeom>
          <a:noFill/>
          <a:ln w="25400">
            <a:solidFill>
              <a:srgbClr val="5C6B7A"/>
            </a:solidFill>
            <a:prstDash val="solid"/>
          </a:ln>
        </p:spPr>
      </p:sp>
      <p:sp>
        <p:nvSpPr>
          <p:cNvPr id="19" name="Shape 17"/>
          <p:cNvSpPr/>
          <p:nvPr/>
        </p:nvSpPr>
        <p:spPr>
          <a:xfrm>
            <a:off x="2468880" y="4160520"/>
            <a:ext cx="4206240" cy="0"/>
          </a:xfrm>
          <a:prstGeom prst="line">
            <a:avLst/>
          </a:prstGeom>
          <a:noFill/>
          <a:ln w="25400">
            <a:solidFill>
              <a:srgbClr val="5C6B7A"/>
            </a:solidFill>
            <a:prstDash val="solid"/>
          </a:ln>
        </p:spPr>
      </p:sp>
      <p:sp>
        <p:nvSpPr>
          <p:cNvPr id="20" name="Text 1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55</a:t>
            </a:r>
            <a:endParaRPr lang="en-US" sz="1000" dirty="0"/>
          </a:p>
        </p:txBody>
      </p:sp>
      <p:sp>
        <p:nvSpPr>
          <p:cNvPr id="21" name="Text 1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8 — FILES AND EXCEPTION HANDLING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Where This Is Used</a:t>
            </a:r>
            <a:endParaRPr lang="en-US" sz="2700" dirty="0"/>
          </a:p>
        </p:txBody>
      </p:sp>
      <p:sp>
        <p:nvSpPr>
          <p:cNvPr id="4" name="Shape 2"/>
          <p:cNvSpPr/>
          <p:nvPr/>
        </p:nvSpPr>
        <p:spPr>
          <a:xfrm>
            <a:off x="548640" y="1645920"/>
            <a:ext cx="3505200" cy="3566160"/>
          </a:xfrm>
          <a:prstGeom prst="roundRect">
            <a:avLst>
              <a:gd name="adj" fmla="val 2609"/>
            </a:avLst>
          </a:prstGeom>
          <a:solidFill>
            <a:srgbClr val="1E5A96"/>
          </a:solidFill>
          <a:ln/>
        </p:spPr>
      </p:sp>
      <p:sp>
        <p:nvSpPr>
          <p:cNvPr id="5" name="Shape 3"/>
          <p:cNvSpPr/>
          <p:nvPr/>
        </p:nvSpPr>
        <p:spPr>
          <a:xfrm>
            <a:off x="1981200" y="1965960"/>
            <a:ext cx="640080" cy="640080"/>
          </a:xfrm>
          <a:prstGeom prst="ellipse">
            <a:avLst/>
          </a:prstGeom>
          <a:solidFill>
            <a:srgbClr val="FFFFFF">
              <a:alpha val="88000"/>
            </a:srgbClr>
          </a:solidFill>
          <a:ln/>
        </p:spPr>
      </p:sp>
      <p:pic>
        <p:nvPicPr>
          <p:cNvPr id="6" name="Image 0" descr="preencoded.png"/>
          <p:cNvPicPr>
            <a:picLocks noChangeAspect="1"/>
          </p:cNvPicPr>
          <p:nvPr/>
        </p:nvPicPr>
        <p:blipFill>
          <a:blip r:embed="rId3"/>
          <a:stretch>
            <a:fillRect/>
          </a:stretch>
        </p:blipFill>
        <p:spPr>
          <a:xfrm>
            <a:off x="2118360" y="2103120"/>
            <a:ext cx="365760" cy="365760"/>
          </a:xfrm>
          <a:prstGeom prst="rect">
            <a:avLst/>
          </a:prstGeom>
        </p:spPr>
      </p:pic>
      <p:sp>
        <p:nvSpPr>
          <p:cNvPr id="7" name="Text 4"/>
          <p:cNvSpPr/>
          <p:nvPr/>
        </p:nvSpPr>
        <p:spPr>
          <a:xfrm>
            <a:off x="73152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Notes Apps</a:t>
            </a:r>
            <a:endParaRPr lang="en-US" sz="1500" dirty="0"/>
          </a:p>
        </p:txBody>
      </p:sp>
      <p:sp>
        <p:nvSpPr>
          <p:cNvPr id="8" name="Text 5"/>
          <p:cNvSpPr/>
          <p:nvPr/>
        </p:nvSpPr>
        <p:spPr>
          <a:xfrm>
            <a:off x="77724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Saving and loading user notes from a file</a:t>
            </a:r>
            <a:endParaRPr lang="en-US" sz="1200" dirty="0"/>
          </a:p>
        </p:txBody>
      </p:sp>
      <p:sp>
        <p:nvSpPr>
          <p:cNvPr id="9" name="Shape 6"/>
          <p:cNvSpPr/>
          <p:nvPr/>
        </p:nvSpPr>
        <p:spPr>
          <a:xfrm>
            <a:off x="4328160" y="1645920"/>
            <a:ext cx="3505200" cy="3566160"/>
          </a:xfrm>
          <a:prstGeom prst="roundRect">
            <a:avLst>
              <a:gd name="adj" fmla="val 2609"/>
            </a:avLst>
          </a:prstGeom>
          <a:solidFill>
            <a:srgbClr val="132A46"/>
          </a:solidFill>
          <a:ln/>
        </p:spPr>
      </p:sp>
      <p:sp>
        <p:nvSpPr>
          <p:cNvPr id="10" name="Shape 7"/>
          <p:cNvSpPr/>
          <p:nvPr/>
        </p:nvSpPr>
        <p:spPr>
          <a:xfrm>
            <a:off x="5760720" y="1965960"/>
            <a:ext cx="640080" cy="640080"/>
          </a:xfrm>
          <a:prstGeom prst="ellipse">
            <a:avLst/>
          </a:prstGeom>
          <a:solidFill>
            <a:srgbClr val="FFFFFF">
              <a:alpha val="88000"/>
            </a:srgbClr>
          </a:solidFill>
          <a:ln/>
        </p:spPr>
      </p:sp>
      <p:pic>
        <p:nvPicPr>
          <p:cNvPr id="11" name="Image 1" descr="preencoded.png"/>
          <p:cNvPicPr>
            <a:picLocks noChangeAspect="1"/>
          </p:cNvPicPr>
          <p:nvPr/>
        </p:nvPicPr>
        <p:blipFill>
          <a:blip r:embed="rId3"/>
          <a:stretch>
            <a:fillRect/>
          </a:stretch>
        </p:blipFill>
        <p:spPr>
          <a:xfrm>
            <a:off x="5897880" y="2103120"/>
            <a:ext cx="365760" cy="365760"/>
          </a:xfrm>
          <a:prstGeom prst="rect">
            <a:avLst/>
          </a:prstGeom>
        </p:spPr>
      </p:pic>
      <p:sp>
        <p:nvSpPr>
          <p:cNvPr id="12" name="Text 8"/>
          <p:cNvSpPr/>
          <p:nvPr/>
        </p:nvSpPr>
        <p:spPr>
          <a:xfrm>
            <a:off x="451104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Log File Readers</a:t>
            </a:r>
            <a:endParaRPr lang="en-US" sz="1500" dirty="0"/>
          </a:p>
        </p:txBody>
      </p:sp>
      <p:sp>
        <p:nvSpPr>
          <p:cNvPr id="13" name="Text 9"/>
          <p:cNvSpPr/>
          <p:nvPr/>
        </p:nvSpPr>
        <p:spPr>
          <a:xfrm>
            <a:off x="455676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Reading server/application logs for analysis</a:t>
            </a:r>
            <a:endParaRPr lang="en-US" sz="1200" dirty="0"/>
          </a:p>
        </p:txBody>
      </p:sp>
      <p:sp>
        <p:nvSpPr>
          <p:cNvPr id="14" name="Shape 10"/>
          <p:cNvSpPr/>
          <p:nvPr/>
        </p:nvSpPr>
        <p:spPr>
          <a:xfrm>
            <a:off x="8107680" y="1645920"/>
            <a:ext cx="3505200" cy="3566160"/>
          </a:xfrm>
          <a:prstGeom prst="roundRect">
            <a:avLst>
              <a:gd name="adj" fmla="val 2609"/>
            </a:avLst>
          </a:prstGeom>
          <a:solidFill>
            <a:srgbClr val="1E5A96"/>
          </a:solidFill>
          <a:ln/>
        </p:spPr>
      </p:sp>
      <p:sp>
        <p:nvSpPr>
          <p:cNvPr id="15" name="Shape 11"/>
          <p:cNvSpPr/>
          <p:nvPr/>
        </p:nvSpPr>
        <p:spPr>
          <a:xfrm>
            <a:off x="9540240" y="1965960"/>
            <a:ext cx="640080" cy="640080"/>
          </a:xfrm>
          <a:prstGeom prst="ellipse">
            <a:avLst/>
          </a:prstGeom>
          <a:solidFill>
            <a:srgbClr val="FFFFFF">
              <a:alpha val="88000"/>
            </a:srgbClr>
          </a:solidFill>
          <a:ln/>
        </p:spPr>
      </p:sp>
      <p:pic>
        <p:nvPicPr>
          <p:cNvPr id="16" name="Image 2" descr="preencoded.png"/>
          <p:cNvPicPr>
            <a:picLocks noChangeAspect="1"/>
          </p:cNvPicPr>
          <p:nvPr/>
        </p:nvPicPr>
        <p:blipFill>
          <a:blip r:embed="rId3"/>
          <a:stretch>
            <a:fillRect/>
          </a:stretch>
        </p:blipFill>
        <p:spPr>
          <a:xfrm>
            <a:off x="9677400" y="2103120"/>
            <a:ext cx="365760" cy="365760"/>
          </a:xfrm>
          <a:prstGeom prst="rect">
            <a:avLst/>
          </a:prstGeom>
        </p:spPr>
      </p:pic>
      <p:sp>
        <p:nvSpPr>
          <p:cNvPr id="17" name="Text 12"/>
          <p:cNvSpPr/>
          <p:nvPr/>
        </p:nvSpPr>
        <p:spPr>
          <a:xfrm>
            <a:off x="829056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Form Validation</a:t>
            </a:r>
            <a:endParaRPr lang="en-US" sz="1500" dirty="0"/>
          </a:p>
        </p:txBody>
      </p:sp>
      <p:sp>
        <p:nvSpPr>
          <p:cNvPr id="18" name="Text 13"/>
          <p:cNvSpPr/>
          <p:nvPr/>
        </p:nvSpPr>
        <p:spPr>
          <a:xfrm>
            <a:off x="833628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Catching invalid input without crashing the app</a:t>
            </a:r>
            <a:endParaRPr lang="en-US" sz="1200" dirty="0"/>
          </a:p>
        </p:txBody>
      </p:sp>
      <p:sp>
        <p:nvSpPr>
          <p:cNvPr id="19" name="Text 14"/>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56</a:t>
            </a:r>
            <a:endParaRPr lang="en-US" sz="10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8 — FILES AND EXCEPTION HANDLING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Coding Example &amp; Practical Exercises</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937760" cy="457200"/>
          </a:xfrm>
          <a:prstGeom prst="rect">
            <a:avLst/>
          </a:prstGeom>
          <a:noFill/>
          <a:ln/>
        </p:spPr>
        <p:txBody>
          <a:bodyPr wrap="square" lIns="0" tIns="0" rIns="0" bIns="0" rtlCol="0" anchor="ctr"/>
          <a:lstStyle/>
          <a:p>
            <a:pPr marL="0" indent="0">
              <a:buNone/>
            </a:pPr>
            <a:r>
              <a:rPr lang="en-US" sz="1500" b="1" dirty="0">
                <a:solidFill>
                  <a:srgbClr val="1B2733"/>
                </a:solidFill>
              </a:rPr>
              <a:t>Coding Example</a:t>
            </a:r>
            <a:endParaRPr lang="en-US" sz="1500" dirty="0"/>
          </a:p>
        </p:txBody>
      </p:sp>
      <p:sp>
        <p:nvSpPr>
          <p:cNvPr id="7" name="Shape 4"/>
          <p:cNvSpPr/>
          <p:nvPr/>
        </p:nvSpPr>
        <p:spPr>
          <a:xfrm>
            <a:off x="548640" y="2011680"/>
            <a:ext cx="5486400" cy="3108960"/>
          </a:xfrm>
          <a:prstGeom prst="roundRect">
            <a:avLst>
              <a:gd name="adj" fmla="val 2353"/>
            </a:avLst>
          </a:prstGeom>
          <a:solidFill>
            <a:srgbClr val="1E1E2E"/>
          </a:solidFill>
          <a:ln/>
          <a:effectLst>
            <a:outerShdw blurRad="101600" dist="38100" dir="5400000" algn="bl" rotWithShape="0">
              <a:srgbClr val="000000">
                <a:alpha val="18000"/>
              </a:srgbClr>
            </a:outerShdw>
          </a:effectLst>
        </p:spPr>
      </p:sp>
      <p:sp>
        <p:nvSpPr>
          <p:cNvPr id="8" name="Text 5"/>
          <p:cNvSpPr/>
          <p:nvPr/>
        </p:nvSpPr>
        <p:spPr>
          <a:xfrm>
            <a:off x="731520" y="2103120"/>
            <a:ext cx="5120640" cy="274320"/>
          </a:xfrm>
          <a:prstGeom prst="rect">
            <a:avLst/>
          </a:prstGeom>
          <a:noFill/>
          <a:ln/>
        </p:spPr>
        <p:txBody>
          <a:bodyPr wrap="square" lIns="0" tIns="0" rIns="0" bIns="0" rtlCol="0" anchor="ctr"/>
          <a:lstStyle/>
          <a:p>
            <a:pPr marL="0" indent="0">
              <a:buNone/>
            </a:pPr>
            <a:r>
              <a:rPr lang="en-US" sz="1050" dirty="0">
                <a:solidFill>
                  <a:srgbClr val="8FA3B8"/>
                </a:solidFill>
                <a:latin typeface="Courier New" pitchFamily="34" charset="0"/>
                <a:ea typeface="Courier New" pitchFamily="34" charset="-122"/>
                <a:cs typeface="Courier New" pitchFamily="34" charset="-120"/>
              </a:rPr>
              <a:t>safe_input.py</a:t>
            </a:r>
            <a:endParaRPr lang="en-US" sz="1050" dirty="0"/>
          </a:p>
        </p:txBody>
      </p:sp>
      <p:sp>
        <p:nvSpPr>
          <p:cNvPr id="9" name="Text 6"/>
          <p:cNvSpPr/>
          <p:nvPr/>
        </p:nvSpPr>
        <p:spPr>
          <a:xfrm>
            <a:off x="777240" y="2395728"/>
            <a:ext cx="5029200" cy="2560320"/>
          </a:xfrm>
          <a:prstGeom prst="rect">
            <a:avLst/>
          </a:prstGeom>
          <a:noFill/>
          <a:ln/>
        </p:spPr>
        <p:txBody>
          <a:bodyPr wrap="square" lIns="0" tIns="0" rIns="0" bIns="0" rtlCol="0" anchor="t"/>
          <a:lstStyle/>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try:</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num = int(input())</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except:</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print("Invalid Input")</a:t>
            </a:r>
            <a:endParaRPr lang="en-US" sz="1300" dirty="0"/>
          </a:p>
        </p:txBody>
      </p:sp>
      <p:sp>
        <p:nvSpPr>
          <p:cNvPr id="10" name="Shape 7"/>
          <p:cNvSpPr/>
          <p:nvPr/>
        </p:nvSpPr>
        <p:spPr>
          <a:xfrm>
            <a:off x="6355080" y="1463040"/>
            <a:ext cx="384048" cy="384048"/>
          </a:xfrm>
          <a:prstGeom prst="ellipse">
            <a:avLst/>
          </a:prstGeom>
          <a:solidFill>
            <a:srgbClr val="1E5A96"/>
          </a:solidFill>
          <a:ln/>
        </p:spPr>
      </p:sp>
      <p:pic>
        <p:nvPicPr>
          <p:cNvPr id="11"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2" name="Text 8"/>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Practical Exercises</a:t>
            </a:r>
            <a:endParaRPr lang="en-US" sz="1500" dirty="0"/>
          </a:p>
        </p:txBody>
      </p:sp>
      <p:sp>
        <p:nvSpPr>
          <p:cNvPr id="13" name="Shape 9"/>
          <p:cNvSpPr/>
          <p:nvPr/>
        </p:nvSpPr>
        <p:spPr>
          <a:xfrm>
            <a:off x="6355080" y="2011680"/>
            <a:ext cx="5257800" cy="3108960"/>
          </a:xfrm>
          <a:prstGeom prst="roundRect">
            <a:avLst>
              <a:gd name="adj" fmla="val 2353"/>
            </a:avLst>
          </a:prstGeom>
          <a:solidFill>
            <a:srgbClr val="EEF4FA"/>
          </a:solidFill>
          <a:ln/>
        </p:spPr>
      </p:sp>
      <p:sp>
        <p:nvSpPr>
          <p:cNvPr id="14" name="Text 10"/>
          <p:cNvSpPr/>
          <p:nvPr/>
        </p:nvSpPr>
        <p:spPr>
          <a:xfrm>
            <a:off x="6583680" y="2212848"/>
            <a:ext cx="4846320" cy="27432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B2733"/>
                </a:solidFill>
              </a:rPr>
              <a:t>Build a simple Notes App (save/read notes)</a:t>
            </a:r>
            <a:endParaRPr lang="en-US" sz="1350" dirty="0"/>
          </a:p>
          <a:p>
            <a:pPr marL="342900" indent="-342900">
              <a:lnSpc>
                <a:spcPct val="120000"/>
              </a:lnSpc>
              <a:spcAft>
                <a:spcPts val="1200"/>
              </a:spcAft>
              <a:buSzPct val="100000"/>
              <a:buChar char="•"/>
            </a:pPr>
            <a:r>
              <a:rPr lang="en-US" sz="1350" dirty="0">
                <a:solidFill>
                  <a:srgbClr val="1B2733"/>
                </a:solidFill>
              </a:rPr>
              <a:t>Build a Log File Reader</a:t>
            </a:r>
            <a:endParaRPr lang="en-US" sz="1350" dirty="0"/>
          </a:p>
          <a:p>
            <a:pPr marL="342900" indent="-342900">
              <a:lnSpc>
                <a:spcPct val="120000"/>
              </a:lnSpc>
              <a:spcAft>
                <a:spcPts val="1200"/>
              </a:spcAft>
              <a:buSzPct val="100000"/>
              <a:buChar char="•"/>
            </a:pPr>
            <a:r>
              <a:rPr lang="en-US" sz="1350" dirty="0">
                <a:solidFill>
                  <a:srgbClr val="1B2733"/>
                </a:solidFill>
              </a:rPr>
              <a:t>Practice catching different exception types</a:t>
            </a:r>
            <a:endParaRPr lang="en-US" sz="1350" dirty="0"/>
          </a:p>
        </p:txBody>
      </p:sp>
      <p:sp>
        <p:nvSpPr>
          <p:cNvPr id="15" name="Text 11"/>
          <p:cNvSpPr/>
          <p:nvPr/>
        </p:nvSpPr>
        <p:spPr>
          <a:xfrm>
            <a:off x="548640" y="5257800"/>
            <a:ext cx="5486400" cy="274320"/>
          </a:xfrm>
          <a:prstGeom prst="rect">
            <a:avLst/>
          </a:prstGeom>
          <a:noFill/>
          <a:ln/>
        </p:spPr>
        <p:txBody>
          <a:bodyPr wrap="square" lIns="0" tIns="0" rIns="0" bIns="0" rtlCol="0" anchor="ctr"/>
          <a:lstStyle/>
          <a:p>
            <a:pPr marL="0" indent="0">
              <a:buNone/>
            </a:pPr>
            <a:r>
              <a:rPr lang="en-US" sz="1050" i="1" dirty="0">
                <a:solidFill>
                  <a:srgbClr val="5C6B7A"/>
                </a:solidFill>
              </a:rPr>
              <a:t>Theory: 1h  •  Practical: 2h</a:t>
            </a:r>
            <a:endParaRPr lang="en-US" sz="1050" dirty="0"/>
          </a:p>
        </p:txBody>
      </p:sp>
      <p:sp>
        <p:nvSpPr>
          <p:cNvPr id="16"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57</a:t>
            </a:r>
            <a:endParaRPr lang="en-US" sz="1000" dirty="0"/>
          </a:p>
        </p:txBody>
      </p:sp>
      <p:sp>
        <p:nvSpPr>
          <p:cNvPr id="17"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8 — FILES AND EXCEPTION HANDLING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Mini Activity &amp; Expected Outcome</a:t>
            </a:r>
            <a:endParaRPr lang="en-US" sz="2700" dirty="0"/>
          </a:p>
        </p:txBody>
      </p:sp>
      <p:sp>
        <p:nvSpPr>
          <p:cNvPr id="4" name="Shape 2"/>
          <p:cNvSpPr/>
          <p:nvPr/>
        </p:nvSpPr>
        <p:spPr>
          <a:xfrm>
            <a:off x="548640" y="1600200"/>
            <a:ext cx="11064240" cy="1920240"/>
          </a:xfrm>
          <a:prstGeom prst="roundRect">
            <a:avLst>
              <a:gd name="adj" fmla="val 4762"/>
            </a:avLst>
          </a:prstGeom>
          <a:solidFill>
            <a:srgbClr val="1E5A96"/>
          </a:solidFill>
          <a:ln/>
        </p:spPr>
      </p:sp>
      <p:pic>
        <p:nvPicPr>
          <p:cNvPr id="5" name="Image 0" descr="preencoded.png"/>
          <p:cNvPicPr>
            <a:picLocks noChangeAspect="1"/>
          </p:cNvPicPr>
          <p:nvPr/>
        </p:nvPicPr>
        <p:blipFill>
          <a:blip r:embed="rId3"/>
          <a:stretch>
            <a:fillRect/>
          </a:stretch>
        </p:blipFill>
        <p:spPr>
          <a:xfrm>
            <a:off x="868680" y="1965960"/>
            <a:ext cx="502920" cy="502920"/>
          </a:xfrm>
          <a:prstGeom prst="rect">
            <a:avLst/>
          </a:prstGeom>
        </p:spPr>
      </p:pic>
      <p:sp>
        <p:nvSpPr>
          <p:cNvPr id="6" name="Text 3"/>
          <p:cNvSpPr/>
          <p:nvPr/>
        </p:nvSpPr>
        <p:spPr>
          <a:xfrm>
            <a:off x="1554480" y="1874520"/>
            <a:ext cx="3657600" cy="320040"/>
          </a:xfrm>
          <a:prstGeom prst="rect">
            <a:avLst/>
          </a:prstGeom>
          <a:noFill/>
          <a:ln/>
        </p:spPr>
        <p:txBody>
          <a:bodyPr wrap="square" lIns="0" tIns="0" rIns="0" bIns="0" rtlCol="0" anchor="ctr"/>
          <a:lstStyle/>
          <a:p>
            <a:pPr marL="0" indent="0">
              <a:buNone/>
            </a:pPr>
            <a:r>
              <a:rPr lang="en-US" sz="1250" b="1" kern="0" spc="150" dirty="0">
                <a:solidFill>
                  <a:srgbClr val="F2A93B"/>
                </a:solidFill>
              </a:rPr>
              <a:t>MINI ACTIVITY</a:t>
            </a:r>
            <a:endParaRPr lang="en-US" sz="1250" dirty="0"/>
          </a:p>
        </p:txBody>
      </p:sp>
      <p:sp>
        <p:nvSpPr>
          <p:cNvPr id="7" name="Text 4"/>
          <p:cNvSpPr/>
          <p:nvPr/>
        </p:nvSpPr>
        <p:spPr>
          <a:xfrm>
            <a:off x="1554480" y="2240280"/>
            <a:ext cx="9692640" cy="1143000"/>
          </a:xfrm>
          <a:prstGeom prst="rect">
            <a:avLst/>
          </a:prstGeom>
          <a:noFill/>
          <a:ln/>
        </p:spPr>
        <p:txBody>
          <a:bodyPr wrap="square" lIns="0" tIns="0" rIns="0" bIns="0" rtlCol="0" anchor="t"/>
          <a:lstStyle/>
          <a:p>
            <a:pPr marL="0" indent="0">
              <a:buNone/>
            </a:pPr>
            <a:r>
              <a:rPr lang="en-US" sz="1550" dirty="0">
                <a:solidFill>
                  <a:srgbClr val="FFFFFF"/>
                </a:solidFill>
              </a:rPr>
              <a:t>Build a File Management mini-project that saves and displays notes from a text file.</a:t>
            </a:r>
            <a:endParaRPr lang="en-US" sz="1550" dirty="0"/>
          </a:p>
        </p:txBody>
      </p:sp>
      <p:sp>
        <p:nvSpPr>
          <p:cNvPr id="8" name="Shape 5"/>
          <p:cNvSpPr/>
          <p:nvPr/>
        </p:nvSpPr>
        <p:spPr>
          <a:xfrm>
            <a:off x="548640" y="3794760"/>
            <a:ext cx="11064240" cy="1691640"/>
          </a:xfrm>
          <a:prstGeom prst="roundRect">
            <a:avLst>
              <a:gd name="adj" fmla="val 5405"/>
            </a:avLst>
          </a:prstGeom>
          <a:solidFill>
            <a:srgbClr val="EEF4FA"/>
          </a:solidFill>
          <a:ln/>
        </p:spPr>
      </p:sp>
      <p:pic>
        <p:nvPicPr>
          <p:cNvPr id="9" name="Image 1" descr="preencoded.png"/>
          <p:cNvPicPr>
            <a:picLocks noChangeAspect="1"/>
          </p:cNvPicPr>
          <p:nvPr/>
        </p:nvPicPr>
        <p:blipFill>
          <a:blip r:embed="rId4"/>
          <a:stretch>
            <a:fillRect/>
          </a:stretch>
        </p:blipFill>
        <p:spPr>
          <a:xfrm>
            <a:off x="868680" y="4114800"/>
            <a:ext cx="457200" cy="457200"/>
          </a:xfrm>
          <a:prstGeom prst="rect">
            <a:avLst/>
          </a:prstGeom>
        </p:spPr>
      </p:pic>
      <p:sp>
        <p:nvSpPr>
          <p:cNvPr id="10" name="Text 6"/>
          <p:cNvSpPr/>
          <p:nvPr/>
        </p:nvSpPr>
        <p:spPr>
          <a:xfrm>
            <a:off x="1508760" y="4041648"/>
            <a:ext cx="3657600" cy="320040"/>
          </a:xfrm>
          <a:prstGeom prst="rect">
            <a:avLst/>
          </a:prstGeom>
          <a:noFill/>
          <a:ln/>
        </p:spPr>
        <p:txBody>
          <a:bodyPr wrap="square" lIns="0" tIns="0" rIns="0" bIns="0" rtlCol="0" anchor="ctr"/>
          <a:lstStyle/>
          <a:p>
            <a:pPr marL="0" indent="0">
              <a:buNone/>
            </a:pPr>
            <a:r>
              <a:rPr lang="en-US" sz="1250" b="1" kern="0" spc="150" dirty="0">
                <a:solidFill>
                  <a:srgbClr val="1E7D32"/>
                </a:solidFill>
              </a:rPr>
              <a:t>EXPECTED OUTCOME</a:t>
            </a:r>
            <a:endParaRPr lang="en-US" sz="1250" dirty="0"/>
          </a:p>
        </p:txBody>
      </p:sp>
      <p:sp>
        <p:nvSpPr>
          <p:cNvPr id="11" name="Text 7"/>
          <p:cNvSpPr/>
          <p:nvPr/>
        </p:nvSpPr>
        <p:spPr>
          <a:xfrm>
            <a:off x="1508760" y="4389120"/>
            <a:ext cx="9784080" cy="914400"/>
          </a:xfrm>
          <a:prstGeom prst="rect">
            <a:avLst/>
          </a:prstGeom>
          <a:noFill/>
          <a:ln/>
        </p:spPr>
        <p:txBody>
          <a:bodyPr wrap="square" lIns="0" tIns="0" rIns="0" bIns="0" rtlCol="0" anchor="t"/>
          <a:lstStyle/>
          <a:p>
            <a:pPr marL="0" indent="0">
              <a:buNone/>
            </a:pPr>
            <a:r>
              <a:rPr lang="en-US" sz="1550" dirty="0">
                <a:solidFill>
                  <a:srgbClr val="1B2733"/>
                </a:solidFill>
              </a:rPr>
              <a:t>Students can safely handle files and errors.</a:t>
            </a:r>
            <a:endParaRPr lang="en-US" sz="1550" dirty="0"/>
          </a:p>
        </p:txBody>
      </p:sp>
      <p:sp>
        <p:nvSpPr>
          <p:cNvPr id="12" name="Text 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58</a:t>
            </a:r>
            <a:endParaRPr lang="en-US" sz="100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8 — FILES AND EXCEPTION HANDLING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Interview Questions &amp; Summary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6126480" cy="457200"/>
          </a:xfrm>
          <a:prstGeom prst="rect">
            <a:avLst/>
          </a:prstGeom>
          <a:noFill/>
          <a:ln/>
        </p:spPr>
        <p:txBody>
          <a:bodyPr wrap="square" lIns="0" tIns="0" rIns="0" bIns="0" rtlCol="0" anchor="ctr"/>
          <a:lstStyle/>
          <a:p>
            <a:pPr marL="0" indent="0">
              <a:buNone/>
            </a:pPr>
            <a:r>
              <a:rPr lang="en-US" sz="1500" b="1" dirty="0">
                <a:solidFill>
                  <a:srgbClr val="1B2733"/>
                </a:solidFill>
              </a:rPr>
              <a:t>Interview Questions</a:t>
            </a:r>
            <a:endParaRPr lang="en-US" sz="1500" dirty="0"/>
          </a:p>
        </p:txBody>
      </p:sp>
      <p:sp>
        <p:nvSpPr>
          <p:cNvPr id="7" name="Shape 4"/>
          <p:cNvSpPr/>
          <p:nvPr/>
        </p:nvSpPr>
        <p:spPr>
          <a:xfrm>
            <a:off x="548640" y="1965960"/>
            <a:ext cx="6675120" cy="1170432"/>
          </a:xfrm>
          <a:prstGeom prst="roundRect">
            <a:avLst>
              <a:gd name="adj" fmla="val 5469"/>
            </a:avLst>
          </a:prstGeom>
          <a:solidFill>
            <a:srgbClr val="EEF4FA"/>
          </a:solidFill>
          <a:ln/>
        </p:spPr>
      </p:sp>
      <p:sp>
        <p:nvSpPr>
          <p:cNvPr id="8" name="Text 5"/>
          <p:cNvSpPr/>
          <p:nvPr/>
        </p:nvSpPr>
        <p:spPr>
          <a:xfrm>
            <a:off x="731520" y="2057400"/>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is the difference between 'w' and 'a' file modes?</a:t>
            </a:r>
            <a:endParaRPr lang="en-US" sz="1250" dirty="0"/>
          </a:p>
        </p:txBody>
      </p:sp>
      <p:sp>
        <p:nvSpPr>
          <p:cNvPr id="9" name="Text 6"/>
          <p:cNvSpPr/>
          <p:nvPr/>
        </p:nvSpPr>
        <p:spPr>
          <a:xfrm>
            <a:off x="731520" y="2441448"/>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'w' overwrites the file's existing content; 'a' appends new content at the end.</a:t>
            </a:r>
            <a:endParaRPr lang="en-US" sz="1150" dirty="0"/>
          </a:p>
        </p:txBody>
      </p:sp>
      <p:sp>
        <p:nvSpPr>
          <p:cNvPr id="10" name="Shape 7"/>
          <p:cNvSpPr/>
          <p:nvPr/>
        </p:nvSpPr>
        <p:spPr>
          <a:xfrm>
            <a:off x="548640" y="3264408"/>
            <a:ext cx="6675120" cy="1170432"/>
          </a:xfrm>
          <a:prstGeom prst="roundRect">
            <a:avLst>
              <a:gd name="adj" fmla="val 5469"/>
            </a:avLst>
          </a:prstGeom>
          <a:solidFill>
            <a:srgbClr val="EEF4FA"/>
          </a:solidFill>
          <a:ln/>
        </p:spPr>
      </p:sp>
      <p:sp>
        <p:nvSpPr>
          <p:cNvPr id="11" name="Text 8"/>
          <p:cNvSpPr/>
          <p:nvPr/>
        </p:nvSpPr>
        <p:spPr>
          <a:xfrm>
            <a:off x="731520" y="3355848"/>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does the finally block do?</a:t>
            </a:r>
            <a:endParaRPr lang="en-US" sz="1250" dirty="0"/>
          </a:p>
        </p:txBody>
      </p:sp>
      <p:sp>
        <p:nvSpPr>
          <p:cNvPr id="12" name="Text 9"/>
          <p:cNvSpPr/>
          <p:nvPr/>
        </p:nvSpPr>
        <p:spPr>
          <a:xfrm>
            <a:off x="731520" y="3739896"/>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It always runs, whether or not an exception occurred — useful for cleanup like closing files.</a:t>
            </a:r>
            <a:endParaRPr lang="en-US" sz="1150" dirty="0"/>
          </a:p>
        </p:txBody>
      </p:sp>
      <p:sp>
        <p:nvSpPr>
          <p:cNvPr id="13" name="Shape 10"/>
          <p:cNvSpPr/>
          <p:nvPr/>
        </p:nvSpPr>
        <p:spPr>
          <a:xfrm>
            <a:off x="548640" y="4562856"/>
            <a:ext cx="6675120" cy="1170432"/>
          </a:xfrm>
          <a:prstGeom prst="roundRect">
            <a:avLst>
              <a:gd name="adj" fmla="val 5469"/>
            </a:avLst>
          </a:prstGeom>
          <a:solidFill>
            <a:srgbClr val="EEF4FA"/>
          </a:solidFill>
          <a:ln/>
        </p:spPr>
      </p:sp>
      <p:sp>
        <p:nvSpPr>
          <p:cNvPr id="14" name="Text 11"/>
          <p:cNvSpPr/>
          <p:nvPr/>
        </p:nvSpPr>
        <p:spPr>
          <a:xfrm>
            <a:off x="731520" y="4654296"/>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Why use the with statement for files?</a:t>
            </a:r>
            <a:endParaRPr lang="en-US" sz="1250" dirty="0"/>
          </a:p>
        </p:txBody>
      </p:sp>
      <p:sp>
        <p:nvSpPr>
          <p:cNvPr id="15" name="Text 12"/>
          <p:cNvSpPr/>
          <p:nvPr/>
        </p:nvSpPr>
        <p:spPr>
          <a:xfrm>
            <a:off x="731520" y="5038344"/>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It automatically closes the file even if an error occurs, preventing resource leaks.</a:t>
            </a:r>
            <a:endParaRPr lang="en-US" sz="1150" dirty="0"/>
          </a:p>
        </p:txBody>
      </p:sp>
      <p:sp>
        <p:nvSpPr>
          <p:cNvPr id="16" name="Shape 13"/>
          <p:cNvSpPr/>
          <p:nvPr/>
        </p:nvSpPr>
        <p:spPr>
          <a:xfrm>
            <a:off x="7452360" y="1417320"/>
            <a:ext cx="13716" cy="4709160"/>
          </a:xfrm>
          <a:prstGeom prst="rect">
            <a:avLst/>
          </a:prstGeom>
          <a:solidFill>
            <a:srgbClr val="DCE6F0"/>
          </a:solidFill>
          <a:ln/>
        </p:spPr>
      </p:sp>
      <p:sp>
        <p:nvSpPr>
          <p:cNvPr id="17" name="Shape 14"/>
          <p:cNvSpPr/>
          <p:nvPr/>
        </p:nvSpPr>
        <p:spPr>
          <a:xfrm>
            <a:off x="7680960" y="1463040"/>
            <a:ext cx="384048" cy="384048"/>
          </a:xfrm>
          <a:prstGeom prst="ellipse">
            <a:avLst/>
          </a:prstGeom>
          <a:solidFill>
            <a:srgbClr val="1E7D32"/>
          </a:solidFill>
          <a:ln/>
        </p:spPr>
      </p:sp>
      <p:pic>
        <p:nvPicPr>
          <p:cNvPr id="18" name="Image 1" descr="preencoded.png"/>
          <p:cNvPicPr>
            <a:picLocks noChangeAspect="1"/>
          </p:cNvPicPr>
          <p:nvPr/>
        </p:nvPicPr>
        <p:blipFill>
          <a:blip r:embed="rId4"/>
          <a:stretch>
            <a:fillRect/>
          </a:stretch>
        </p:blipFill>
        <p:spPr>
          <a:xfrm>
            <a:off x="7763256" y="1545336"/>
            <a:ext cx="219456" cy="219456"/>
          </a:xfrm>
          <a:prstGeom prst="rect">
            <a:avLst/>
          </a:prstGeom>
        </p:spPr>
      </p:pic>
      <p:sp>
        <p:nvSpPr>
          <p:cNvPr id="19" name="Text 15"/>
          <p:cNvSpPr/>
          <p:nvPr/>
        </p:nvSpPr>
        <p:spPr>
          <a:xfrm>
            <a:off x="8193024" y="1435608"/>
            <a:ext cx="3383280" cy="457200"/>
          </a:xfrm>
          <a:prstGeom prst="rect">
            <a:avLst/>
          </a:prstGeom>
          <a:noFill/>
          <a:ln/>
        </p:spPr>
        <p:txBody>
          <a:bodyPr wrap="square" lIns="0" tIns="0" rIns="0" bIns="0" rtlCol="0" anchor="ctr"/>
          <a:lstStyle/>
          <a:p>
            <a:pPr marL="0" indent="0">
              <a:buNone/>
            </a:pPr>
            <a:r>
              <a:rPr lang="en-US" sz="1500" b="1" dirty="0">
                <a:solidFill>
                  <a:srgbClr val="1B2733"/>
                </a:solidFill>
              </a:rPr>
              <a:t>Module Summary</a:t>
            </a:r>
            <a:endParaRPr lang="en-US" sz="1500" dirty="0"/>
          </a:p>
        </p:txBody>
      </p:sp>
      <p:sp>
        <p:nvSpPr>
          <p:cNvPr id="20" name="Text 16"/>
          <p:cNvSpPr/>
          <p:nvPr/>
        </p:nvSpPr>
        <p:spPr>
          <a:xfrm>
            <a:off x="7680960" y="2011680"/>
            <a:ext cx="3931920" cy="39319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00" dirty="0">
                <a:solidFill>
                  <a:srgbClr val="1B2733"/>
                </a:solidFill>
              </a:rPr>
              <a:t>File modes control how you read/write files</a:t>
            </a:r>
            <a:endParaRPr lang="en-US" sz="1300" dirty="0"/>
          </a:p>
          <a:p>
            <a:pPr marL="342900" indent="-342900">
              <a:lnSpc>
                <a:spcPct val="120000"/>
              </a:lnSpc>
              <a:spcAft>
                <a:spcPts val="1200"/>
              </a:spcAft>
              <a:buSzPct val="100000"/>
              <a:buChar char="✓"/>
            </a:pPr>
            <a:r>
              <a:rPr lang="en-US" sz="1300" dirty="0">
                <a:solidFill>
                  <a:srgbClr val="1B2733"/>
                </a:solidFill>
              </a:rPr>
              <a:t>try-except-finally handles errors gracefully</a:t>
            </a:r>
            <a:endParaRPr lang="en-US" sz="1300" dirty="0"/>
          </a:p>
          <a:p>
            <a:pPr marL="342900" indent="-342900">
              <a:lnSpc>
                <a:spcPct val="120000"/>
              </a:lnSpc>
              <a:spcAft>
                <a:spcPts val="1200"/>
              </a:spcAft>
              <a:buSzPct val="100000"/>
              <a:buChar char="✓"/>
            </a:pPr>
            <a:r>
              <a:rPr lang="en-US" sz="1300" dirty="0">
                <a:solidFill>
                  <a:srgbClr val="1B2733"/>
                </a:solidFill>
              </a:rPr>
              <a:t>with statement manages files safely</a:t>
            </a:r>
            <a:endParaRPr lang="en-US" sz="1300" dirty="0"/>
          </a:p>
          <a:p>
            <a:pPr marL="342900" indent="-342900">
              <a:lnSpc>
                <a:spcPct val="120000"/>
              </a:lnSpc>
              <a:spcAft>
                <a:spcPts val="1200"/>
              </a:spcAft>
              <a:buSzPct val="100000"/>
              <a:buChar char="✓"/>
            </a:pPr>
            <a:r>
              <a:rPr lang="en-US" sz="1300" dirty="0">
                <a:solidFill>
                  <a:srgbClr val="1B2733"/>
                </a:solidFill>
              </a:rPr>
              <a:t>You built a working file-based mini-project</a:t>
            </a:r>
            <a:endParaRPr lang="en-US" sz="1300" dirty="0"/>
          </a:p>
        </p:txBody>
      </p:sp>
      <p:sp>
        <p:nvSpPr>
          <p:cNvPr id="21"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59</a:t>
            </a:r>
            <a:endParaRPr lang="en-US" sz="1000" dirty="0"/>
          </a:p>
        </p:txBody>
      </p:sp>
      <p:sp>
        <p:nvSpPr>
          <p:cNvPr id="22"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1E5A96">
              <a:alpha val="45000"/>
            </a:srgbClr>
          </a:solidFill>
          <a:ln/>
        </p:spPr>
      </p:sp>
      <p:sp>
        <p:nvSpPr>
          <p:cNvPr id="3" name="Shape 1"/>
          <p:cNvSpPr/>
          <p:nvPr/>
        </p:nvSpPr>
        <p:spPr>
          <a:xfrm>
            <a:off x="731520" y="914400"/>
            <a:ext cx="1554480" cy="365760"/>
          </a:xfrm>
          <a:prstGeom prst="roundRect">
            <a:avLst>
              <a:gd name="adj" fmla="val 50000"/>
            </a:avLst>
          </a:prstGeom>
          <a:solidFill>
            <a:srgbClr val="1D3A5C"/>
          </a:solidFill>
          <a:ln/>
        </p:spPr>
      </p:sp>
      <p:sp>
        <p:nvSpPr>
          <p:cNvPr id="4" name="Text 2"/>
          <p:cNvSpPr/>
          <p:nvPr/>
        </p:nvSpPr>
        <p:spPr>
          <a:xfrm>
            <a:off x="731520" y="914400"/>
            <a:ext cx="1554480" cy="365760"/>
          </a:xfrm>
          <a:prstGeom prst="rect">
            <a:avLst/>
          </a:prstGeom>
          <a:noFill/>
          <a:ln/>
        </p:spPr>
        <p:txBody>
          <a:bodyPr wrap="square" lIns="0" tIns="0" rIns="0" bIns="0" rtlCol="0" anchor="ctr"/>
          <a:lstStyle/>
          <a:p>
            <a:pPr marL="0" indent="0" algn="ctr">
              <a:buNone/>
            </a:pPr>
            <a:r>
              <a:rPr lang="en-US" sz="1100" b="1" dirty="0">
                <a:solidFill>
                  <a:srgbClr val="F2A93B"/>
                </a:solidFill>
              </a:rPr>
              <a:t>MODULE 9 OF 9</a:t>
            </a:r>
            <a:endParaRPr lang="en-US" sz="1100" dirty="0"/>
          </a:p>
        </p:txBody>
      </p:sp>
      <p:sp>
        <p:nvSpPr>
          <p:cNvPr id="5" name="Shape 3"/>
          <p:cNvSpPr/>
          <p:nvPr/>
        </p:nvSpPr>
        <p:spPr>
          <a:xfrm>
            <a:off x="731520" y="1508760"/>
            <a:ext cx="960120" cy="960120"/>
          </a:xfrm>
          <a:prstGeom prst="roundRect">
            <a:avLst>
              <a:gd name="adj" fmla="val 19048"/>
            </a:avLst>
          </a:prstGeom>
          <a:solidFill>
            <a:srgbClr val="1E5A96"/>
          </a:solidFill>
          <a:ln/>
        </p:spPr>
      </p:sp>
      <p:pic>
        <p:nvPicPr>
          <p:cNvPr id="6" name="Image 0" descr="preencoded.png"/>
          <p:cNvPicPr>
            <a:picLocks noChangeAspect="1"/>
          </p:cNvPicPr>
          <p:nvPr/>
        </p:nvPicPr>
        <p:blipFill>
          <a:blip r:embed="rId3"/>
          <a:stretch>
            <a:fillRect/>
          </a:stretch>
        </p:blipFill>
        <p:spPr>
          <a:xfrm>
            <a:off x="960120" y="1737360"/>
            <a:ext cx="502920" cy="502920"/>
          </a:xfrm>
          <a:prstGeom prst="rect">
            <a:avLst/>
          </a:prstGeom>
        </p:spPr>
      </p:pic>
      <p:sp>
        <p:nvSpPr>
          <p:cNvPr id="7" name="Text 4"/>
          <p:cNvSpPr/>
          <p:nvPr/>
        </p:nvSpPr>
        <p:spPr>
          <a:xfrm>
            <a:off x="1874520" y="1463040"/>
            <a:ext cx="91440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Object Oriented Programming</a:t>
            </a:r>
            <a:endParaRPr lang="en-US" sz="3200" dirty="0"/>
          </a:p>
        </p:txBody>
      </p:sp>
      <p:sp>
        <p:nvSpPr>
          <p:cNvPr id="8" name="Shape 5"/>
          <p:cNvSpPr/>
          <p:nvPr/>
        </p:nvSpPr>
        <p:spPr>
          <a:xfrm>
            <a:off x="1874520" y="2514600"/>
            <a:ext cx="1417320" cy="594360"/>
          </a:xfrm>
          <a:prstGeom prst="roundRect">
            <a:avLst>
              <a:gd name="adj" fmla="val 12308"/>
            </a:avLst>
          </a:prstGeom>
          <a:solidFill>
            <a:srgbClr val="1D3A5C"/>
          </a:solidFill>
          <a:ln w="12700">
            <a:solidFill>
              <a:srgbClr val="1E5A96"/>
            </a:solidFill>
            <a:prstDash val="solid"/>
          </a:ln>
        </p:spPr>
      </p:sp>
      <p:sp>
        <p:nvSpPr>
          <p:cNvPr id="9" name="Text 6"/>
          <p:cNvSpPr/>
          <p:nvPr/>
        </p:nvSpPr>
        <p:spPr>
          <a:xfrm>
            <a:off x="187452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0" name="Text 7"/>
          <p:cNvSpPr/>
          <p:nvPr/>
        </p:nvSpPr>
        <p:spPr>
          <a:xfrm>
            <a:off x="187452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Theory</a:t>
            </a:r>
            <a:endParaRPr lang="en-US" sz="900" dirty="0"/>
          </a:p>
        </p:txBody>
      </p:sp>
      <p:sp>
        <p:nvSpPr>
          <p:cNvPr id="11" name="Shape 8"/>
          <p:cNvSpPr/>
          <p:nvPr/>
        </p:nvSpPr>
        <p:spPr>
          <a:xfrm>
            <a:off x="3429000" y="2514600"/>
            <a:ext cx="1417320" cy="594360"/>
          </a:xfrm>
          <a:prstGeom prst="roundRect">
            <a:avLst>
              <a:gd name="adj" fmla="val 12308"/>
            </a:avLst>
          </a:prstGeom>
          <a:solidFill>
            <a:srgbClr val="1D3A5C"/>
          </a:solidFill>
          <a:ln w="12700">
            <a:solidFill>
              <a:srgbClr val="1E5A96"/>
            </a:solidFill>
            <a:prstDash val="solid"/>
          </a:ln>
        </p:spPr>
      </p:sp>
      <p:sp>
        <p:nvSpPr>
          <p:cNvPr id="12" name="Text 9"/>
          <p:cNvSpPr/>
          <p:nvPr/>
        </p:nvSpPr>
        <p:spPr>
          <a:xfrm>
            <a:off x="342900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2 hrs</a:t>
            </a:r>
            <a:endParaRPr lang="en-US" sz="1500" dirty="0"/>
          </a:p>
        </p:txBody>
      </p:sp>
      <p:sp>
        <p:nvSpPr>
          <p:cNvPr id="13" name="Text 10"/>
          <p:cNvSpPr/>
          <p:nvPr/>
        </p:nvSpPr>
        <p:spPr>
          <a:xfrm>
            <a:off x="342900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Practical</a:t>
            </a:r>
            <a:endParaRPr lang="en-US" sz="900" dirty="0"/>
          </a:p>
        </p:txBody>
      </p:sp>
      <p:sp>
        <p:nvSpPr>
          <p:cNvPr id="14" name="Shape 11"/>
          <p:cNvSpPr/>
          <p:nvPr/>
        </p:nvSpPr>
        <p:spPr>
          <a:xfrm>
            <a:off x="4983480" y="2514600"/>
            <a:ext cx="1417320" cy="594360"/>
          </a:xfrm>
          <a:prstGeom prst="roundRect">
            <a:avLst>
              <a:gd name="adj" fmla="val 12308"/>
            </a:avLst>
          </a:prstGeom>
          <a:solidFill>
            <a:srgbClr val="1D3A5C"/>
          </a:solidFill>
          <a:ln w="12700">
            <a:solidFill>
              <a:srgbClr val="1E5A96"/>
            </a:solidFill>
            <a:prstDash val="solid"/>
          </a:ln>
        </p:spPr>
      </p:sp>
      <p:sp>
        <p:nvSpPr>
          <p:cNvPr id="15" name="Text 12"/>
          <p:cNvSpPr/>
          <p:nvPr/>
        </p:nvSpPr>
        <p:spPr>
          <a:xfrm>
            <a:off x="4983480" y="2560320"/>
            <a:ext cx="1417320" cy="320040"/>
          </a:xfrm>
          <a:prstGeom prst="rect">
            <a:avLst/>
          </a:prstGeom>
          <a:noFill/>
          <a:ln/>
        </p:spPr>
        <p:txBody>
          <a:bodyPr wrap="square" lIns="0" tIns="0" rIns="0" bIns="0" rtlCol="0" anchor="ctr"/>
          <a:lstStyle/>
          <a:p>
            <a:pPr marL="0" indent="0" algn="ctr">
              <a:buNone/>
            </a:pPr>
            <a:r>
              <a:rPr lang="en-US" sz="1500" b="1" dirty="0">
                <a:solidFill>
                  <a:srgbClr val="F2A93B"/>
                </a:solidFill>
              </a:rPr>
              <a:t>4 hrs</a:t>
            </a:r>
            <a:endParaRPr lang="en-US" sz="1500" dirty="0"/>
          </a:p>
        </p:txBody>
      </p:sp>
      <p:sp>
        <p:nvSpPr>
          <p:cNvPr id="16" name="Text 13"/>
          <p:cNvSpPr/>
          <p:nvPr/>
        </p:nvSpPr>
        <p:spPr>
          <a:xfrm>
            <a:off x="4983480" y="2852928"/>
            <a:ext cx="1417320" cy="228600"/>
          </a:xfrm>
          <a:prstGeom prst="rect">
            <a:avLst/>
          </a:prstGeom>
          <a:noFill/>
          <a:ln/>
        </p:spPr>
        <p:txBody>
          <a:bodyPr wrap="square" lIns="0" tIns="0" rIns="0" bIns="0" rtlCol="0" anchor="ctr"/>
          <a:lstStyle/>
          <a:p>
            <a:pPr marL="0" indent="0" algn="ctr">
              <a:buNone/>
            </a:pPr>
            <a:r>
              <a:rPr lang="en-US" sz="900" dirty="0">
                <a:solidFill>
                  <a:srgbClr val="AFC4D8"/>
                </a:solidFill>
              </a:rPr>
              <a:t>Total</a:t>
            </a:r>
            <a:endParaRPr lang="en-US" sz="900" dirty="0"/>
          </a:p>
        </p:txBody>
      </p:sp>
      <p:sp>
        <p:nvSpPr>
          <p:cNvPr id="17" name="Text 14"/>
          <p:cNvSpPr/>
          <p:nvPr/>
        </p:nvSpPr>
        <p:spPr>
          <a:xfrm>
            <a:off x="731520" y="3566160"/>
            <a:ext cx="5486400" cy="274320"/>
          </a:xfrm>
          <a:prstGeom prst="rect">
            <a:avLst/>
          </a:prstGeom>
          <a:noFill/>
          <a:ln/>
        </p:spPr>
        <p:txBody>
          <a:bodyPr wrap="square" lIns="0" tIns="0" rIns="0" bIns="0" rtlCol="0" anchor="ctr"/>
          <a:lstStyle/>
          <a:p>
            <a:pPr marL="0" indent="0">
              <a:buNone/>
            </a:pPr>
            <a:r>
              <a:rPr lang="en-US" sz="1150" b="1" kern="0" spc="150" dirty="0">
                <a:solidFill>
                  <a:srgbClr val="F2A93B"/>
                </a:solidFill>
              </a:rPr>
              <a:t>TOPICS COVERED</a:t>
            </a:r>
            <a:endParaRPr lang="en-US" sz="1150" dirty="0"/>
          </a:p>
        </p:txBody>
      </p:sp>
      <p:sp>
        <p:nvSpPr>
          <p:cNvPr id="18" name="Shape 15"/>
          <p:cNvSpPr/>
          <p:nvPr/>
        </p:nvSpPr>
        <p:spPr>
          <a:xfrm>
            <a:off x="731520" y="4005072"/>
            <a:ext cx="91440" cy="91440"/>
          </a:xfrm>
          <a:prstGeom prst="ellipse">
            <a:avLst/>
          </a:prstGeom>
          <a:solidFill>
            <a:srgbClr val="F2A93B"/>
          </a:solidFill>
          <a:ln/>
        </p:spPr>
      </p:sp>
      <p:sp>
        <p:nvSpPr>
          <p:cNvPr id="19" name="Text 16"/>
          <p:cNvSpPr/>
          <p:nvPr/>
        </p:nvSpPr>
        <p:spPr>
          <a:xfrm>
            <a:off x="100584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Class</a:t>
            </a:r>
            <a:endParaRPr lang="en-US" sz="1300" dirty="0"/>
          </a:p>
        </p:txBody>
      </p:sp>
      <p:sp>
        <p:nvSpPr>
          <p:cNvPr id="20" name="Shape 17"/>
          <p:cNvSpPr/>
          <p:nvPr/>
        </p:nvSpPr>
        <p:spPr>
          <a:xfrm>
            <a:off x="5943600" y="4005072"/>
            <a:ext cx="91440" cy="91440"/>
          </a:xfrm>
          <a:prstGeom prst="ellipse">
            <a:avLst/>
          </a:prstGeom>
          <a:solidFill>
            <a:srgbClr val="F2A93B"/>
          </a:solidFill>
          <a:ln/>
        </p:spPr>
      </p:sp>
      <p:sp>
        <p:nvSpPr>
          <p:cNvPr id="21" name="Text 18"/>
          <p:cNvSpPr/>
          <p:nvPr/>
        </p:nvSpPr>
        <p:spPr>
          <a:xfrm>
            <a:off x="6217920" y="39319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Object</a:t>
            </a:r>
            <a:endParaRPr lang="en-US" sz="1300" dirty="0"/>
          </a:p>
        </p:txBody>
      </p:sp>
      <p:sp>
        <p:nvSpPr>
          <p:cNvPr id="22" name="Shape 19"/>
          <p:cNvSpPr/>
          <p:nvPr/>
        </p:nvSpPr>
        <p:spPr>
          <a:xfrm>
            <a:off x="731520" y="4462272"/>
            <a:ext cx="91440" cy="91440"/>
          </a:xfrm>
          <a:prstGeom prst="ellipse">
            <a:avLst/>
          </a:prstGeom>
          <a:solidFill>
            <a:srgbClr val="F2A93B"/>
          </a:solidFill>
          <a:ln/>
        </p:spPr>
      </p:sp>
      <p:sp>
        <p:nvSpPr>
          <p:cNvPr id="23" name="Text 20"/>
          <p:cNvSpPr/>
          <p:nvPr/>
        </p:nvSpPr>
        <p:spPr>
          <a:xfrm>
            <a:off x="100584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Constructor</a:t>
            </a:r>
            <a:endParaRPr lang="en-US" sz="1300" dirty="0"/>
          </a:p>
        </p:txBody>
      </p:sp>
      <p:sp>
        <p:nvSpPr>
          <p:cNvPr id="24" name="Shape 21"/>
          <p:cNvSpPr/>
          <p:nvPr/>
        </p:nvSpPr>
        <p:spPr>
          <a:xfrm>
            <a:off x="5943600" y="4462272"/>
            <a:ext cx="91440" cy="91440"/>
          </a:xfrm>
          <a:prstGeom prst="ellipse">
            <a:avLst/>
          </a:prstGeom>
          <a:solidFill>
            <a:srgbClr val="F2A93B"/>
          </a:solidFill>
          <a:ln/>
        </p:spPr>
      </p:sp>
      <p:sp>
        <p:nvSpPr>
          <p:cNvPr id="25" name="Text 22"/>
          <p:cNvSpPr/>
          <p:nvPr/>
        </p:nvSpPr>
        <p:spPr>
          <a:xfrm>
            <a:off x="6217920" y="4389120"/>
            <a:ext cx="4846320" cy="365760"/>
          </a:xfrm>
          <a:prstGeom prst="rect">
            <a:avLst/>
          </a:prstGeom>
          <a:noFill/>
          <a:ln/>
        </p:spPr>
        <p:txBody>
          <a:bodyPr wrap="square" lIns="0" tIns="0" rIns="0" bIns="0" rtlCol="0" anchor="ctr"/>
          <a:lstStyle/>
          <a:p>
            <a:pPr marL="0" indent="0">
              <a:buNone/>
            </a:pPr>
            <a:r>
              <a:rPr lang="en-US" sz="1300" dirty="0">
                <a:solidFill>
                  <a:srgbClr val="FFFFFF"/>
                </a:solidFill>
              </a:rPr>
              <a:t>Inheritance</a:t>
            </a:r>
            <a:endParaRPr lang="en-US" sz="1300" dirty="0"/>
          </a:p>
        </p:txBody>
      </p:sp>
      <p:sp>
        <p:nvSpPr>
          <p:cNvPr id="27" name="Text 23"/>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60</a:t>
            </a:r>
            <a:endParaRPr lang="en-US" sz="1000" dirty="0"/>
          </a:p>
        </p:txBody>
      </p:sp>
      <p:sp>
        <p:nvSpPr>
          <p:cNvPr id="28" name="Text 24"/>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9 — OBJECT ORIENTED PROGRAMMING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Learning Objectives &amp; Theory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846320" cy="457200"/>
          </a:xfrm>
          <a:prstGeom prst="rect">
            <a:avLst/>
          </a:prstGeom>
          <a:noFill/>
          <a:ln/>
        </p:spPr>
        <p:txBody>
          <a:bodyPr wrap="square" lIns="0" tIns="0" rIns="0" bIns="0" rtlCol="0" anchor="ctr"/>
          <a:lstStyle/>
          <a:p>
            <a:pPr marL="0" indent="0">
              <a:buNone/>
            </a:pPr>
            <a:r>
              <a:rPr lang="en-US" sz="1500" b="1" dirty="0">
                <a:solidFill>
                  <a:srgbClr val="1B2733"/>
                </a:solidFill>
              </a:rPr>
              <a:t>Learning Objectives</a:t>
            </a:r>
            <a:endParaRPr lang="en-US" sz="1500" dirty="0"/>
          </a:p>
        </p:txBody>
      </p:sp>
      <p:sp>
        <p:nvSpPr>
          <p:cNvPr id="7" name="Text 4"/>
          <p:cNvSpPr/>
          <p:nvPr/>
        </p:nvSpPr>
        <p:spPr>
          <a:xfrm>
            <a:off x="548640" y="2011680"/>
            <a:ext cx="539496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Understand classes and objects as blueprints and instances</a:t>
            </a:r>
            <a:endParaRPr lang="en-US" sz="1300" dirty="0"/>
          </a:p>
          <a:p>
            <a:pPr marL="342900" indent="-342900">
              <a:lnSpc>
                <a:spcPct val="115000"/>
              </a:lnSpc>
              <a:spcAft>
                <a:spcPts val="1000"/>
              </a:spcAft>
              <a:buSzPct val="100000"/>
              <a:buChar char="●"/>
            </a:pPr>
            <a:r>
              <a:rPr lang="en-US" sz="1300" dirty="0">
                <a:solidFill>
                  <a:srgbClr val="1B2733"/>
                </a:solidFill>
              </a:rPr>
              <a:t>Use constructors (__init__) to initialise objects</a:t>
            </a:r>
            <a:endParaRPr lang="en-US" sz="1300" dirty="0"/>
          </a:p>
          <a:p>
            <a:pPr marL="342900" indent="-342900">
              <a:lnSpc>
                <a:spcPct val="115000"/>
              </a:lnSpc>
              <a:spcAft>
                <a:spcPts val="1000"/>
              </a:spcAft>
              <a:buSzPct val="100000"/>
              <a:buChar char="●"/>
            </a:pPr>
            <a:r>
              <a:rPr lang="en-US" sz="1300" dirty="0">
                <a:solidFill>
                  <a:srgbClr val="1B2733"/>
                </a:solidFill>
              </a:rPr>
              <a:t>Apply encapsulation to protect data</a:t>
            </a:r>
            <a:endParaRPr lang="en-US" sz="1300" dirty="0"/>
          </a:p>
          <a:p>
            <a:pPr marL="342900" indent="-342900">
              <a:lnSpc>
                <a:spcPct val="115000"/>
              </a:lnSpc>
              <a:spcAft>
                <a:spcPts val="1000"/>
              </a:spcAft>
              <a:buSzPct val="100000"/>
              <a:buChar char="●"/>
            </a:pPr>
            <a:r>
              <a:rPr lang="en-US" sz="1300" dirty="0">
                <a:solidFill>
                  <a:srgbClr val="1B2733"/>
                </a:solidFill>
              </a:rPr>
              <a:t>Use inheritance to reuse and extend code</a:t>
            </a:r>
            <a:endParaRPr lang="en-US" sz="1300" dirty="0"/>
          </a:p>
        </p:txBody>
      </p:sp>
      <p:sp>
        <p:nvSpPr>
          <p:cNvPr id="8" name="Shape 5"/>
          <p:cNvSpPr/>
          <p:nvPr/>
        </p:nvSpPr>
        <p:spPr>
          <a:xfrm>
            <a:off x="6172200" y="1417320"/>
            <a:ext cx="13716" cy="4663440"/>
          </a:xfrm>
          <a:prstGeom prst="rect">
            <a:avLst/>
          </a:prstGeom>
          <a:solidFill>
            <a:srgbClr val="DCE6F0"/>
          </a:solidFill>
          <a:ln/>
        </p:spPr>
      </p:sp>
      <p:sp>
        <p:nvSpPr>
          <p:cNvPr id="9" name="Shape 6"/>
          <p:cNvSpPr/>
          <p:nvPr/>
        </p:nvSpPr>
        <p:spPr>
          <a:xfrm>
            <a:off x="6400800" y="1463040"/>
            <a:ext cx="384048" cy="384048"/>
          </a:xfrm>
          <a:prstGeom prst="ellipse">
            <a:avLst/>
          </a:prstGeom>
          <a:solidFill>
            <a:srgbClr val="1E5A96"/>
          </a:solidFill>
          <a:ln/>
        </p:spPr>
      </p:sp>
      <p:pic>
        <p:nvPicPr>
          <p:cNvPr id="10" name="Image 1" descr="preencoded.png"/>
          <p:cNvPicPr>
            <a:picLocks noChangeAspect="1"/>
          </p:cNvPicPr>
          <p:nvPr/>
        </p:nvPicPr>
        <p:blipFill>
          <a:blip r:embed="rId4"/>
          <a:stretch>
            <a:fillRect/>
          </a:stretch>
        </p:blipFill>
        <p:spPr>
          <a:xfrm>
            <a:off x="6483096" y="1545336"/>
            <a:ext cx="219456" cy="219456"/>
          </a:xfrm>
          <a:prstGeom prst="rect">
            <a:avLst/>
          </a:prstGeom>
        </p:spPr>
      </p:pic>
      <p:sp>
        <p:nvSpPr>
          <p:cNvPr id="11" name="Text 7"/>
          <p:cNvSpPr/>
          <p:nvPr/>
        </p:nvSpPr>
        <p:spPr>
          <a:xfrm>
            <a:off x="6912864" y="1435608"/>
            <a:ext cx="4663440" cy="457200"/>
          </a:xfrm>
          <a:prstGeom prst="rect">
            <a:avLst/>
          </a:prstGeom>
          <a:noFill/>
          <a:ln/>
        </p:spPr>
        <p:txBody>
          <a:bodyPr wrap="square" lIns="0" tIns="0" rIns="0" bIns="0" rtlCol="0" anchor="ctr"/>
          <a:lstStyle/>
          <a:p>
            <a:pPr marL="0" indent="0">
              <a:buNone/>
            </a:pPr>
            <a:r>
              <a:rPr lang="en-US" sz="1500" b="1" dirty="0">
                <a:solidFill>
                  <a:srgbClr val="1B2733"/>
                </a:solidFill>
              </a:rPr>
              <a:t>Theory Explanation</a:t>
            </a:r>
            <a:endParaRPr lang="en-US" sz="1500" dirty="0"/>
          </a:p>
        </p:txBody>
      </p:sp>
      <p:sp>
        <p:nvSpPr>
          <p:cNvPr id="12" name="Text 8"/>
          <p:cNvSpPr/>
          <p:nvPr/>
        </p:nvSpPr>
        <p:spPr>
          <a:xfrm>
            <a:off x="6400800" y="2011680"/>
            <a:ext cx="5212080" cy="4023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1B2733"/>
                </a:solidFill>
              </a:rPr>
              <a:t>Class: a blueprint; Object: a real instance created from that blueprint</a:t>
            </a:r>
            <a:endParaRPr lang="en-US" sz="1300" dirty="0"/>
          </a:p>
          <a:p>
            <a:pPr marL="342900" indent="-342900">
              <a:lnSpc>
                <a:spcPct val="115000"/>
              </a:lnSpc>
              <a:spcAft>
                <a:spcPts val="1000"/>
              </a:spcAft>
              <a:buSzPct val="100000"/>
              <a:buChar char="●"/>
            </a:pPr>
            <a:r>
              <a:rPr lang="en-US" sz="1300" dirty="0">
                <a:solidFill>
                  <a:srgbClr val="1B2733"/>
                </a:solidFill>
              </a:rPr>
              <a:t>__init__ is the constructor — it runs automatically when an object is created</a:t>
            </a:r>
            <a:endParaRPr lang="en-US" sz="1300" dirty="0"/>
          </a:p>
          <a:p>
            <a:pPr marL="342900" indent="-342900">
              <a:lnSpc>
                <a:spcPct val="115000"/>
              </a:lnSpc>
              <a:spcAft>
                <a:spcPts val="1000"/>
              </a:spcAft>
              <a:buSzPct val="100000"/>
              <a:buChar char="●"/>
            </a:pPr>
            <a:r>
              <a:rPr lang="en-US" sz="1300" dirty="0">
                <a:solidFill>
                  <a:srgbClr val="1B2733"/>
                </a:solidFill>
              </a:rPr>
              <a:t>Encapsulation bundles data &amp; behaviour together inside a class</a:t>
            </a:r>
            <a:endParaRPr lang="en-US" sz="1300" dirty="0"/>
          </a:p>
          <a:p>
            <a:pPr marL="342900" indent="-342900">
              <a:lnSpc>
                <a:spcPct val="115000"/>
              </a:lnSpc>
              <a:spcAft>
                <a:spcPts val="1000"/>
              </a:spcAft>
              <a:buSzPct val="100000"/>
              <a:buChar char="●"/>
            </a:pPr>
            <a:r>
              <a:rPr lang="en-US" sz="1300" dirty="0">
                <a:solidFill>
                  <a:srgbClr val="1B2733"/>
                </a:solidFill>
              </a:rPr>
              <a:t>Inheritance lets a child class reuse and extend a parent class's code</a:t>
            </a:r>
            <a:endParaRPr lang="en-US" sz="1300" dirty="0"/>
          </a:p>
        </p:txBody>
      </p:sp>
      <p:sp>
        <p:nvSpPr>
          <p:cNvPr id="13" name="Text 9"/>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61</a:t>
            </a:r>
            <a:endParaRPr lang="en-US" sz="1000" dirty="0"/>
          </a:p>
        </p:txBody>
      </p:sp>
      <p:sp>
        <p:nvSpPr>
          <p:cNvPr id="14" name="Text 10"/>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9 — OBJECT ORIENTED PROGRAMMING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Concept Diagram</a:t>
            </a:r>
            <a:endParaRPr lang="en-US" sz="2700" dirty="0"/>
          </a:p>
        </p:txBody>
      </p:sp>
      <p:sp>
        <p:nvSpPr>
          <p:cNvPr id="4" name="Shape 2"/>
          <p:cNvSpPr/>
          <p:nvPr/>
        </p:nvSpPr>
        <p:spPr>
          <a:xfrm>
            <a:off x="457200" y="1417320"/>
            <a:ext cx="11247120" cy="4663440"/>
          </a:xfrm>
          <a:prstGeom prst="roundRect">
            <a:avLst>
              <a:gd name="adj" fmla="val 1961"/>
            </a:avLst>
          </a:prstGeom>
          <a:solidFill>
            <a:srgbClr val="EEF4FA"/>
          </a:solidFill>
          <a:ln/>
        </p:spPr>
      </p:sp>
      <p:sp>
        <p:nvSpPr>
          <p:cNvPr id="5" name="Shape 3"/>
          <p:cNvSpPr/>
          <p:nvPr/>
        </p:nvSpPr>
        <p:spPr>
          <a:xfrm>
            <a:off x="1188720" y="1783080"/>
            <a:ext cx="2377440" cy="822960"/>
          </a:xfrm>
          <a:prstGeom prst="roundRect">
            <a:avLst>
              <a:gd name="adj" fmla="val 7778"/>
            </a:avLst>
          </a:prstGeom>
          <a:solidFill>
            <a:srgbClr val="132A46"/>
          </a:solidFill>
          <a:ln/>
        </p:spPr>
      </p:sp>
      <p:sp>
        <p:nvSpPr>
          <p:cNvPr id="6" name="Text 4"/>
          <p:cNvSpPr/>
          <p:nvPr/>
        </p:nvSpPr>
        <p:spPr>
          <a:xfrm>
            <a:off x="1280160" y="1783080"/>
            <a:ext cx="2194560" cy="822960"/>
          </a:xfrm>
          <a:prstGeom prst="rect">
            <a:avLst/>
          </a:prstGeom>
          <a:noFill/>
          <a:ln/>
        </p:spPr>
        <p:txBody>
          <a:bodyPr wrap="square" lIns="0" tIns="0" rIns="0" bIns="0" rtlCol="0" anchor="ctr"/>
          <a:lstStyle/>
          <a:p>
            <a:pPr marL="0" indent="0" algn="ctr">
              <a:buNone/>
            </a:pPr>
            <a:r>
              <a:rPr lang="en-US" sz="1150" b="1" dirty="0">
                <a:solidFill>
                  <a:srgbClr val="FFFFFF"/>
                </a:solidFill>
              </a:rPr>
              <a:t>class Student:</a:t>
            </a:r>
            <a:endParaRPr lang="en-US" sz="1150" dirty="0"/>
          </a:p>
          <a:p>
            <a:pPr marL="0" indent="0" algn="ctr">
              <a:buNone/>
            </a:pPr>
            <a:r>
              <a:rPr lang="en-US" sz="1150" b="1" dirty="0">
                <a:solidFill>
                  <a:srgbClr val="FFFFFF"/>
                </a:solidFill>
              </a:rPr>
              <a:t>(blueprint)</a:t>
            </a:r>
            <a:endParaRPr lang="en-US" sz="1150" dirty="0"/>
          </a:p>
        </p:txBody>
      </p:sp>
      <p:sp>
        <p:nvSpPr>
          <p:cNvPr id="7" name="Shape 5"/>
          <p:cNvSpPr/>
          <p:nvPr/>
        </p:nvSpPr>
        <p:spPr>
          <a:xfrm>
            <a:off x="3566160" y="2194560"/>
            <a:ext cx="1097280" cy="0"/>
          </a:xfrm>
          <a:prstGeom prst="line">
            <a:avLst/>
          </a:prstGeom>
          <a:noFill/>
          <a:ln w="25400">
            <a:solidFill>
              <a:srgbClr val="5C6B7A"/>
            </a:solidFill>
            <a:prstDash val="solid"/>
            <a:tailEnd type="triangle"/>
          </a:ln>
        </p:spPr>
      </p:sp>
      <p:sp>
        <p:nvSpPr>
          <p:cNvPr id="8" name="Shape 6"/>
          <p:cNvSpPr/>
          <p:nvPr/>
        </p:nvSpPr>
        <p:spPr>
          <a:xfrm>
            <a:off x="4754880" y="1783080"/>
            <a:ext cx="2377440" cy="822960"/>
          </a:xfrm>
          <a:prstGeom prst="roundRect">
            <a:avLst>
              <a:gd name="adj" fmla="val 7778"/>
            </a:avLst>
          </a:prstGeom>
          <a:solidFill>
            <a:srgbClr val="1E5A96"/>
          </a:solidFill>
          <a:ln/>
        </p:spPr>
      </p:sp>
      <p:sp>
        <p:nvSpPr>
          <p:cNvPr id="9" name="Text 7"/>
          <p:cNvSpPr/>
          <p:nvPr/>
        </p:nvSpPr>
        <p:spPr>
          <a:xfrm>
            <a:off x="4846320" y="1783080"/>
            <a:ext cx="2194560" cy="822960"/>
          </a:xfrm>
          <a:prstGeom prst="rect">
            <a:avLst/>
          </a:prstGeom>
          <a:noFill/>
          <a:ln/>
        </p:spPr>
        <p:txBody>
          <a:bodyPr wrap="square" lIns="0" tIns="0" rIns="0" bIns="0" rtlCol="0" anchor="ctr"/>
          <a:lstStyle/>
          <a:p>
            <a:pPr marL="0" indent="0" algn="ctr">
              <a:buNone/>
            </a:pPr>
            <a:r>
              <a:rPr lang="en-US" sz="1150" b="1" dirty="0">
                <a:solidFill>
                  <a:srgbClr val="FFFFFF"/>
                </a:solidFill>
              </a:rPr>
              <a:t>s = Student("John")</a:t>
            </a:r>
            <a:endParaRPr lang="en-US" sz="1150" dirty="0"/>
          </a:p>
          <a:p>
            <a:pPr marL="0" indent="0" algn="ctr">
              <a:buNone/>
            </a:pPr>
            <a:r>
              <a:rPr lang="en-US" sz="1150" b="1" dirty="0">
                <a:solidFill>
                  <a:srgbClr val="FFFFFF"/>
                </a:solidFill>
              </a:rPr>
              <a:t>(object)</a:t>
            </a:r>
            <a:endParaRPr lang="en-US" sz="1150" dirty="0"/>
          </a:p>
        </p:txBody>
      </p:sp>
      <p:sp>
        <p:nvSpPr>
          <p:cNvPr id="10" name="Shape 8"/>
          <p:cNvSpPr/>
          <p:nvPr/>
        </p:nvSpPr>
        <p:spPr>
          <a:xfrm>
            <a:off x="4892040" y="3634740"/>
            <a:ext cx="2377440" cy="594360"/>
          </a:xfrm>
          <a:prstGeom prst="roundRect">
            <a:avLst>
              <a:gd name="adj" fmla="val 10769"/>
            </a:avLst>
          </a:prstGeom>
          <a:solidFill>
            <a:srgbClr val="132A46"/>
          </a:solidFill>
          <a:ln/>
        </p:spPr>
      </p:sp>
      <p:sp>
        <p:nvSpPr>
          <p:cNvPr id="11" name="Text 9"/>
          <p:cNvSpPr/>
          <p:nvPr/>
        </p:nvSpPr>
        <p:spPr>
          <a:xfrm>
            <a:off x="4983480" y="3634740"/>
            <a:ext cx="2194560" cy="594360"/>
          </a:xfrm>
          <a:prstGeom prst="rect">
            <a:avLst/>
          </a:prstGeom>
          <a:noFill/>
          <a:ln/>
        </p:spPr>
        <p:txBody>
          <a:bodyPr wrap="square" lIns="0" tIns="0" rIns="0" bIns="0" rtlCol="0" anchor="ctr"/>
          <a:lstStyle/>
          <a:p>
            <a:pPr marL="0" indent="0" algn="ctr">
              <a:buNone/>
            </a:pPr>
            <a:r>
              <a:rPr lang="en-US" sz="1150" b="1" dirty="0">
                <a:solidFill>
                  <a:srgbClr val="FFFFFF"/>
                </a:solidFill>
              </a:rPr>
              <a:t>class Book (parent)</a:t>
            </a:r>
            <a:endParaRPr lang="en-US" sz="1150" dirty="0"/>
          </a:p>
        </p:txBody>
      </p:sp>
      <p:sp>
        <p:nvSpPr>
          <p:cNvPr id="12" name="Shape 10"/>
          <p:cNvSpPr/>
          <p:nvPr/>
        </p:nvSpPr>
        <p:spPr>
          <a:xfrm>
            <a:off x="5257800" y="4251960"/>
            <a:ext cx="0" cy="411480"/>
          </a:xfrm>
          <a:prstGeom prst="line">
            <a:avLst/>
          </a:prstGeom>
          <a:noFill/>
          <a:ln w="25400">
            <a:solidFill>
              <a:srgbClr val="5C6B7A"/>
            </a:solidFill>
            <a:prstDash val="solid"/>
            <a:tailEnd type="triangle"/>
          </a:ln>
        </p:spPr>
      </p:sp>
      <p:sp>
        <p:nvSpPr>
          <p:cNvPr id="13" name="Shape 11"/>
          <p:cNvSpPr/>
          <p:nvPr/>
        </p:nvSpPr>
        <p:spPr>
          <a:xfrm>
            <a:off x="6903720" y="4251960"/>
            <a:ext cx="0" cy="411480"/>
          </a:xfrm>
          <a:prstGeom prst="line">
            <a:avLst/>
          </a:prstGeom>
          <a:noFill/>
          <a:ln w="25400">
            <a:solidFill>
              <a:srgbClr val="5C6B7A"/>
            </a:solidFill>
            <a:prstDash val="solid"/>
            <a:tailEnd type="triangle"/>
          </a:ln>
        </p:spPr>
      </p:sp>
      <p:sp>
        <p:nvSpPr>
          <p:cNvPr id="14" name="Shape 12"/>
          <p:cNvSpPr/>
          <p:nvPr/>
        </p:nvSpPr>
        <p:spPr>
          <a:xfrm>
            <a:off x="3657600" y="4709160"/>
            <a:ext cx="2103120" cy="548640"/>
          </a:xfrm>
          <a:prstGeom prst="roundRect">
            <a:avLst>
              <a:gd name="adj" fmla="val 11667"/>
            </a:avLst>
          </a:prstGeom>
          <a:solidFill>
            <a:srgbClr val="1E5A96"/>
          </a:solidFill>
          <a:ln/>
        </p:spPr>
      </p:sp>
      <p:sp>
        <p:nvSpPr>
          <p:cNvPr id="15" name="Text 13"/>
          <p:cNvSpPr/>
          <p:nvPr/>
        </p:nvSpPr>
        <p:spPr>
          <a:xfrm>
            <a:off x="3749040" y="4709160"/>
            <a:ext cx="1920240" cy="548640"/>
          </a:xfrm>
          <a:prstGeom prst="rect">
            <a:avLst/>
          </a:prstGeom>
          <a:noFill/>
          <a:ln/>
        </p:spPr>
        <p:txBody>
          <a:bodyPr wrap="square" lIns="0" tIns="0" rIns="0" bIns="0" rtlCol="0" anchor="ctr"/>
          <a:lstStyle/>
          <a:p>
            <a:pPr marL="0" indent="0" algn="ctr">
              <a:buNone/>
            </a:pPr>
            <a:r>
              <a:rPr lang="en-US" sz="1150" b="1" dirty="0">
                <a:solidFill>
                  <a:srgbClr val="FFFFFF"/>
                </a:solidFill>
              </a:rPr>
              <a:t>class EBook (child)</a:t>
            </a:r>
            <a:endParaRPr lang="en-US" sz="1150" dirty="0"/>
          </a:p>
        </p:txBody>
      </p:sp>
      <p:sp>
        <p:nvSpPr>
          <p:cNvPr id="16" name="Shape 14"/>
          <p:cNvSpPr/>
          <p:nvPr/>
        </p:nvSpPr>
        <p:spPr>
          <a:xfrm>
            <a:off x="6400800" y="4709160"/>
            <a:ext cx="2103120" cy="548640"/>
          </a:xfrm>
          <a:prstGeom prst="roundRect">
            <a:avLst>
              <a:gd name="adj" fmla="val 11667"/>
            </a:avLst>
          </a:prstGeom>
          <a:solidFill>
            <a:srgbClr val="1E5A96"/>
          </a:solidFill>
          <a:ln/>
        </p:spPr>
      </p:sp>
      <p:sp>
        <p:nvSpPr>
          <p:cNvPr id="17" name="Text 15"/>
          <p:cNvSpPr/>
          <p:nvPr/>
        </p:nvSpPr>
        <p:spPr>
          <a:xfrm>
            <a:off x="6492240" y="4709160"/>
            <a:ext cx="1920240" cy="548640"/>
          </a:xfrm>
          <a:prstGeom prst="rect">
            <a:avLst/>
          </a:prstGeom>
          <a:noFill/>
          <a:ln/>
        </p:spPr>
        <p:txBody>
          <a:bodyPr wrap="square" lIns="0" tIns="0" rIns="0" bIns="0" rtlCol="0" anchor="ctr"/>
          <a:lstStyle/>
          <a:p>
            <a:pPr marL="0" indent="0" algn="ctr">
              <a:buNone/>
            </a:pPr>
            <a:r>
              <a:rPr lang="en-US" sz="1150" b="1" dirty="0">
                <a:solidFill>
                  <a:srgbClr val="FFFFFF"/>
                </a:solidFill>
              </a:rPr>
              <a:t>class AudioBook (child)</a:t>
            </a:r>
            <a:endParaRPr lang="en-US" sz="1150" dirty="0"/>
          </a:p>
        </p:txBody>
      </p:sp>
      <p:sp>
        <p:nvSpPr>
          <p:cNvPr id="18" name="Text 16"/>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62</a:t>
            </a:r>
            <a:endParaRPr lang="en-US" sz="1000" dirty="0"/>
          </a:p>
        </p:txBody>
      </p:sp>
      <p:sp>
        <p:nvSpPr>
          <p:cNvPr id="19" name="Text 17"/>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9 — OBJECT ORIENTED PROGRAMMING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Where This Is Used</a:t>
            </a:r>
            <a:endParaRPr lang="en-US" sz="2700" dirty="0"/>
          </a:p>
        </p:txBody>
      </p:sp>
      <p:sp>
        <p:nvSpPr>
          <p:cNvPr id="4" name="Shape 2"/>
          <p:cNvSpPr/>
          <p:nvPr/>
        </p:nvSpPr>
        <p:spPr>
          <a:xfrm>
            <a:off x="548640" y="1645920"/>
            <a:ext cx="3505200" cy="3566160"/>
          </a:xfrm>
          <a:prstGeom prst="roundRect">
            <a:avLst>
              <a:gd name="adj" fmla="val 2609"/>
            </a:avLst>
          </a:prstGeom>
          <a:solidFill>
            <a:srgbClr val="1E5A96"/>
          </a:solidFill>
          <a:ln/>
        </p:spPr>
      </p:sp>
      <p:sp>
        <p:nvSpPr>
          <p:cNvPr id="5" name="Shape 3"/>
          <p:cNvSpPr/>
          <p:nvPr/>
        </p:nvSpPr>
        <p:spPr>
          <a:xfrm>
            <a:off x="1981200" y="1965960"/>
            <a:ext cx="640080" cy="640080"/>
          </a:xfrm>
          <a:prstGeom prst="ellipse">
            <a:avLst/>
          </a:prstGeom>
          <a:solidFill>
            <a:srgbClr val="FFFFFF">
              <a:alpha val="88000"/>
            </a:srgbClr>
          </a:solidFill>
          <a:ln/>
        </p:spPr>
      </p:sp>
      <p:pic>
        <p:nvPicPr>
          <p:cNvPr id="6" name="Image 0" descr="preencoded.png"/>
          <p:cNvPicPr>
            <a:picLocks noChangeAspect="1"/>
          </p:cNvPicPr>
          <p:nvPr/>
        </p:nvPicPr>
        <p:blipFill>
          <a:blip r:embed="rId3"/>
          <a:stretch>
            <a:fillRect/>
          </a:stretch>
        </p:blipFill>
        <p:spPr>
          <a:xfrm>
            <a:off x="2118360" y="2103120"/>
            <a:ext cx="365760" cy="365760"/>
          </a:xfrm>
          <a:prstGeom prst="rect">
            <a:avLst/>
          </a:prstGeom>
        </p:spPr>
      </p:pic>
      <p:sp>
        <p:nvSpPr>
          <p:cNvPr id="7" name="Text 4"/>
          <p:cNvSpPr/>
          <p:nvPr/>
        </p:nvSpPr>
        <p:spPr>
          <a:xfrm>
            <a:off x="73152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Student Management</a:t>
            </a:r>
            <a:endParaRPr lang="en-US" sz="1500" dirty="0"/>
          </a:p>
        </p:txBody>
      </p:sp>
      <p:sp>
        <p:nvSpPr>
          <p:cNvPr id="8" name="Text 5"/>
          <p:cNvSpPr/>
          <p:nvPr/>
        </p:nvSpPr>
        <p:spPr>
          <a:xfrm>
            <a:off x="77724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A Student class storing name, marks, attendance</a:t>
            </a:r>
            <a:endParaRPr lang="en-US" sz="1200" dirty="0"/>
          </a:p>
        </p:txBody>
      </p:sp>
      <p:sp>
        <p:nvSpPr>
          <p:cNvPr id="9" name="Shape 6"/>
          <p:cNvSpPr/>
          <p:nvPr/>
        </p:nvSpPr>
        <p:spPr>
          <a:xfrm>
            <a:off x="4328160" y="1645920"/>
            <a:ext cx="3505200" cy="3566160"/>
          </a:xfrm>
          <a:prstGeom prst="roundRect">
            <a:avLst>
              <a:gd name="adj" fmla="val 2609"/>
            </a:avLst>
          </a:prstGeom>
          <a:solidFill>
            <a:srgbClr val="132A46"/>
          </a:solidFill>
          <a:ln/>
        </p:spPr>
      </p:sp>
      <p:sp>
        <p:nvSpPr>
          <p:cNvPr id="10" name="Shape 7"/>
          <p:cNvSpPr/>
          <p:nvPr/>
        </p:nvSpPr>
        <p:spPr>
          <a:xfrm>
            <a:off x="5760720" y="1965960"/>
            <a:ext cx="640080" cy="640080"/>
          </a:xfrm>
          <a:prstGeom prst="ellipse">
            <a:avLst/>
          </a:prstGeom>
          <a:solidFill>
            <a:srgbClr val="FFFFFF">
              <a:alpha val="88000"/>
            </a:srgbClr>
          </a:solidFill>
          <a:ln/>
        </p:spPr>
      </p:sp>
      <p:pic>
        <p:nvPicPr>
          <p:cNvPr id="11" name="Image 1" descr="preencoded.png"/>
          <p:cNvPicPr>
            <a:picLocks noChangeAspect="1"/>
          </p:cNvPicPr>
          <p:nvPr/>
        </p:nvPicPr>
        <p:blipFill>
          <a:blip r:embed="rId3"/>
          <a:stretch>
            <a:fillRect/>
          </a:stretch>
        </p:blipFill>
        <p:spPr>
          <a:xfrm>
            <a:off x="5897880" y="2103120"/>
            <a:ext cx="365760" cy="365760"/>
          </a:xfrm>
          <a:prstGeom prst="rect">
            <a:avLst/>
          </a:prstGeom>
        </p:spPr>
      </p:pic>
      <p:sp>
        <p:nvSpPr>
          <p:cNvPr id="12" name="Text 8"/>
          <p:cNvSpPr/>
          <p:nvPr/>
        </p:nvSpPr>
        <p:spPr>
          <a:xfrm>
            <a:off x="451104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Employee Systems</a:t>
            </a:r>
            <a:endParaRPr lang="en-US" sz="1500" dirty="0"/>
          </a:p>
        </p:txBody>
      </p:sp>
      <p:sp>
        <p:nvSpPr>
          <p:cNvPr id="13" name="Text 9"/>
          <p:cNvSpPr/>
          <p:nvPr/>
        </p:nvSpPr>
        <p:spPr>
          <a:xfrm>
            <a:off x="455676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An Employee class with payroll logic</a:t>
            </a:r>
            <a:endParaRPr lang="en-US" sz="1200" dirty="0"/>
          </a:p>
        </p:txBody>
      </p:sp>
      <p:sp>
        <p:nvSpPr>
          <p:cNvPr id="14" name="Shape 10"/>
          <p:cNvSpPr/>
          <p:nvPr/>
        </p:nvSpPr>
        <p:spPr>
          <a:xfrm>
            <a:off x="8107680" y="1645920"/>
            <a:ext cx="3505200" cy="3566160"/>
          </a:xfrm>
          <a:prstGeom prst="roundRect">
            <a:avLst>
              <a:gd name="adj" fmla="val 2609"/>
            </a:avLst>
          </a:prstGeom>
          <a:solidFill>
            <a:srgbClr val="1E5A96"/>
          </a:solidFill>
          <a:ln/>
        </p:spPr>
      </p:sp>
      <p:sp>
        <p:nvSpPr>
          <p:cNvPr id="15" name="Shape 11"/>
          <p:cNvSpPr/>
          <p:nvPr/>
        </p:nvSpPr>
        <p:spPr>
          <a:xfrm>
            <a:off x="9540240" y="1965960"/>
            <a:ext cx="640080" cy="640080"/>
          </a:xfrm>
          <a:prstGeom prst="ellipse">
            <a:avLst/>
          </a:prstGeom>
          <a:solidFill>
            <a:srgbClr val="FFFFFF">
              <a:alpha val="88000"/>
            </a:srgbClr>
          </a:solidFill>
          <a:ln/>
        </p:spPr>
      </p:sp>
      <p:pic>
        <p:nvPicPr>
          <p:cNvPr id="16" name="Image 2" descr="preencoded.png"/>
          <p:cNvPicPr>
            <a:picLocks noChangeAspect="1"/>
          </p:cNvPicPr>
          <p:nvPr/>
        </p:nvPicPr>
        <p:blipFill>
          <a:blip r:embed="rId3"/>
          <a:stretch>
            <a:fillRect/>
          </a:stretch>
        </p:blipFill>
        <p:spPr>
          <a:xfrm>
            <a:off x="9677400" y="2103120"/>
            <a:ext cx="365760" cy="365760"/>
          </a:xfrm>
          <a:prstGeom prst="rect">
            <a:avLst/>
          </a:prstGeom>
        </p:spPr>
      </p:pic>
      <p:sp>
        <p:nvSpPr>
          <p:cNvPr id="17" name="Text 12"/>
          <p:cNvSpPr/>
          <p:nvPr/>
        </p:nvSpPr>
        <p:spPr>
          <a:xfrm>
            <a:off x="8290560" y="2788920"/>
            <a:ext cx="3139440" cy="731520"/>
          </a:xfrm>
          <a:prstGeom prst="rect">
            <a:avLst/>
          </a:prstGeom>
          <a:noFill/>
          <a:ln/>
        </p:spPr>
        <p:txBody>
          <a:bodyPr wrap="square" lIns="0" tIns="0" rIns="0" bIns="0" rtlCol="0" anchor="ctr"/>
          <a:lstStyle/>
          <a:p>
            <a:pPr marL="0" indent="0" algn="ctr">
              <a:buNone/>
            </a:pPr>
            <a:r>
              <a:rPr lang="en-US" sz="1500" b="1" dirty="0">
                <a:solidFill>
                  <a:srgbClr val="FFFFFF"/>
                </a:solidFill>
              </a:rPr>
              <a:t>Library Systems</a:t>
            </a:r>
            <a:endParaRPr lang="en-US" sz="1500" dirty="0"/>
          </a:p>
        </p:txBody>
      </p:sp>
      <p:sp>
        <p:nvSpPr>
          <p:cNvPr id="18" name="Text 13"/>
          <p:cNvSpPr/>
          <p:nvPr/>
        </p:nvSpPr>
        <p:spPr>
          <a:xfrm>
            <a:off x="8336280" y="3520440"/>
            <a:ext cx="3048000" cy="1463040"/>
          </a:xfrm>
          <a:prstGeom prst="rect">
            <a:avLst/>
          </a:prstGeom>
          <a:noFill/>
          <a:ln/>
        </p:spPr>
        <p:txBody>
          <a:bodyPr wrap="square" lIns="0" tIns="0" rIns="0" bIns="0" rtlCol="0" anchor="ctr"/>
          <a:lstStyle/>
          <a:p>
            <a:pPr marL="0" indent="0" algn="ctr">
              <a:buNone/>
            </a:pPr>
            <a:r>
              <a:rPr lang="en-US" sz="1200" dirty="0">
                <a:solidFill>
                  <a:srgbClr val="DCE8F5"/>
                </a:solidFill>
              </a:rPr>
              <a:t>Book, Member, and Library classes working together</a:t>
            </a:r>
            <a:endParaRPr lang="en-US" sz="1200" dirty="0"/>
          </a:p>
        </p:txBody>
      </p:sp>
      <p:sp>
        <p:nvSpPr>
          <p:cNvPr id="19" name="Text 14"/>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63</a:t>
            </a:r>
            <a:endParaRPr lang="en-US" sz="10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9 — OBJECT ORIENTED PROGRAMMING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Coding Example &amp; Practical Exercises</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4937760" cy="457200"/>
          </a:xfrm>
          <a:prstGeom prst="rect">
            <a:avLst/>
          </a:prstGeom>
          <a:noFill/>
          <a:ln/>
        </p:spPr>
        <p:txBody>
          <a:bodyPr wrap="square" lIns="0" tIns="0" rIns="0" bIns="0" rtlCol="0" anchor="ctr"/>
          <a:lstStyle/>
          <a:p>
            <a:pPr marL="0" indent="0">
              <a:buNone/>
            </a:pPr>
            <a:r>
              <a:rPr lang="en-US" sz="1500" b="1" dirty="0">
                <a:solidFill>
                  <a:srgbClr val="1B2733"/>
                </a:solidFill>
              </a:rPr>
              <a:t>Coding Example</a:t>
            </a:r>
            <a:endParaRPr lang="en-US" sz="1500" dirty="0"/>
          </a:p>
        </p:txBody>
      </p:sp>
      <p:sp>
        <p:nvSpPr>
          <p:cNvPr id="7" name="Shape 4"/>
          <p:cNvSpPr/>
          <p:nvPr/>
        </p:nvSpPr>
        <p:spPr>
          <a:xfrm>
            <a:off x="548640" y="2011680"/>
            <a:ext cx="5486400" cy="3108960"/>
          </a:xfrm>
          <a:prstGeom prst="roundRect">
            <a:avLst>
              <a:gd name="adj" fmla="val 2353"/>
            </a:avLst>
          </a:prstGeom>
          <a:solidFill>
            <a:srgbClr val="1E1E2E"/>
          </a:solidFill>
          <a:ln/>
          <a:effectLst>
            <a:outerShdw blurRad="101600" dist="38100" dir="5400000" algn="bl" rotWithShape="0">
              <a:srgbClr val="000000">
                <a:alpha val="18000"/>
              </a:srgbClr>
            </a:outerShdw>
          </a:effectLst>
        </p:spPr>
      </p:sp>
      <p:sp>
        <p:nvSpPr>
          <p:cNvPr id="8" name="Text 5"/>
          <p:cNvSpPr/>
          <p:nvPr/>
        </p:nvSpPr>
        <p:spPr>
          <a:xfrm>
            <a:off x="731520" y="2103120"/>
            <a:ext cx="5120640" cy="274320"/>
          </a:xfrm>
          <a:prstGeom prst="rect">
            <a:avLst/>
          </a:prstGeom>
          <a:noFill/>
          <a:ln/>
        </p:spPr>
        <p:txBody>
          <a:bodyPr wrap="square" lIns="0" tIns="0" rIns="0" bIns="0" rtlCol="0" anchor="ctr"/>
          <a:lstStyle/>
          <a:p>
            <a:pPr marL="0" indent="0">
              <a:buNone/>
            </a:pPr>
            <a:r>
              <a:rPr lang="en-US" sz="1050" dirty="0">
                <a:solidFill>
                  <a:srgbClr val="8FA3B8"/>
                </a:solidFill>
                <a:latin typeface="Courier New" pitchFamily="34" charset="0"/>
                <a:ea typeface="Courier New" pitchFamily="34" charset="-122"/>
                <a:cs typeface="Courier New" pitchFamily="34" charset="-120"/>
              </a:rPr>
              <a:t>student.py</a:t>
            </a:r>
            <a:endParaRPr lang="en-US" sz="1050" dirty="0"/>
          </a:p>
        </p:txBody>
      </p:sp>
      <p:sp>
        <p:nvSpPr>
          <p:cNvPr id="9" name="Text 6"/>
          <p:cNvSpPr/>
          <p:nvPr/>
        </p:nvSpPr>
        <p:spPr>
          <a:xfrm>
            <a:off x="777240" y="2395728"/>
            <a:ext cx="5029200" cy="2560320"/>
          </a:xfrm>
          <a:prstGeom prst="rect">
            <a:avLst/>
          </a:prstGeom>
          <a:noFill/>
          <a:ln/>
        </p:spPr>
        <p:txBody>
          <a:bodyPr wrap="square" lIns="0" tIns="0" rIns="0" bIns="0" rtlCol="0" anchor="t"/>
          <a:lstStyle/>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class Student:</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def __init__(self, name):</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self.name = name</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 </a:t>
            </a:r>
            <a:endParaRPr lang="en-US" sz="1300" dirty="0"/>
          </a:p>
          <a:p>
            <a:pPr marL="0" indent="0">
              <a:lnSpc>
                <a:spcPct val="130000"/>
              </a:lnSpc>
              <a:buNone/>
            </a:pPr>
            <a:r>
              <a:rPr lang="en-US" sz="1300" dirty="0">
                <a:solidFill>
                  <a:srgbClr val="E4E9F0"/>
                </a:solidFill>
                <a:latin typeface="Courier New" pitchFamily="34" charset="0"/>
                <a:ea typeface="Courier New" pitchFamily="34" charset="-122"/>
                <a:cs typeface="Courier New" pitchFamily="34" charset="-120"/>
              </a:rPr>
              <a:t>s = Student("John")</a:t>
            </a:r>
            <a:endParaRPr lang="en-US" sz="1300" dirty="0"/>
          </a:p>
        </p:txBody>
      </p:sp>
      <p:sp>
        <p:nvSpPr>
          <p:cNvPr id="10" name="Shape 7"/>
          <p:cNvSpPr/>
          <p:nvPr/>
        </p:nvSpPr>
        <p:spPr>
          <a:xfrm>
            <a:off x="6355080" y="1463040"/>
            <a:ext cx="384048" cy="384048"/>
          </a:xfrm>
          <a:prstGeom prst="ellipse">
            <a:avLst/>
          </a:prstGeom>
          <a:solidFill>
            <a:srgbClr val="1E5A96"/>
          </a:solidFill>
          <a:ln/>
        </p:spPr>
      </p:sp>
      <p:pic>
        <p:nvPicPr>
          <p:cNvPr id="11"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2" name="Text 8"/>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Practical Exercises</a:t>
            </a:r>
            <a:endParaRPr lang="en-US" sz="1500" dirty="0"/>
          </a:p>
        </p:txBody>
      </p:sp>
      <p:sp>
        <p:nvSpPr>
          <p:cNvPr id="13" name="Shape 9"/>
          <p:cNvSpPr/>
          <p:nvPr/>
        </p:nvSpPr>
        <p:spPr>
          <a:xfrm>
            <a:off x="6355080" y="2011680"/>
            <a:ext cx="5257800" cy="3108960"/>
          </a:xfrm>
          <a:prstGeom prst="roundRect">
            <a:avLst>
              <a:gd name="adj" fmla="val 2353"/>
            </a:avLst>
          </a:prstGeom>
          <a:solidFill>
            <a:srgbClr val="EEF4FA"/>
          </a:solidFill>
          <a:ln/>
        </p:spPr>
      </p:sp>
      <p:sp>
        <p:nvSpPr>
          <p:cNvPr id="14" name="Text 10"/>
          <p:cNvSpPr/>
          <p:nvPr/>
        </p:nvSpPr>
        <p:spPr>
          <a:xfrm>
            <a:off x="6583680" y="2212848"/>
            <a:ext cx="4846320" cy="27432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B2733"/>
                </a:solidFill>
              </a:rPr>
              <a:t>Build a Student class with methods</a:t>
            </a:r>
            <a:endParaRPr lang="en-US" sz="1350" dirty="0"/>
          </a:p>
          <a:p>
            <a:pPr marL="342900" indent="-342900">
              <a:lnSpc>
                <a:spcPct val="120000"/>
              </a:lnSpc>
              <a:spcAft>
                <a:spcPts val="1200"/>
              </a:spcAft>
              <a:buSzPct val="100000"/>
              <a:buChar char="•"/>
            </a:pPr>
            <a:r>
              <a:rPr lang="en-US" sz="1350" dirty="0">
                <a:solidFill>
                  <a:srgbClr val="1B2733"/>
                </a:solidFill>
              </a:rPr>
              <a:t>Build an Employee class with salary logic</a:t>
            </a:r>
            <a:endParaRPr lang="en-US" sz="1350" dirty="0"/>
          </a:p>
          <a:p>
            <a:pPr marL="342900" indent="-342900">
              <a:lnSpc>
                <a:spcPct val="120000"/>
              </a:lnSpc>
              <a:spcAft>
                <a:spcPts val="1200"/>
              </a:spcAft>
              <a:buSzPct val="100000"/>
              <a:buChar char="•"/>
            </a:pPr>
            <a:r>
              <a:rPr lang="en-US" sz="1350" dirty="0">
                <a:solidFill>
                  <a:srgbClr val="1B2733"/>
                </a:solidFill>
              </a:rPr>
              <a:t>Build a mini Library Management System</a:t>
            </a:r>
            <a:endParaRPr lang="en-US" sz="1350" dirty="0"/>
          </a:p>
        </p:txBody>
      </p:sp>
      <p:sp>
        <p:nvSpPr>
          <p:cNvPr id="15" name="Text 11"/>
          <p:cNvSpPr/>
          <p:nvPr/>
        </p:nvSpPr>
        <p:spPr>
          <a:xfrm>
            <a:off x="548640" y="5257800"/>
            <a:ext cx="5486400" cy="274320"/>
          </a:xfrm>
          <a:prstGeom prst="rect">
            <a:avLst/>
          </a:prstGeom>
          <a:noFill/>
          <a:ln/>
        </p:spPr>
        <p:txBody>
          <a:bodyPr wrap="square" lIns="0" tIns="0" rIns="0" bIns="0" rtlCol="0" anchor="ctr"/>
          <a:lstStyle/>
          <a:p>
            <a:pPr marL="0" indent="0">
              <a:buNone/>
            </a:pPr>
            <a:r>
              <a:rPr lang="en-US" sz="1050" i="1" dirty="0">
                <a:solidFill>
                  <a:srgbClr val="5C6B7A"/>
                </a:solidFill>
              </a:rPr>
              <a:t>Theory: 2h  •  Practical: 2h</a:t>
            </a:r>
            <a:endParaRPr lang="en-US" sz="1050" dirty="0"/>
          </a:p>
        </p:txBody>
      </p:sp>
      <p:sp>
        <p:nvSpPr>
          <p:cNvPr id="16" name="Text 12"/>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64</a:t>
            </a:r>
            <a:endParaRPr lang="en-US" sz="1000" dirty="0"/>
          </a:p>
        </p:txBody>
      </p:sp>
      <p:sp>
        <p:nvSpPr>
          <p:cNvPr id="17" name="Text 13"/>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9 — OBJECT ORIENTED PROGRAMMING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Mini Activity &amp; Expected Outcome</a:t>
            </a:r>
            <a:endParaRPr lang="en-US" sz="2700" dirty="0"/>
          </a:p>
        </p:txBody>
      </p:sp>
      <p:sp>
        <p:nvSpPr>
          <p:cNvPr id="4" name="Shape 2"/>
          <p:cNvSpPr/>
          <p:nvPr/>
        </p:nvSpPr>
        <p:spPr>
          <a:xfrm>
            <a:off x="548640" y="1600200"/>
            <a:ext cx="11064240" cy="1920240"/>
          </a:xfrm>
          <a:prstGeom prst="roundRect">
            <a:avLst>
              <a:gd name="adj" fmla="val 4762"/>
            </a:avLst>
          </a:prstGeom>
          <a:solidFill>
            <a:srgbClr val="1E5A96"/>
          </a:solidFill>
          <a:ln/>
        </p:spPr>
      </p:sp>
      <p:pic>
        <p:nvPicPr>
          <p:cNvPr id="5" name="Image 0" descr="preencoded.png"/>
          <p:cNvPicPr>
            <a:picLocks noChangeAspect="1"/>
          </p:cNvPicPr>
          <p:nvPr/>
        </p:nvPicPr>
        <p:blipFill>
          <a:blip r:embed="rId3"/>
          <a:stretch>
            <a:fillRect/>
          </a:stretch>
        </p:blipFill>
        <p:spPr>
          <a:xfrm>
            <a:off x="868680" y="1965960"/>
            <a:ext cx="502920" cy="502920"/>
          </a:xfrm>
          <a:prstGeom prst="rect">
            <a:avLst/>
          </a:prstGeom>
        </p:spPr>
      </p:pic>
      <p:sp>
        <p:nvSpPr>
          <p:cNvPr id="6" name="Text 3"/>
          <p:cNvSpPr/>
          <p:nvPr/>
        </p:nvSpPr>
        <p:spPr>
          <a:xfrm>
            <a:off x="1554480" y="1874520"/>
            <a:ext cx="3657600" cy="320040"/>
          </a:xfrm>
          <a:prstGeom prst="rect">
            <a:avLst/>
          </a:prstGeom>
          <a:noFill/>
          <a:ln/>
        </p:spPr>
        <p:txBody>
          <a:bodyPr wrap="square" lIns="0" tIns="0" rIns="0" bIns="0" rtlCol="0" anchor="ctr"/>
          <a:lstStyle/>
          <a:p>
            <a:pPr marL="0" indent="0">
              <a:buNone/>
            </a:pPr>
            <a:r>
              <a:rPr lang="en-US" sz="1250" b="1" kern="0" spc="150" dirty="0">
                <a:solidFill>
                  <a:srgbClr val="F2A93B"/>
                </a:solidFill>
              </a:rPr>
              <a:t>MINI ACTIVITY</a:t>
            </a:r>
            <a:endParaRPr lang="en-US" sz="1250" dirty="0"/>
          </a:p>
        </p:txBody>
      </p:sp>
      <p:sp>
        <p:nvSpPr>
          <p:cNvPr id="7" name="Text 4"/>
          <p:cNvSpPr/>
          <p:nvPr/>
        </p:nvSpPr>
        <p:spPr>
          <a:xfrm>
            <a:off x="1554480" y="2240280"/>
            <a:ext cx="9692640" cy="1143000"/>
          </a:xfrm>
          <a:prstGeom prst="rect">
            <a:avLst/>
          </a:prstGeom>
          <a:noFill/>
          <a:ln/>
        </p:spPr>
        <p:txBody>
          <a:bodyPr wrap="square" lIns="0" tIns="0" rIns="0" bIns="0" rtlCol="0" anchor="t"/>
          <a:lstStyle/>
          <a:p>
            <a:pPr marL="0" indent="0">
              <a:buNone/>
            </a:pPr>
            <a:r>
              <a:rPr lang="en-US" sz="1550" dirty="0">
                <a:solidFill>
                  <a:srgbClr val="FFFFFF"/>
                </a:solidFill>
              </a:rPr>
              <a:t>Extend the Library Management System using inheritance (e.g. Book → EBook).</a:t>
            </a:r>
            <a:endParaRPr lang="en-US" sz="1550" dirty="0"/>
          </a:p>
        </p:txBody>
      </p:sp>
      <p:sp>
        <p:nvSpPr>
          <p:cNvPr id="8" name="Shape 5"/>
          <p:cNvSpPr/>
          <p:nvPr/>
        </p:nvSpPr>
        <p:spPr>
          <a:xfrm>
            <a:off x="548640" y="3794760"/>
            <a:ext cx="11064240" cy="1691640"/>
          </a:xfrm>
          <a:prstGeom prst="roundRect">
            <a:avLst>
              <a:gd name="adj" fmla="val 5405"/>
            </a:avLst>
          </a:prstGeom>
          <a:solidFill>
            <a:srgbClr val="EEF4FA"/>
          </a:solidFill>
          <a:ln/>
        </p:spPr>
      </p:sp>
      <p:pic>
        <p:nvPicPr>
          <p:cNvPr id="9" name="Image 1" descr="preencoded.png"/>
          <p:cNvPicPr>
            <a:picLocks noChangeAspect="1"/>
          </p:cNvPicPr>
          <p:nvPr/>
        </p:nvPicPr>
        <p:blipFill>
          <a:blip r:embed="rId4"/>
          <a:stretch>
            <a:fillRect/>
          </a:stretch>
        </p:blipFill>
        <p:spPr>
          <a:xfrm>
            <a:off x="868680" y="4114800"/>
            <a:ext cx="457200" cy="457200"/>
          </a:xfrm>
          <a:prstGeom prst="rect">
            <a:avLst/>
          </a:prstGeom>
        </p:spPr>
      </p:pic>
      <p:sp>
        <p:nvSpPr>
          <p:cNvPr id="10" name="Text 6"/>
          <p:cNvSpPr/>
          <p:nvPr/>
        </p:nvSpPr>
        <p:spPr>
          <a:xfrm>
            <a:off x="1508760" y="4041648"/>
            <a:ext cx="3657600" cy="320040"/>
          </a:xfrm>
          <a:prstGeom prst="rect">
            <a:avLst/>
          </a:prstGeom>
          <a:noFill/>
          <a:ln/>
        </p:spPr>
        <p:txBody>
          <a:bodyPr wrap="square" lIns="0" tIns="0" rIns="0" bIns="0" rtlCol="0" anchor="ctr"/>
          <a:lstStyle/>
          <a:p>
            <a:pPr marL="0" indent="0">
              <a:buNone/>
            </a:pPr>
            <a:r>
              <a:rPr lang="en-US" sz="1250" b="1" kern="0" spc="150" dirty="0">
                <a:solidFill>
                  <a:srgbClr val="1E7D32"/>
                </a:solidFill>
              </a:rPr>
              <a:t>EXPECTED OUTCOME</a:t>
            </a:r>
            <a:endParaRPr lang="en-US" sz="1250" dirty="0"/>
          </a:p>
        </p:txBody>
      </p:sp>
      <p:sp>
        <p:nvSpPr>
          <p:cNvPr id="11" name="Text 7"/>
          <p:cNvSpPr/>
          <p:nvPr/>
        </p:nvSpPr>
        <p:spPr>
          <a:xfrm>
            <a:off x="1508760" y="4389120"/>
            <a:ext cx="9784080" cy="914400"/>
          </a:xfrm>
          <a:prstGeom prst="rect">
            <a:avLst/>
          </a:prstGeom>
          <a:noFill/>
          <a:ln/>
        </p:spPr>
        <p:txBody>
          <a:bodyPr wrap="square" lIns="0" tIns="0" rIns="0" bIns="0" rtlCol="0" anchor="t"/>
          <a:lstStyle/>
          <a:p>
            <a:pPr marL="0" indent="0">
              <a:buNone/>
            </a:pPr>
            <a:r>
              <a:rPr lang="en-US" sz="1550" dirty="0">
                <a:solidFill>
                  <a:srgbClr val="1B2733"/>
                </a:solidFill>
              </a:rPr>
              <a:t>Students can build scalable applications using OOP concepts.</a:t>
            </a:r>
            <a:endParaRPr lang="en-US" sz="1550" dirty="0"/>
          </a:p>
        </p:txBody>
      </p:sp>
      <p:sp>
        <p:nvSpPr>
          <p:cNvPr id="12" name="Text 8"/>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65</a:t>
            </a:r>
            <a:endParaRPr lang="en-US" sz="1000" dirty="0"/>
          </a:p>
        </p:txBody>
      </p:sp>
      <p:sp>
        <p:nvSpPr>
          <p:cNvPr id="13" name="Text 9"/>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MODULE 9 — OBJECT ORIENTED PROGRAMMING</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Interview Questions &amp; Summary</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6126480" cy="457200"/>
          </a:xfrm>
          <a:prstGeom prst="rect">
            <a:avLst/>
          </a:prstGeom>
          <a:noFill/>
          <a:ln/>
        </p:spPr>
        <p:txBody>
          <a:bodyPr wrap="square" lIns="0" tIns="0" rIns="0" bIns="0" rtlCol="0" anchor="ctr"/>
          <a:lstStyle/>
          <a:p>
            <a:pPr marL="0" indent="0">
              <a:buNone/>
            </a:pPr>
            <a:r>
              <a:rPr lang="en-US" sz="1500" b="1" dirty="0">
                <a:solidFill>
                  <a:srgbClr val="1B2733"/>
                </a:solidFill>
              </a:rPr>
              <a:t>Interview Questions</a:t>
            </a:r>
            <a:endParaRPr lang="en-US" sz="1500" dirty="0"/>
          </a:p>
        </p:txBody>
      </p:sp>
      <p:sp>
        <p:nvSpPr>
          <p:cNvPr id="7" name="Shape 4"/>
          <p:cNvSpPr/>
          <p:nvPr/>
        </p:nvSpPr>
        <p:spPr>
          <a:xfrm>
            <a:off x="548640" y="1965960"/>
            <a:ext cx="6675120" cy="1170432"/>
          </a:xfrm>
          <a:prstGeom prst="roundRect">
            <a:avLst>
              <a:gd name="adj" fmla="val 5469"/>
            </a:avLst>
          </a:prstGeom>
          <a:solidFill>
            <a:srgbClr val="EEF4FA"/>
          </a:solidFill>
          <a:ln/>
        </p:spPr>
      </p:sp>
      <p:sp>
        <p:nvSpPr>
          <p:cNvPr id="8" name="Text 5"/>
          <p:cNvSpPr/>
          <p:nvPr/>
        </p:nvSpPr>
        <p:spPr>
          <a:xfrm>
            <a:off x="731520" y="2057400"/>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is the difference between a class and an object?</a:t>
            </a:r>
            <a:endParaRPr lang="en-US" sz="1250" dirty="0"/>
          </a:p>
        </p:txBody>
      </p:sp>
      <p:sp>
        <p:nvSpPr>
          <p:cNvPr id="9" name="Text 6"/>
          <p:cNvSpPr/>
          <p:nvPr/>
        </p:nvSpPr>
        <p:spPr>
          <a:xfrm>
            <a:off x="731520" y="2441448"/>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A class is a blueprint/template; an object is a concrete instance created from that class.</a:t>
            </a:r>
            <a:endParaRPr lang="en-US" sz="1150" dirty="0"/>
          </a:p>
        </p:txBody>
      </p:sp>
      <p:sp>
        <p:nvSpPr>
          <p:cNvPr id="10" name="Shape 7"/>
          <p:cNvSpPr/>
          <p:nvPr/>
        </p:nvSpPr>
        <p:spPr>
          <a:xfrm>
            <a:off x="548640" y="3264408"/>
            <a:ext cx="6675120" cy="1170432"/>
          </a:xfrm>
          <a:prstGeom prst="roundRect">
            <a:avLst>
              <a:gd name="adj" fmla="val 5469"/>
            </a:avLst>
          </a:prstGeom>
          <a:solidFill>
            <a:srgbClr val="EEF4FA"/>
          </a:solidFill>
          <a:ln/>
        </p:spPr>
      </p:sp>
      <p:sp>
        <p:nvSpPr>
          <p:cNvPr id="11" name="Text 8"/>
          <p:cNvSpPr/>
          <p:nvPr/>
        </p:nvSpPr>
        <p:spPr>
          <a:xfrm>
            <a:off x="731520" y="3355848"/>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is the purpose of self?</a:t>
            </a:r>
            <a:endParaRPr lang="en-US" sz="1250" dirty="0"/>
          </a:p>
        </p:txBody>
      </p:sp>
      <p:sp>
        <p:nvSpPr>
          <p:cNvPr id="12" name="Text 9"/>
          <p:cNvSpPr/>
          <p:nvPr/>
        </p:nvSpPr>
        <p:spPr>
          <a:xfrm>
            <a:off x="731520" y="3739896"/>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self refers to the current object instance, letting methods access its own attributes.</a:t>
            </a:r>
            <a:endParaRPr lang="en-US" sz="1150" dirty="0"/>
          </a:p>
        </p:txBody>
      </p:sp>
      <p:sp>
        <p:nvSpPr>
          <p:cNvPr id="13" name="Shape 10"/>
          <p:cNvSpPr/>
          <p:nvPr/>
        </p:nvSpPr>
        <p:spPr>
          <a:xfrm>
            <a:off x="548640" y="4562856"/>
            <a:ext cx="6675120" cy="1170432"/>
          </a:xfrm>
          <a:prstGeom prst="roundRect">
            <a:avLst>
              <a:gd name="adj" fmla="val 5469"/>
            </a:avLst>
          </a:prstGeom>
          <a:solidFill>
            <a:srgbClr val="EEF4FA"/>
          </a:solidFill>
          <a:ln/>
        </p:spPr>
      </p:sp>
      <p:sp>
        <p:nvSpPr>
          <p:cNvPr id="14" name="Text 11"/>
          <p:cNvSpPr/>
          <p:nvPr/>
        </p:nvSpPr>
        <p:spPr>
          <a:xfrm>
            <a:off x="731520" y="4654296"/>
            <a:ext cx="6309360" cy="365760"/>
          </a:xfrm>
          <a:prstGeom prst="rect">
            <a:avLst/>
          </a:prstGeom>
          <a:noFill/>
          <a:ln/>
        </p:spPr>
        <p:txBody>
          <a:bodyPr wrap="square" lIns="0" tIns="0" rIns="0" bIns="0" rtlCol="0" anchor="ctr"/>
          <a:lstStyle/>
          <a:p>
            <a:pPr marL="0" indent="0">
              <a:buNone/>
            </a:pPr>
            <a:r>
              <a:rPr lang="en-US" sz="1250" b="1" dirty="0">
                <a:solidFill>
                  <a:srgbClr val="1B2733"/>
                </a:solidFill>
              </a:rPr>
              <a:t>Q. What is inheritance used for?</a:t>
            </a:r>
            <a:endParaRPr lang="en-US" sz="1250" dirty="0"/>
          </a:p>
        </p:txBody>
      </p:sp>
      <p:sp>
        <p:nvSpPr>
          <p:cNvPr id="15" name="Text 12"/>
          <p:cNvSpPr/>
          <p:nvPr/>
        </p:nvSpPr>
        <p:spPr>
          <a:xfrm>
            <a:off x="731520" y="5038344"/>
            <a:ext cx="6309360" cy="640080"/>
          </a:xfrm>
          <a:prstGeom prst="rect">
            <a:avLst/>
          </a:prstGeom>
          <a:noFill/>
          <a:ln/>
        </p:spPr>
        <p:txBody>
          <a:bodyPr wrap="square" lIns="0" tIns="0" rIns="0" bIns="0" rtlCol="0" anchor="ctr"/>
          <a:lstStyle/>
          <a:p>
            <a:pPr marL="0" indent="0">
              <a:buNone/>
            </a:pPr>
            <a:r>
              <a:rPr lang="en-US" sz="1150" dirty="0">
                <a:solidFill>
                  <a:srgbClr val="5C6B7A"/>
                </a:solidFill>
              </a:rPr>
              <a:t>A. To let a child class reuse and extend the attributes/methods of a parent class.</a:t>
            </a:r>
            <a:endParaRPr lang="en-US" sz="1150" dirty="0"/>
          </a:p>
        </p:txBody>
      </p:sp>
      <p:sp>
        <p:nvSpPr>
          <p:cNvPr id="16" name="Shape 13"/>
          <p:cNvSpPr/>
          <p:nvPr/>
        </p:nvSpPr>
        <p:spPr>
          <a:xfrm>
            <a:off x="7452360" y="1417320"/>
            <a:ext cx="13716" cy="4709160"/>
          </a:xfrm>
          <a:prstGeom prst="rect">
            <a:avLst/>
          </a:prstGeom>
          <a:solidFill>
            <a:srgbClr val="DCE6F0"/>
          </a:solidFill>
          <a:ln/>
        </p:spPr>
      </p:sp>
      <p:sp>
        <p:nvSpPr>
          <p:cNvPr id="17" name="Shape 14"/>
          <p:cNvSpPr/>
          <p:nvPr/>
        </p:nvSpPr>
        <p:spPr>
          <a:xfrm>
            <a:off x="7680960" y="1463040"/>
            <a:ext cx="384048" cy="384048"/>
          </a:xfrm>
          <a:prstGeom prst="ellipse">
            <a:avLst/>
          </a:prstGeom>
          <a:solidFill>
            <a:srgbClr val="1E7D32"/>
          </a:solidFill>
          <a:ln/>
        </p:spPr>
      </p:sp>
      <p:pic>
        <p:nvPicPr>
          <p:cNvPr id="18" name="Image 1" descr="preencoded.png"/>
          <p:cNvPicPr>
            <a:picLocks noChangeAspect="1"/>
          </p:cNvPicPr>
          <p:nvPr/>
        </p:nvPicPr>
        <p:blipFill>
          <a:blip r:embed="rId4"/>
          <a:stretch>
            <a:fillRect/>
          </a:stretch>
        </p:blipFill>
        <p:spPr>
          <a:xfrm>
            <a:off x="7763256" y="1545336"/>
            <a:ext cx="219456" cy="219456"/>
          </a:xfrm>
          <a:prstGeom prst="rect">
            <a:avLst/>
          </a:prstGeom>
        </p:spPr>
      </p:pic>
      <p:sp>
        <p:nvSpPr>
          <p:cNvPr id="19" name="Text 15"/>
          <p:cNvSpPr/>
          <p:nvPr/>
        </p:nvSpPr>
        <p:spPr>
          <a:xfrm>
            <a:off x="8193024" y="1435608"/>
            <a:ext cx="3383280" cy="457200"/>
          </a:xfrm>
          <a:prstGeom prst="rect">
            <a:avLst/>
          </a:prstGeom>
          <a:noFill/>
          <a:ln/>
        </p:spPr>
        <p:txBody>
          <a:bodyPr wrap="square" lIns="0" tIns="0" rIns="0" bIns="0" rtlCol="0" anchor="ctr"/>
          <a:lstStyle/>
          <a:p>
            <a:pPr marL="0" indent="0">
              <a:buNone/>
            </a:pPr>
            <a:r>
              <a:rPr lang="en-US" sz="1500" b="1" dirty="0">
                <a:solidFill>
                  <a:srgbClr val="1B2733"/>
                </a:solidFill>
              </a:rPr>
              <a:t>Module Summary</a:t>
            </a:r>
            <a:endParaRPr lang="en-US" sz="1500" dirty="0"/>
          </a:p>
        </p:txBody>
      </p:sp>
      <p:sp>
        <p:nvSpPr>
          <p:cNvPr id="20" name="Text 16"/>
          <p:cNvSpPr/>
          <p:nvPr/>
        </p:nvSpPr>
        <p:spPr>
          <a:xfrm>
            <a:off x="7680960" y="2011680"/>
            <a:ext cx="3931920" cy="39319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00" dirty="0">
                <a:solidFill>
                  <a:srgbClr val="1B2733"/>
                </a:solidFill>
              </a:rPr>
              <a:t>Classes are blueprints; objects are instances</a:t>
            </a:r>
            <a:endParaRPr lang="en-US" sz="1300" dirty="0"/>
          </a:p>
          <a:p>
            <a:pPr marL="342900" indent="-342900">
              <a:lnSpc>
                <a:spcPct val="120000"/>
              </a:lnSpc>
              <a:spcAft>
                <a:spcPts val="1200"/>
              </a:spcAft>
              <a:buSzPct val="100000"/>
              <a:buChar char="✓"/>
            </a:pPr>
            <a:r>
              <a:rPr lang="en-US" sz="1300" dirty="0">
                <a:solidFill>
                  <a:srgbClr val="1B2733"/>
                </a:solidFill>
              </a:rPr>
              <a:t>__init__ initialises every new object</a:t>
            </a:r>
            <a:endParaRPr lang="en-US" sz="1300" dirty="0"/>
          </a:p>
          <a:p>
            <a:pPr marL="342900" indent="-342900">
              <a:lnSpc>
                <a:spcPct val="120000"/>
              </a:lnSpc>
              <a:spcAft>
                <a:spcPts val="1200"/>
              </a:spcAft>
              <a:buSzPct val="100000"/>
              <a:buChar char="✓"/>
            </a:pPr>
            <a:r>
              <a:rPr lang="en-US" sz="1300" dirty="0">
                <a:solidFill>
                  <a:srgbClr val="1B2733"/>
                </a:solidFill>
              </a:rPr>
              <a:t>Encapsulation keeps data &amp; logic together</a:t>
            </a:r>
            <a:endParaRPr lang="en-US" sz="1300" dirty="0"/>
          </a:p>
          <a:p>
            <a:pPr marL="342900" indent="-342900">
              <a:lnSpc>
                <a:spcPct val="120000"/>
              </a:lnSpc>
              <a:spcAft>
                <a:spcPts val="1200"/>
              </a:spcAft>
              <a:buSzPct val="100000"/>
              <a:buChar char="✓"/>
            </a:pPr>
            <a:r>
              <a:rPr lang="en-US" sz="1300" dirty="0">
                <a:solidFill>
                  <a:srgbClr val="1B2733"/>
                </a:solidFill>
              </a:rPr>
              <a:t>Inheritance enables scalable, reusable code</a:t>
            </a:r>
            <a:endParaRPr lang="en-US" sz="1300" dirty="0"/>
          </a:p>
        </p:txBody>
      </p:sp>
      <p:sp>
        <p:nvSpPr>
          <p:cNvPr id="21" name="Text 1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66</a:t>
            </a:r>
            <a:endParaRPr lang="en-US" sz="1000" dirty="0"/>
          </a:p>
        </p:txBody>
      </p:sp>
      <p:sp>
        <p:nvSpPr>
          <p:cNvPr id="22" name="Text 1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CAPSTONE PROJECT</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Library Management System</a:t>
            </a:r>
            <a:endParaRPr lang="en-US" sz="2700" dirty="0"/>
          </a:p>
        </p:txBody>
      </p:sp>
      <p:sp>
        <p:nvSpPr>
          <p:cNvPr id="4" name="Shape 2"/>
          <p:cNvSpPr/>
          <p:nvPr/>
        </p:nvSpPr>
        <p:spPr>
          <a:xfrm>
            <a:off x="548640" y="1463040"/>
            <a:ext cx="384048" cy="384048"/>
          </a:xfrm>
          <a:prstGeom prst="ellipse">
            <a:avLst/>
          </a:prstGeom>
          <a:solidFill>
            <a:srgbClr val="1E5A96"/>
          </a:solidFill>
          <a:ln/>
        </p:spPr>
      </p:sp>
      <p:pic>
        <p:nvPicPr>
          <p:cNvPr id="5" name="Image 0" descr="preencoded.png"/>
          <p:cNvPicPr>
            <a:picLocks noChangeAspect="1"/>
          </p:cNvPicPr>
          <p:nvPr/>
        </p:nvPicPr>
        <p:blipFill>
          <a:blip r:embed="rId3"/>
          <a:stretch>
            <a:fillRect/>
          </a:stretch>
        </p:blipFill>
        <p:spPr>
          <a:xfrm>
            <a:off x="630936" y="1545336"/>
            <a:ext cx="219456" cy="219456"/>
          </a:xfrm>
          <a:prstGeom prst="rect">
            <a:avLst/>
          </a:prstGeom>
        </p:spPr>
      </p:pic>
      <p:sp>
        <p:nvSpPr>
          <p:cNvPr id="6" name="Text 3"/>
          <p:cNvSpPr/>
          <p:nvPr/>
        </p:nvSpPr>
        <p:spPr>
          <a:xfrm>
            <a:off x="1060704" y="1435608"/>
            <a:ext cx="10424160" cy="457200"/>
          </a:xfrm>
          <a:prstGeom prst="rect">
            <a:avLst/>
          </a:prstGeom>
          <a:noFill/>
          <a:ln/>
        </p:spPr>
        <p:txBody>
          <a:bodyPr wrap="square" lIns="0" tIns="0" rIns="0" bIns="0" rtlCol="0" anchor="ctr"/>
          <a:lstStyle/>
          <a:p>
            <a:pPr marL="0" indent="0">
              <a:buNone/>
            </a:pPr>
            <a:r>
              <a:rPr lang="en-US" sz="1500" b="1" dirty="0">
                <a:solidFill>
                  <a:srgbClr val="1B2733"/>
                </a:solidFill>
              </a:rPr>
              <a:t>Project Brief</a:t>
            </a:r>
            <a:endParaRPr lang="en-US" sz="1500" dirty="0"/>
          </a:p>
        </p:txBody>
      </p:sp>
      <p:sp>
        <p:nvSpPr>
          <p:cNvPr id="7" name="Text 4"/>
          <p:cNvSpPr/>
          <p:nvPr/>
        </p:nvSpPr>
        <p:spPr>
          <a:xfrm>
            <a:off x="548640" y="2011680"/>
            <a:ext cx="5486400" cy="393192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400" dirty="0">
                <a:solidFill>
                  <a:srgbClr val="1B2733"/>
                </a:solidFill>
              </a:rPr>
              <a:t>Manage Books, Members, and Borrow/Return records</a:t>
            </a:r>
            <a:endParaRPr lang="en-US" sz="1400" dirty="0"/>
          </a:p>
          <a:p>
            <a:pPr marL="342900" indent="-342900">
              <a:lnSpc>
                <a:spcPct val="115000"/>
              </a:lnSpc>
              <a:spcAft>
                <a:spcPts val="1200"/>
              </a:spcAft>
              <a:buSzPct val="100000"/>
              <a:buChar char="●"/>
            </a:pPr>
            <a:r>
              <a:rPr lang="en-US" sz="1400" dirty="0">
                <a:solidFill>
                  <a:srgbClr val="1B2733"/>
                </a:solidFill>
              </a:rPr>
              <a:t>Use OOP: Book, Member, and Library classes</a:t>
            </a:r>
            <a:endParaRPr lang="en-US" sz="1400" dirty="0"/>
          </a:p>
          <a:p>
            <a:pPr marL="342900" indent="-342900">
              <a:lnSpc>
                <a:spcPct val="115000"/>
              </a:lnSpc>
              <a:spcAft>
                <a:spcPts val="1200"/>
              </a:spcAft>
              <a:buSzPct val="100000"/>
              <a:buChar char="●"/>
            </a:pPr>
            <a:r>
              <a:rPr lang="en-US" sz="1400" dirty="0">
                <a:solidFill>
                  <a:srgbClr val="1B2733"/>
                </a:solidFill>
              </a:rPr>
              <a:t>Store records using lists &amp; dictionaries</a:t>
            </a:r>
            <a:endParaRPr lang="en-US" sz="1400" dirty="0"/>
          </a:p>
          <a:p>
            <a:pPr marL="342900" indent="-342900">
              <a:lnSpc>
                <a:spcPct val="115000"/>
              </a:lnSpc>
              <a:spcAft>
                <a:spcPts val="1200"/>
              </a:spcAft>
              <a:buSzPct val="100000"/>
              <a:buChar char="●"/>
            </a:pPr>
            <a:r>
              <a:rPr lang="en-US" sz="1400" dirty="0">
                <a:solidFill>
                  <a:srgbClr val="1B2733"/>
                </a:solidFill>
              </a:rPr>
              <a:t>Save and load data from a text file</a:t>
            </a:r>
            <a:endParaRPr lang="en-US" sz="1400" dirty="0"/>
          </a:p>
          <a:p>
            <a:pPr marL="342900" indent="-342900">
              <a:lnSpc>
                <a:spcPct val="115000"/>
              </a:lnSpc>
              <a:spcAft>
                <a:spcPts val="1200"/>
              </a:spcAft>
              <a:buSzPct val="100000"/>
              <a:buChar char="●"/>
            </a:pPr>
            <a:r>
              <a:rPr lang="en-US" sz="1400" dirty="0">
                <a:solidFill>
                  <a:srgbClr val="1B2733"/>
                </a:solidFill>
              </a:rPr>
              <a:t>Handle invalid input safely with try-except</a:t>
            </a:r>
            <a:endParaRPr lang="en-US" sz="1400" dirty="0"/>
          </a:p>
          <a:p>
            <a:pPr marL="342900" indent="-342900">
              <a:lnSpc>
                <a:spcPct val="115000"/>
              </a:lnSpc>
              <a:spcAft>
                <a:spcPts val="1200"/>
              </a:spcAft>
              <a:buSzPct val="100000"/>
              <a:buChar char="●"/>
            </a:pPr>
            <a:r>
              <a:rPr lang="en-US" sz="1400" dirty="0">
                <a:solidFill>
                  <a:srgbClr val="1B2733"/>
                </a:solidFill>
              </a:rPr>
              <a:t>Use functions for add, search, borrow &amp; return actions</a:t>
            </a:r>
            <a:endParaRPr lang="en-US" sz="1400" dirty="0"/>
          </a:p>
        </p:txBody>
      </p:sp>
      <p:sp>
        <p:nvSpPr>
          <p:cNvPr id="8" name="Shape 5"/>
          <p:cNvSpPr/>
          <p:nvPr/>
        </p:nvSpPr>
        <p:spPr>
          <a:xfrm>
            <a:off x="6355080" y="1463040"/>
            <a:ext cx="384048" cy="384048"/>
          </a:xfrm>
          <a:prstGeom prst="ellipse">
            <a:avLst/>
          </a:prstGeom>
          <a:solidFill>
            <a:srgbClr val="1E5A96"/>
          </a:solidFill>
          <a:ln/>
        </p:spPr>
      </p:sp>
      <p:pic>
        <p:nvPicPr>
          <p:cNvPr id="9" name="Image 1" descr="preencoded.png"/>
          <p:cNvPicPr>
            <a:picLocks noChangeAspect="1"/>
          </p:cNvPicPr>
          <p:nvPr/>
        </p:nvPicPr>
        <p:blipFill>
          <a:blip r:embed="rId4"/>
          <a:stretch>
            <a:fillRect/>
          </a:stretch>
        </p:blipFill>
        <p:spPr>
          <a:xfrm>
            <a:off x="6437376" y="1545336"/>
            <a:ext cx="219456" cy="219456"/>
          </a:xfrm>
          <a:prstGeom prst="rect">
            <a:avLst/>
          </a:prstGeom>
        </p:spPr>
      </p:pic>
      <p:sp>
        <p:nvSpPr>
          <p:cNvPr id="10" name="Text 6"/>
          <p:cNvSpPr/>
          <p:nvPr/>
        </p:nvSpPr>
        <p:spPr>
          <a:xfrm>
            <a:off x="6867144" y="1435608"/>
            <a:ext cx="4709160" cy="457200"/>
          </a:xfrm>
          <a:prstGeom prst="rect">
            <a:avLst/>
          </a:prstGeom>
          <a:noFill/>
          <a:ln/>
        </p:spPr>
        <p:txBody>
          <a:bodyPr wrap="square" lIns="0" tIns="0" rIns="0" bIns="0" rtlCol="0" anchor="ctr"/>
          <a:lstStyle/>
          <a:p>
            <a:pPr marL="0" indent="0">
              <a:buNone/>
            </a:pPr>
            <a:r>
              <a:rPr lang="en-US" sz="1500" b="1" dirty="0">
                <a:solidFill>
                  <a:srgbClr val="1B2733"/>
                </a:solidFill>
              </a:rPr>
              <a:t>Concepts Combined</a:t>
            </a:r>
            <a:endParaRPr lang="en-US" sz="1500" dirty="0"/>
          </a:p>
        </p:txBody>
      </p:sp>
      <p:sp>
        <p:nvSpPr>
          <p:cNvPr id="11" name="Shape 7"/>
          <p:cNvSpPr/>
          <p:nvPr/>
        </p:nvSpPr>
        <p:spPr>
          <a:xfrm>
            <a:off x="6355080" y="2057400"/>
            <a:ext cx="5257800" cy="594360"/>
          </a:xfrm>
          <a:prstGeom prst="roundRect">
            <a:avLst>
              <a:gd name="adj" fmla="val 12308"/>
            </a:avLst>
          </a:prstGeom>
          <a:solidFill>
            <a:srgbClr val="EEF4FA"/>
          </a:solidFill>
          <a:ln/>
        </p:spPr>
      </p:sp>
      <p:sp>
        <p:nvSpPr>
          <p:cNvPr id="12" name="Text 8"/>
          <p:cNvSpPr/>
          <p:nvPr/>
        </p:nvSpPr>
        <p:spPr>
          <a:xfrm>
            <a:off x="6583680" y="2057400"/>
            <a:ext cx="4846320" cy="594360"/>
          </a:xfrm>
          <a:prstGeom prst="rect">
            <a:avLst/>
          </a:prstGeom>
          <a:noFill/>
          <a:ln/>
        </p:spPr>
        <p:txBody>
          <a:bodyPr wrap="square" lIns="0" tIns="0" rIns="0" bIns="0" rtlCol="0" anchor="ctr"/>
          <a:lstStyle/>
          <a:p>
            <a:pPr marL="0" indent="0">
              <a:buNone/>
            </a:pPr>
            <a:r>
              <a:rPr lang="en-US" sz="1350" b="1" dirty="0">
                <a:solidFill>
                  <a:srgbClr val="1B2733"/>
                </a:solidFill>
              </a:rPr>
              <a:t>Module 6: Collections</a:t>
            </a:r>
            <a:endParaRPr lang="en-US" sz="1350" dirty="0"/>
          </a:p>
        </p:txBody>
      </p:sp>
      <p:sp>
        <p:nvSpPr>
          <p:cNvPr id="13" name="Shape 9"/>
          <p:cNvSpPr/>
          <p:nvPr/>
        </p:nvSpPr>
        <p:spPr>
          <a:xfrm>
            <a:off x="6355080" y="2788920"/>
            <a:ext cx="5257800" cy="594360"/>
          </a:xfrm>
          <a:prstGeom prst="roundRect">
            <a:avLst>
              <a:gd name="adj" fmla="val 12308"/>
            </a:avLst>
          </a:prstGeom>
          <a:solidFill>
            <a:srgbClr val="EEF4FA"/>
          </a:solidFill>
          <a:ln/>
        </p:spPr>
      </p:sp>
      <p:sp>
        <p:nvSpPr>
          <p:cNvPr id="14" name="Text 10"/>
          <p:cNvSpPr/>
          <p:nvPr/>
        </p:nvSpPr>
        <p:spPr>
          <a:xfrm>
            <a:off x="6583680" y="2788920"/>
            <a:ext cx="4846320" cy="594360"/>
          </a:xfrm>
          <a:prstGeom prst="rect">
            <a:avLst/>
          </a:prstGeom>
          <a:noFill/>
          <a:ln/>
        </p:spPr>
        <p:txBody>
          <a:bodyPr wrap="square" lIns="0" tIns="0" rIns="0" bIns="0" rtlCol="0" anchor="ctr"/>
          <a:lstStyle/>
          <a:p>
            <a:pPr marL="0" indent="0">
              <a:buNone/>
            </a:pPr>
            <a:r>
              <a:rPr lang="en-US" sz="1350" b="1" dirty="0">
                <a:solidFill>
                  <a:srgbClr val="1B2733"/>
                </a:solidFill>
              </a:rPr>
              <a:t>Module 7: Functions</a:t>
            </a:r>
            <a:endParaRPr lang="en-US" sz="1350" dirty="0"/>
          </a:p>
        </p:txBody>
      </p:sp>
      <p:sp>
        <p:nvSpPr>
          <p:cNvPr id="15" name="Shape 11"/>
          <p:cNvSpPr/>
          <p:nvPr/>
        </p:nvSpPr>
        <p:spPr>
          <a:xfrm>
            <a:off x="6355080" y="3520440"/>
            <a:ext cx="5257800" cy="594360"/>
          </a:xfrm>
          <a:prstGeom prst="roundRect">
            <a:avLst>
              <a:gd name="adj" fmla="val 12308"/>
            </a:avLst>
          </a:prstGeom>
          <a:solidFill>
            <a:srgbClr val="EEF4FA"/>
          </a:solidFill>
          <a:ln/>
        </p:spPr>
      </p:sp>
      <p:sp>
        <p:nvSpPr>
          <p:cNvPr id="16" name="Text 12"/>
          <p:cNvSpPr/>
          <p:nvPr/>
        </p:nvSpPr>
        <p:spPr>
          <a:xfrm>
            <a:off x="6583680" y="3520440"/>
            <a:ext cx="4846320" cy="594360"/>
          </a:xfrm>
          <a:prstGeom prst="rect">
            <a:avLst/>
          </a:prstGeom>
          <a:noFill/>
          <a:ln/>
        </p:spPr>
        <p:txBody>
          <a:bodyPr wrap="square" lIns="0" tIns="0" rIns="0" bIns="0" rtlCol="0" anchor="ctr"/>
          <a:lstStyle/>
          <a:p>
            <a:pPr marL="0" indent="0">
              <a:buNone/>
            </a:pPr>
            <a:r>
              <a:rPr lang="en-US" sz="1350" b="1" dirty="0">
                <a:solidFill>
                  <a:srgbClr val="1B2733"/>
                </a:solidFill>
              </a:rPr>
              <a:t>Module 8: Files &amp; Exceptions</a:t>
            </a:r>
            <a:endParaRPr lang="en-US" sz="1350" dirty="0"/>
          </a:p>
        </p:txBody>
      </p:sp>
      <p:sp>
        <p:nvSpPr>
          <p:cNvPr id="17" name="Shape 13"/>
          <p:cNvSpPr/>
          <p:nvPr/>
        </p:nvSpPr>
        <p:spPr>
          <a:xfrm>
            <a:off x="6355080" y="4251960"/>
            <a:ext cx="5257800" cy="594360"/>
          </a:xfrm>
          <a:prstGeom prst="roundRect">
            <a:avLst>
              <a:gd name="adj" fmla="val 12308"/>
            </a:avLst>
          </a:prstGeom>
          <a:solidFill>
            <a:srgbClr val="EEF4FA"/>
          </a:solidFill>
          <a:ln/>
        </p:spPr>
      </p:sp>
      <p:sp>
        <p:nvSpPr>
          <p:cNvPr id="18" name="Text 14"/>
          <p:cNvSpPr/>
          <p:nvPr/>
        </p:nvSpPr>
        <p:spPr>
          <a:xfrm>
            <a:off x="6583680" y="4251960"/>
            <a:ext cx="4846320" cy="594360"/>
          </a:xfrm>
          <a:prstGeom prst="rect">
            <a:avLst/>
          </a:prstGeom>
          <a:noFill/>
          <a:ln/>
        </p:spPr>
        <p:txBody>
          <a:bodyPr wrap="square" lIns="0" tIns="0" rIns="0" bIns="0" rtlCol="0" anchor="ctr"/>
          <a:lstStyle/>
          <a:p>
            <a:pPr marL="0" indent="0">
              <a:buNone/>
            </a:pPr>
            <a:r>
              <a:rPr lang="en-US" sz="1350" b="1" dirty="0">
                <a:solidFill>
                  <a:srgbClr val="1B2733"/>
                </a:solidFill>
              </a:rPr>
              <a:t>Module 9: OOP (Classes &amp; Inheritance)</a:t>
            </a:r>
            <a:endParaRPr lang="en-US" sz="1350" dirty="0"/>
          </a:p>
        </p:txBody>
      </p:sp>
      <p:sp>
        <p:nvSpPr>
          <p:cNvPr id="19" name="Text 15"/>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67</a:t>
            </a:r>
            <a:endParaRPr lang="en-US" sz="1000" dirty="0"/>
          </a:p>
        </p:txBody>
      </p:sp>
      <p:sp>
        <p:nvSpPr>
          <p:cNvPr id="20" name="Text 16"/>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ASSESSMENT</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Sample Assessment Questions</a:t>
            </a:r>
            <a:endParaRPr lang="en-US" sz="2700" dirty="0"/>
          </a:p>
        </p:txBody>
      </p:sp>
      <p:sp>
        <p:nvSpPr>
          <p:cNvPr id="4" name="Text 2"/>
          <p:cNvSpPr/>
          <p:nvPr/>
        </p:nvSpPr>
        <p:spPr>
          <a:xfrm>
            <a:off x="548640" y="1554480"/>
            <a:ext cx="10972800" cy="4297680"/>
          </a:xfrm>
          <a:prstGeom prst="rect">
            <a:avLst/>
          </a:prstGeom>
          <a:noFill/>
          <a:ln/>
        </p:spPr>
        <p:txBody>
          <a:bodyPr wrap="square" lIns="0" tIns="0" rIns="0" bIns="0" rtlCol="0" anchor="t"/>
          <a:lstStyle/>
          <a:p>
            <a:pPr marL="342900" indent="-342900">
              <a:lnSpc>
                <a:spcPct val="115000"/>
              </a:lnSpc>
              <a:spcAft>
                <a:spcPts val="1600"/>
              </a:spcAft>
              <a:buSzPct val="100000"/>
              <a:buChar char="●"/>
            </a:pPr>
            <a:r>
              <a:rPr lang="en-US" sz="1500" dirty="0">
                <a:solidFill>
                  <a:srgbClr val="1B2733"/>
                </a:solidFill>
              </a:rPr>
              <a:t>Write a program to check if a number is prime.</a:t>
            </a:r>
            <a:endParaRPr lang="en-US" sz="1500" dirty="0"/>
          </a:p>
          <a:p>
            <a:pPr marL="342900" indent="-342900">
              <a:lnSpc>
                <a:spcPct val="115000"/>
              </a:lnSpc>
              <a:spcAft>
                <a:spcPts val="1600"/>
              </a:spcAft>
              <a:buSzPct val="100000"/>
              <a:buChar char="●"/>
            </a:pPr>
            <a:r>
              <a:rPr lang="en-US" sz="1500" dirty="0">
                <a:solidFill>
                  <a:srgbClr val="1B2733"/>
                </a:solidFill>
              </a:rPr>
              <a:t>Explain the difference between a list and a tuple with an example.</a:t>
            </a:r>
            <a:endParaRPr lang="en-US" sz="1500" dirty="0"/>
          </a:p>
          <a:p>
            <a:pPr marL="342900" indent="-342900">
              <a:lnSpc>
                <a:spcPct val="115000"/>
              </a:lnSpc>
              <a:spcAft>
                <a:spcPts val="1600"/>
              </a:spcAft>
              <a:buSzPct val="100000"/>
              <a:buChar char="●"/>
            </a:pPr>
            <a:r>
              <a:rPr lang="en-US" sz="1500" dirty="0">
                <a:solidFill>
                  <a:srgbClr val="1B2733"/>
                </a:solidFill>
              </a:rPr>
              <a:t>What will this code print? Trace through a for-loop with a break statement.</a:t>
            </a:r>
            <a:endParaRPr lang="en-US" sz="1500" dirty="0"/>
          </a:p>
          <a:p>
            <a:pPr marL="342900" indent="-342900">
              <a:lnSpc>
                <a:spcPct val="115000"/>
              </a:lnSpc>
              <a:spcAft>
                <a:spcPts val="1600"/>
              </a:spcAft>
              <a:buSzPct val="100000"/>
              <a:buChar char="●"/>
            </a:pPr>
            <a:r>
              <a:rPr lang="en-US" sz="1500" dirty="0">
                <a:solidFill>
                  <a:srgbClr val="1B2733"/>
                </a:solidFill>
              </a:rPr>
              <a:t>Write a function that returns the factorial of a number using recursion or a loop.</a:t>
            </a:r>
            <a:endParaRPr lang="en-US" sz="1500" dirty="0"/>
          </a:p>
          <a:p>
            <a:pPr marL="342900" indent="-342900">
              <a:lnSpc>
                <a:spcPct val="115000"/>
              </a:lnSpc>
              <a:spcAft>
                <a:spcPts val="1600"/>
              </a:spcAft>
              <a:buSzPct val="100000"/>
              <a:buChar char="●"/>
            </a:pPr>
            <a:r>
              <a:rPr lang="en-US" sz="1500" dirty="0">
                <a:solidFill>
                  <a:srgbClr val="1B2733"/>
                </a:solidFill>
              </a:rPr>
              <a:t>Create a class Employee with attributes name and salary, and a method to give a raise.</a:t>
            </a:r>
            <a:endParaRPr lang="en-US" sz="1500" dirty="0"/>
          </a:p>
          <a:p>
            <a:pPr marL="342900" indent="-342900">
              <a:lnSpc>
                <a:spcPct val="115000"/>
              </a:lnSpc>
              <a:spcAft>
                <a:spcPts val="1600"/>
              </a:spcAft>
              <a:buSzPct val="100000"/>
              <a:buChar char="●"/>
            </a:pPr>
            <a:r>
              <a:rPr lang="en-US" sz="1500" dirty="0">
                <a:solidFill>
                  <a:srgbClr val="1B2733"/>
                </a:solidFill>
              </a:rPr>
              <a:t>How would you safely read a file that might not exist?</a:t>
            </a:r>
            <a:endParaRPr lang="en-US" sz="1500" dirty="0"/>
          </a:p>
        </p:txBody>
      </p:sp>
      <p:sp>
        <p:nvSpPr>
          <p:cNvPr id="5" name="Text 3"/>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68</a:t>
            </a:r>
            <a:endParaRPr lang="en-US" sz="1000" dirty="0"/>
          </a:p>
        </p:txBody>
      </p:sp>
      <p:sp>
        <p:nvSpPr>
          <p:cNvPr id="6" name="Text 4"/>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CAREERS</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Career Opportunities in Python</a:t>
            </a:r>
            <a:endParaRPr lang="en-US" sz="2700" dirty="0"/>
          </a:p>
        </p:txBody>
      </p:sp>
      <p:sp>
        <p:nvSpPr>
          <p:cNvPr id="4" name="Shape 2"/>
          <p:cNvSpPr/>
          <p:nvPr/>
        </p:nvSpPr>
        <p:spPr>
          <a:xfrm>
            <a:off x="548640" y="1600200"/>
            <a:ext cx="3611880" cy="1737360"/>
          </a:xfrm>
          <a:prstGeom prst="roundRect">
            <a:avLst>
              <a:gd name="adj" fmla="val 5263"/>
            </a:avLst>
          </a:prstGeom>
          <a:solidFill>
            <a:srgbClr val="EEF4FA"/>
          </a:solidFill>
          <a:ln/>
        </p:spPr>
      </p:sp>
      <p:pic>
        <p:nvPicPr>
          <p:cNvPr id="5" name="Image 0" descr="preencoded.png"/>
          <p:cNvPicPr>
            <a:picLocks noChangeAspect="1"/>
          </p:cNvPicPr>
          <p:nvPr/>
        </p:nvPicPr>
        <p:blipFill>
          <a:blip r:embed="rId3"/>
          <a:stretch>
            <a:fillRect/>
          </a:stretch>
        </p:blipFill>
        <p:spPr>
          <a:xfrm>
            <a:off x="731520" y="1783080"/>
            <a:ext cx="365760" cy="365760"/>
          </a:xfrm>
          <a:prstGeom prst="rect">
            <a:avLst/>
          </a:prstGeom>
        </p:spPr>
      </p:pic>
      <p:sp>
        <p:nvSpPr>
          <p:cNvPr id="6" name="Text 3"/>
          <p:cNvSpPr/>
          <p:nvPr/>
        </p:nvSpPr>
        <p:spPr>
          <a:xfrm>
            <a:off x="1234440" y="1746504"/>
            <a:ext cx="2743200" cy="457200"/>
          </a:xfrm>
          <a:prstGeom prst="rect">
            <a:avLst/>
          </a:prstGeom>
          <a:noFill/>
          <a:ln/>
        </p:spPr>
        <p:txBody>
          <a:bodyPr wrap="square" lIns="0" tIns="0" rIns="0" bIns="0" rtlCol="0" anchor="ctr"/>
          <a:lstStyle/>
          <a:p>
            <a:pPr marL="0" indent="0">
              <a:buNone/>
            </a:pPr>
            <a:r>
              <a:rPr lang="en-US" sz="1350" b="1" dirty="0">
                <a:solidFill>
                  <a:srgbClr val="1B2733"/>
                </a:solidFill>
              </a:rPr>
              <a:t>Python Developer</a:t>
            </a:r>
            <a:endParaRPr lang="en-US" sz="1350" dirty="0"/>
          </a:p>
        </p:txBody>
      </p:sp>
      <p:sp>
        <p:nvSpPr>
          <p:cNvPr id="7" name="Text 4"/>
          <p:cNvSpPr/>
          <p:nvPr/>
        </p:nvSpPr>
        <p:spPr>
          <a:xfrm>
            <a:off x="777240" y="2286000"/>
            <a:ext cx="3154680" cy="914400"/>
          </a:xfrm>
          <a:prstGeom prst="rect">
            <a:avLst/>
          </a:prstGeom>
          <a:noFill/>
          <a:ln/>
        </p:spPr>
        <p:txBody>
          <a:bodyPr wrap="square" lIns="0" tIns="0" rIns="0" bIns="0" rtlCol="0" anchor="ctr"/>
          <a:lstStyle/>
          <a:p>
            <a:pPr marL="0" indent="0">
              <a:buNone/>
            </a:pPr>
            <a:r>
              <a:rPr lang="en-US" sz="1150" dirty="0">
                <a:solidFill>
                  <a:srgbClr val="5C6B7A"/>
                </a:solidFill>
              </a:rPr>
              <a:t>Backend systems, APIs &amp; automation scripts</a:t>
            </a:r>
            <a:endParaRPr lang="en-US" sz="1150" dirty="0"/>
          </a:p>
        </p:txBody>
      </p:sp>
      <p:sp>
        <p:nvSpPr>
          <p:cNvPr id="8" name="Shape 5"/>
          <p:cNvSpPr/>
          <p:nvPr/>
        </p:nvSpPr>
        <p:spPr>
          <a:xfrm>
            <a:off x="4297680" y="1600200"/>
            <a:ext cx="3611880" cy="1737360"/>
          </a:xfrm>
          <a:prstGeom prst="roundRect">
            <a:avLst>
              <a:gd name="adj" fmla="val 5263"/>
            </a:avLst>
          </a:prstGeom>
          <a:solidFill>
            <a:srgbClr val="EEF4FA"/>
          </a:solidFill>
          <a:ln/>
        </p:spPr>
      </p:sp>
      <p:pic>
        <p:nvPicPr>
          <p:cNvPr id="9" name="Image 1" descr="preencoded.png"/>
          <p:cNvPicPr>
            <a:picLocks noChangeAspect="1"/>
          </p:cNvPicPr>
          <p:nvPr/>
        </p:nvPicPr>
        <p:blipFill>
          <a:blip r:embed="rId3"/>
          <a:stretch>
            <a:fillRect/>
          </a:stretch>
        </p:blipFill>
        <p:spPr>
          <a:xfrm>
            <a:off x="4480560" y="1783080"/>
            <a:ext cx="365760" cy="365760"/>
          </a:xfrm>
          <a:prstGeom prst="rect">
            <a:avLst/>
          </a:prstGeom>
        </p:spPr>
      </p:pic>
      <p:sp>
        <p:nvSpPr>
          <p:cNvPr id="10" name="Text 6"/>
          <p:cNvSpPr/>
          <p:nvPr/>
        </p:nvSpPr>
        <p:spPr>
          <a:xfrm>
            <a:off x="4983480" y="1746504"/>
            <a:ext cx="2743200" cy="457200"/>
          </a:xfrm>
          <a:prstGeom prst="rect">
            <a:avLst/>
          </a:prstGeom>
          <a:noFill/>
          <a:ln/>
        </p:spPr>
        <p:txBody>
          <a:bodyPr wrap="square" lIns="0" tIns="0" rIns="0" bIns="0" rtlCol="0" anchor="ctr"/>
          <a:lstStyle/>
          <a:p>
            <a:pPr marL="0" indent="0">
              <a:buNone/>
            </a:pPr>
            <a:r>
              <a:rPr lang="en-US" sz="1350" b="1" dirty="0">
                <a:solidFill>
                  <a:srgbClr val="1B2733"/>
                </a:solidFill>
              </a:rPr>
              <a:t>Data Analyst</a:t>
            </a:r>
            <a:endParaRPr lang="en-US" sz="1350" dirty="0"/>
          </a:p>
        </p:txBody>
      </p:sp>
      <p:sp>
        <p:nvSpPr>
          <p:cNvPr id="11" name="Text 7"/>
          <p:cNvSpPr/>
          <p:nvPr/>
        </p:nvSpPr>
        <p:spPr>
          <a:xfrm>
            <a:off x="4526280" y="2286000"/>
            <a:ext cx="3154680" cy="914400"/>
          </a:xfrm>
          <a:prstGeom prst="rect">
            <a:avLst/>
          </a:prstGeom>
          <a:noFill/>
          <a:ln/>
        </p:spPr>
        <p:txBody>
          <a:bodyPr wrap="square" lIns="0" tIns="0" rIns="0" bIns="0" rtlCol="0" anchor="ctr"/>
          <a:lstStyle/>
          <a:p>
            <a:pPr marL="0" indent="0">
              <a:buNone/>
            </a:pPr>
            <a:r>
              <a:rPr lang="en-US" sz="1150" dirty="0">
                <a:solidFill>
                  <a:srgbClr val="5C6B7A"/>
                </a:solidFill>
              </a:rPr>
              <a:t>Cleaning &amp; analysing data with Pandas/NumPy</a:t>
            </a:r>
            <a:endParaRPr lang="en-US" sz="1150" dirty="0"/>
          </a:p>
        </p:txBody>
      </p:sp>
      <p:sp>
        <p:nvSpPr>
          <p:cNvPr id="12" name="Shape 8"/>
          <p:cNvSpPr/>
          <p:nvPr/>
        </p:nvSpPr>
        <p:spPr>
          <a:xfrm>
            <a:off x="8046720" y="1600200"/>
            <a:ext cx="3611880" cy="1737360"/>
          </a:xfrm>
          <a:prstGeom prst="roundRect">
            <a:avLst>
              <a:gd name="adj" fmla="val 5263"/>
            </a:avLst>
          </a:prstGeom>
          <a:solidFill>
            <a:srgbClr val="EEF4FA"/>
          </a:solidFill>
          <a:ln/>
        </p:spPr>
      </p:sp>
      <p:pic>
        <p:nvPicPr>
          <p:cNvPr id="13" name="Image 2" descr="preencoded.png"/>
          <p:cNvPicPr>
            <a:picLocks noChangeAspect="1"/>
          </p:cNvPicPr>
          <p:nvPr/>
        </p:nvPicPr>
        <p:blipFill>
          <a:blip r:embed="rId3"/>
          <a:stretch>
            <a:fillRect/>
          </a:stretch>
        </p:blipFill>
        <p:spPr>
          <a:xfrm>
            <a:off x="8229600" y="1783080"/>
            <a:ext cx="365760" cy="365760"/>
          </a:xfrm>
          <a:prstGeom prst="rect">
            <a:avLst/>
          </a:prstGeom>
        </p:spPr>
      </p:pic>
      <p:sp>
        <p:nvSpPr>
          <p:cNvPr id="14" name="Text 9"/>
          <p:cNvSpPr/>
          <p:nvPr/>
        </p:nvSpPr>
        <p:spPr>
          <a:xfrm>
            <a:off x="8732520" y="1746504"/>
            <a:ext cx="2743200" cy="457200"/>
          </a:xfrm>
          <a:prstGeom prst="rect">
            <a:avLst/>
          </a:prstGeom>
          <a:noFill/>
          <a:ln/>
        </p:spPr>
        <p:txBody>
          <a:bodyPr wrap="square" lIns="0" tIns="0" rIns="0" bIns="0" rtlCol="0" anchor="ctr"/>
          <a:lstStyle/>
          <a:p>
            <a:pPr marL="0" indent="0">
              <a:buNone/>
            </a:pPr>
            <a:r>
              <a:rPr lang="en-US" sz="1350" b="1" dirty="0">
                <a:solidFill>
                  <a:srgbClr val="1B2733"/>
                </a:solidFill>
              </a:rPr>
              <a:t>Machine Learning Engineer</a:t>
            </a:r>
            <a:endParaRPr lang="en-US" sz="1350" dirty="0"/>
          </a:p>
        </p:txBody>
      </p:sp>
      <p:sp>
        <p:nvSpPr>
          <p:cNvPr id="15" name="Text 10"/>
          <p:cNvSpPr/>
          <p:nvPr/>
        </p:nvSpPr>
        <p:spPr>
          <a:xfrm>
            <a:off x="8275320" y="2286000"/>
            <a:ext cx="3154680" cy="914400"/>
          </a:xfrm>
          <a:prstGeom prst="rect">
            <a:avLst/>
          </a:prstGeom>
          <a:noFill/>
          <a:ln/>
        </p:spPr>
        <p:txBody>
          <a:bodyPr wrap="square" lIns="0" tIns="0" rIns="0" bIns="0" rtlCol="0" anchor="ctr"/>
          <a:lstStyle/>
          <a:p>
            <a:pPr marL="0" indent="0">
              <a:buNone/>
            </a:pPr>
            <a:r>
              <a:rPr lang="en-US" sz="1150" dirty="0">
                <a:solidFill>
                  <a:srgbClr val="5C6B7A"/>
                </a:solidFill>
              </a:rPr>
              <a:t>Building AI models with TensorFlow/PyTorch</a:t>
            </a:r>
            <a:endParaRPr lang="en-US" sz="1150" dirty="0"/>
          </a:p>
        </p:txBody>
      </p:sp>
      <p:sp>
        <p:nvSpPr>
          <p:cNvPr id="16" name="Shape 11"/>
          <p:cNvSpPr/>
          <p:nvPr/>
        </p:nvSpPr>
        <p:spPr>
          <a:xfrm>
            <a:off x="548640" y="3520440"/>
            <a:ext cx="3611880" cy="1737360"/>
          </a:xfrm>
          <a:prstGeom prst="roundRect">
            <a:avLst>
              <a:gd name="adj" fmla="val 5263"/>
            </a:avLst>
          </a:prstGeom>
          <a:solidFill>
            <a:srgbClr val="EEF4FA"/>
          </a:solidFill>
          <a:ln/>
        </p:spPr>
      </p:sp>
      <p:pic>
        <p:nvPicPr>
          <p:cNvPr id="17" name="Image 3" descr="preencoded.png"/>
          <p:cNvPicPr>
            <a:picLocks noChangeAspect="1"/>
          </p:cNvPicPr>
          <p:nvPr/>
        </p:nvPicPr>
        <p:blipFill>
          <a:blip r:embed="rId3"/>
          <a:stretch>
            <a:fillRect/>
          </a:stretch>
        </p:blipFill>
        <p:spPr>
          <a:xfrm>
            <a:off x="731520" y="3703320"/>
            <a:ext cx="365760" cy="365760"/>
          </a:xfrm>
          <a:prstGeom prst="rect">
            <a:avLst/>
          </a:prstGeom>
        </p:spPr>
      </p:pic>
      <p:sp>
        <p:nvSpPr>
          <p:cNvPr id="18" name="Text 12"/>
          <p:cNvSpPr/>
          <p:nvPr/>
        </p:nvSpPr>
        <p:spPr>
          <a:xfrm>
            <a:off x="1234440" y="3666744"/>
            <a:ext cx="2743200" cy="457200"/>
          </a:xfrm>
          <a:prstGeom prst="rect">
            <a:avLst/>
          </a:prstGeom>
          <a:noFill/>
          <a:ln/>
        </p:spPr>
        <p:txBody>
          <a:bodyPr wrap="square" lIns="0" tIns="0" rIns="0" bIns="0" rtlCol="0" anchor="ctr"/>
          <a:lstStyle/>
          <a:p>
            <a:pPr marL="0" indent="0">
              <a:buNone/>
            </a:pPr>
            <a:r>
              <a:rPr lang="en-US" sz="1350" b="1" dirty="0">
                <a:solidFill>
                  <a:srgbClr val="1B2733"/>
                </a:solidFill>
              </a:rPr>
              <a:t>Automation / QA Engineer</a:t>
            </a:r>
            <a:endParaRPr lang="en-US" sz="1350" dirty="0"/>
          </a:p>
        </p:txBody>
      </p:sp>
      <p:sp>
        <p:nvSpPr>
          <p:cNvPr id="19" name="Text 13"/>
          <p:cNvSpPr/>
          <p:nvPr/>
        </p:nvSpPr>
        <p:spPr>
          <a:xfrm>
            <a:off x="777240" y="4206240"/>
            <a:ext cx="3154680" cy="914400"/>
          </a:xfrm>
          <a:prstGeom prst="rect">
            <a:avLst/>
          </a:prstGeom>
          <a:noFill/>
          <a:ln/>
        </p:spPr>
        <p:txBody>
          <a:bodyPr wrap="square" lIns="0" tIns="0" rIns="0" bIns="0" rtlCol="0" anchor="ctr"/>
          <a:lstStyle/>
          <a:p>
            <a:pPr marL="0" indent="0">
              <a:buNone/>
            </a:pPr>
            <a:r>
              <a:rPr lang="en-US" sz="1150" dirty="0">
                <a:solidFill>
                  <a:srgbClr val="5C6B7A"/>
                </a:solidFill>
              </a:rPr>
              <a:t>Scripting tests and workflow automation</a:t>
            </a:r>
            <a:endParaRPr lang="en-US" sz="1150" dirty="0"/>
          </a:p>
        </p:txBody>
      </p:sp>
      <p:sp>
        <p:nvSpPr>
          <p:cNvPr id="20" name="Shape 14"/>
          <p:cNvSpPr/>
          <p:nvPr/>
        </p:nvSpPr>
        <p:spPr>
          <a:xfrm>
            <a:off x="4297680" y="3520440"/>
            <a:ext cx="3611880" cy="1737360"/>
          </a:xfrm>
          <a:prstGeom prst="roundRect">
            <a:avLst>
              <a:gd name="adj" fmla="val 5263"/>
            </a:avLst>
          </a:prstGeom>
          <a:solidFill>
            <a:srgbClr val="EEF4FA"/>
          </a:solidFill>
          <a:ln/>
        </p:spPr>
      </p:sp>
      <p:pic>
        <p:nvPicPr>
          <p:cNvPr id="21" name="Image 4" descr="preencoded.png"/>
          <p:cNvPicPr>
            <a:picLocks noChangeAspect="1"/>
          </p:cNvPicPr>
          <p:nvPr/>
        </p:nvPicPr>
        <p:blipFill>
          <a:blip r:embed="rId3"/>
          <a:stretch>
            <a:fillRect/>
          </a:stretch>
        </p:blipFill>
        <p:spPr>
          <a:xfrm>
            <a:off x="4480560" y="3703320"/>
            <a:ext cx="365760" cy="365760"/>
          </a:xfrm>
          <a:prstGeom prst="rect">
            <a:avLst/>
          </a:prstGeom>
        </p:spPr>
      </p:pic>
      <p:sp>
        <p:nvSpPr>
          <p:cNvPr id="22" name="Text 15"/>
          <p:cNvSpPr/>
          <p:nvPr/>
        </p:nvSpPr>
        <p:spPr>
          <a:xfrm>
            <a:off x="4983480" y="3666744"/>
            <a:ext cx="2743200" cy="457200"/>
          </a:xfrm>
          <a:prstGeom prst="rect">
            <a:avLst/>
          </a:prstGeom>
          <a:noFill/>
          <a:ln/>
        </p:spPr>
        <p:txBody>
          <a:bodyPr wrap="square" lIns="0" tIns="0" rIns="0" bIns="0" rtlCol="0" anchor="ctr"/>
          <a:lstStyle/>
          <a:p>
            <a:pPr marL="0" indent="0">
              <a:buNone/>
            </a:pPr>
            <a:r>
              <a:rPr lang="en-US" sz="1350" b="1" dirty="0">
                <a:solidFill>
                  <a:srgbClr val="1B2733"/>
                </a:solidFill>
              </a:rPr>
              <a:t>Backend / Full-Stack Developer</a:t>
            </a:r>
            <a:endParaRPr lang="en-US" sz="1350" dirty="0"/>
          </a:p>
        </p:txBody>
      </p:sp>
      <p:sp>
        <p:nvSpPr>
          <p:cNvPr id="23" name="Text 16"/>
          <p:cNvSpPr/>
          <p:nvPr/>
        </p:nvSpPr>
        <p:spPr>
          <a:xfrm>
            <a:off x="4526280" y="4206240"/>
            <a:ext cx="3154680" cy="914400"/>
          </a:xfrm>
          <a:prstGeom prst="rect">
            <a:avLst/>
          </a:prstGeom>
          <a:noFill/>
          <a:ln/>
        </p:spPr>
        <p:txBody>
          <a:bodyPr wrap="square" lIns="0" tIns="0" rIns="0" bIns="0" rtlCol="0" anchor="ctr"/>
          <a:lstStyle/>
          <a:p>
            <a:pPr marL="0" indent="0">
              <a:buNone/>
            </a:pPr>
            <a:r>
              <a:rPr lang="en-US" sz="1150" dirty="0">
                <a:solidFill>
                  <a:srgbClr val="5C6B7A"/>
                </a:solidFill>
              </a:rPr>
              <a:t>Django/Flask-powered web applications</a:t>
            </a:r>
            <a:endParaRPr lang="en-US" sz="1150" dirty="0"/>
          </a:p>
        </p:txBody>
      </p:sp>
      <p:sp>
        <p:nvSpPr>
          <p:cNvPr id="24" name="Shape 17"/>
          <p:cNvSpPr/>
          <p:nvPr/>
        </p:nvSpPr>
        <p:spPr>
          <a:xfrm>
            <a:off x="8046720" y="3520440"/>
            <a:ext cx="3611880" cy="1737360"/>
          </a:xfrm>
          <a:prstGeom prst="roundRect">
            <a:avLst>
              <a:gd name="adj" fmla="val 5263"/>
            </a:avLst>
          </a:prstGeom>
          <a:solidFill>
            <a:srgbClr val="EEF4FA"/>
          </a:solidFill>
          <a:ln/>
        </p:spPr>
      </p:sp>
      <p:pic>
        <p:nvPicPr>
          <p:cNvPr id="25" name="Image 5" descr="preencoded.png"/>
          <p:cNvPicPr>
            <a:picLocks noChangeAspect="1"/>
          </p:cNvPicPr>
          <p:nvPr/>
        </p:nvPicPr>
        <p:blipFill>
          <a:blip r:embed="rId3"/>
          <a:stretch>
            <a:fillRect/>
          </a:stretch>
        </p:blipFill>
        <p:spPr>
          <a:xfrm>
            <a:off x="8229600" y="3703320"/>
            <a:ext cx="365760" cy="365760"/>
          </a:xfrm>
          <a:prstGeom prst="rect">
            <a:avLst/>
          </a:prstGeom>
        </p:spPr>
      </p:pic>
      <p:sp>
        <p:nvSpPr>
          <p:cNvPr id="26" name="Text 18"/>
          <p:cNvSpPr/>
          <p:nvPr/>
        </p:nvSpPr>
        <p:spPr>
          <a:xfrm>
            <a:off x="8732520" y="3666744"/>
            <a:ext cx="2743200" cy="457200"/>
          </a:xfrm>
          <a:prstGeom prst="rect">
            <a:avLst/>
          </a:prstGeom>
          <a:noFill/>
          <a:ln/>
        </p:spPr>
        <p:txBody>
          <a:bodyPr wrap="square" lIns="0" tIns="0" rIns="0" bIns="0" rtlCol="0" anchor="ctr"/>
          <a:lstStyle/>
          <a:p>
            <a:pPr marL="0" indent="0">
              <a:buNone/>
            </a:pPr>
            <a:r>
              <a:rPr lang="en-US" sz="1350" b="1" dirty="0">
                <a:solidFill>
                  <a:srgbClr val="1B2733"/>
                </a:solidFill>
              </a:rPr>
              <a:t>DevOps / Cybersecurity Roles</a:t>
            </a:r>
            <a:endParaRPr lang="en-US" sz="1350" dirty="0"/>
          </a:p>
        </p:txBody>
      </p:sp>
      <p:sp>
        <p:nvSpPr>
          <p:cNvPr id="27" name="Text 19"/>
          <p:cNvSpPr/>
          <p:nvPr/>
        </p:nvSpPr>
        <p:spPr>
          <a:xfrm>
            <a:off x="8275320" y="4206240"/>
            <a:ext cx="3154680" cy="914400"/>
          </a:xfrm>
          <a:prstGeom prst="rect">
            <a:avLst/>
          </a:prstGeom>
          <a:noFill/>
          <a:ln/>
        </p:spPr>
        <p:txBody>
          <a:bodyPr wrap="square" lIns="0" tIns="0" rIns="0" bIns="0" rtlCol="0" anchor="ctr"/>
          <a:lstStyle/>
          <a:p>
            <a:pPr marL="0" indent="0">
              <a:buNone/>
            </a:pPr>
            <a:r>
              <a:rPr lang="en-US" sz="1150" dirty="0">
                <a:solidFill>
                  <a:srgbClr val="5C6B7A"/>
                </a:solidFill>
              </a:rPr>
              <a:t>Infrastructure scripting &amp; security tooling</a:t>
            </a:r>
            <a:endParaRPr lang="en-US" sz="1150" dirty="0"/>
          </a:p>
        </p:txBody>
      </p:sp>
      <p:sp>
        <p:nvSpPr>
          <p:cNvPr id="28" name="Text 20"/>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69</a:t>
            </a:r>
            <a:endParaRPr lang="en-US" sz="1000" dirty="0"/>
          </a:p>
        </p:txBody>
      </p:sp>
      <p:sp>
        <p:nvSpPr>
          <p:cNvPr id="29" name="Text 21"/>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ROADMAP</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Python Developer Roadmap 2026</a:t>
            </a:r>
            <a:endParaRPr lang="en-US" sz="2700" dirty="0"/>
          </a:p>
        </p:txBody>
      </p:sp>
      <p:sp>
        <p:nvSpPr>
          <p:cNvPr id="4" name="Shape 2"/>
          <p:cNvSpPr/>
          <p:nvPr/>
        </p:nvSpPr>
        <p:spPr>
          <a:xfrm>
            <a:off x="388620" y="2743200"/>
            <a:ext cx="1783080" cy="1371600"/>
          </a:xfrm>
          <a:prstGeom prst="roundRect">
            <a:avLst>
              <a:gd name="adj" fmla="val 6000"/>
            </a:avLst>
          </a:prstGeom>
          <a:solidFill>
            <a:srgbClr val="1E5A96"/>
          </a:solidFill>
          <a:ln/>
        </p:spPr>
      </p:sp>
      <p:sp>
        <p:nvSpPr>
          <p:cNvPr id="5" name="Text 3"/>
          <p:cNvSpPr/>
          <p:nvPr/>
        </p:nvSpPr>
        <p:spPr>
          <a:xfrm>
            <a:off x="498348" y="2816352"/>
            <a:ext cx="457200" cy="365760"/>
          </a:xfrm>
          <a:prstGeom prst="rect">
            <a:avLst/>
          </a:prstGeom>
          <a:noFill/>
          <a:ln/>
        </p:spPr>
        <p:txBody>
          <a:bodyPr wrap="square" lIns="0" tIns="0" rIns="0" bIns="0" rtlCol="0" anchor="ctr"/>
          <a:lstStyle/>
          <a:p>
            <a:pPr marL="0" indent="0">
              <a:buNone/>
            </a:pPr>
            <a:r>
              <a:rPr lang="en-US" sz="1500" b="1" dirty="0">
                <a:solidFill>
                  <a:srgbClr val="F2A93B"/>
                </a:solidFill>
              </a:rPr>
              <a:t>1</a:t>
            </a:r>
            <a:endParaRPr lang="en-US" sz="1500" dirty="0"/>
          </a:p>
        </p:txBody>
      </p:sp>
      <p:sp>
        <p:nvSpPr>
          <p:cNvPr id="6" name="Text 4"/>
          <p:cNvSpPr/>
          <p:nvPr/>
        </p:nvSpPr>
        <p:spPr>
          <a:xfrm>
            <a:off x="498348" y="3200400"/>
            <a:ext cx="1563624" cy="868680"/>
          </a:xfrm>
          <a:prstGeom prst="rect">
            <a:avLst/>
          </a:prstGeom>
          <a:noFill/>
          <a:ln/>
        </p:spPr>
        <p:txBody>
          <a:bodyPr wrap="square" lIns="0" tIns="0" rIns="0" bIns="0" rtlCol="0" anchor="ctr"/>
          <a:lstStyle/>
          <a:p>
            <a:pPr marL="0" indent="0">
              <a:buNone/>
            </a:pPr>
            <a:r>
              <a:rPr lang="en-US" sz="1100" b="1" dirty="0">
                <a:solidFill>
                  <a:srgbClr val="FFFFFF"/>
                </a:solidFill>
              </a:rPr>
              <a:t>Foundations</a:t>
            </a:r>
            <a:endParaRPr lang="en-US" sz="1100" dirty="0"/>
          </a:p>
          <a:p>
            <a:pPr marL="0" indent="0">
              <a:buNone/>
            </a:pPr>
            <a:r>
              <a:rPr lang="en-US" sz="1100" b="1" dirty="0">
                <a:solidFill>
                  <a:srgbClr val="FFFFFF"/>
                </a:solidFill>
              </a:rPr>
              <a:t>(Syntax, Data Types)</a:t>
            </a:r>
            <a:endParaRPr lang="en-US" sz="1100" dirty="0"/>
          </a:p>
        </p:txBody>
      </p:sp>
      <p:sp>
        <p:nvSpPr>
          <p:cNvPr id="7" name="Shape 5"/>
          <p:cNvSpPr/>
          <p:nvPr/>
        </p:nvSpPr>
        <p:spPr>
          <a:xfrm>
            <a:off x="2189988" y="3429000"/>
            <a:ext cx="100584" cy="0"/>
          </a:xfrm>
          <a:prstGeom prst="line">
            <a:avLst/>
          </a:prstGeom>
          <a:noFill/>
          <a:ln w="25400">
            <a:solidFill>
              <a:srgbClr val="5C6B7A"/>
            </a:solidFill>
            <a:prstDash val="solid"/>
            <a:tailEnd type="triangle"/>
          </a:ln>
        </p:spPr>
      </p:sp>
      <p:sp>
        <p:nvSpPr>
          <p:cNvPr id="8" name="Shape 6"/>
          <p:cNvSpPr/>
          <p:nvPr/>
        </p:nvSpPr>
        <p:spPr>
          <a:xfrm>
            <a:off x="2308860" y="2743200"/>
            <a:ext cx="1783080" cy="1371600"/>
          </a:xfrm>
          <a:prstGeom prst="roundRect">
            <a:avLst>
              <a:gd name="adj" fmla="val 6000"/>
            </a:avLst>
          </a:prstGeom>
          <a:solidFill>
            <a:srgbClr val="132A46"/>
          </a:solidFill>
          <a:ln/>
        </p:spPr>
      </p:sp>
      <p:sp>
        <p:nvSpPr>
          <p:cNvPr id="9" name="Text 7"/>
          <p:cNvSpPr/>
          <p:nvPr/>
        </p:nvSpPr>
        <p:spPr>
          <a:xfrm>
            <a:off x="2418588" y="2816352"/>
            <a:ext cx="457200" cy="365760"/>
          </a:xfrm>
          <a:prstGeom prst="rect">
            <a:avLst/>
          </a:prstGeom>
          <a:noFill/>
          <a:ln/>
        </p:spPr>
        <p:txBody>
          <a:bodyPr wrap="square" lIns="0" tIns="0" rIns="0" bIns="0" rtlCol="0" anchor="ctr"/>
          <a:lstStyle/>
          <a:p>
            <a:pPr marL="0" indent="0">
              <a:buNone/>
            </a:pPr>
            <a:r>
              <a:rPr lang="en-US" sz="1500" b="1" dirty="0">
                <a:solidFill>
                  <a:srgbClr val="F2A93B"/>
                </a:solidFill>
              </a:rPr>
              <a:t>2</a:t>
            </a:r>
            <a:endParaRPr lang="en-US" sz="1500" dirty="0"/>
          </a:p>
        </p:txBody>
      </p:sp>
      <p:sp>
        <p:nvSpPr>
          <p:cNvPr id="10" name="Text 8"/>
          <p:cNvSpPr/>
          <p:nvPr/>
        </p:nvSpPr>
        <p:spPr>
          <a:xfrm>
            <a:off x="2418588" y="3200400"/>
            <a:ext cx="1563624" cy="868680"/>
          </a:xfrm>
          <a:prstGeom prst="rect">
            <a:avLst/>
          </a:prstGeom>
          <a:noFill/>
          <a:ln/>
        </p:spPr>
        <p:txBody>
          <a:bodyPr wrap="square" lIns="0" tIns="0" rIns="0" bIns="0" rtlCol="0" anchor="ctr"/>
          <a:lstStyle/>
          <a:p>
            <a:pPr marL="0" indent="0">
              <a:buNone/>
            </a:pPr>
            <a:r>
              <a:rPr lang="en-US" sz="1100" b="1" dirty="0">
                <a:solidFill>
                  <a:srgbClr val="FFFFFF"/>
                </a:solidFill>
              </a:rPr>
              <a:t>Core Programming</a:t>
            </a:r>
            <a:endParaRPr lang="en-US" sz="1100" dirty="0"/>
          </a:p>
          <a:p>
            <a:pPr marL="0" indent="0">
              <a:buNone/>
            </a:pPr>
            <a:r>
              <a:rPr lang="en-US" sz="1100" b="1" dirty="0">
                <a:solidFill>
                  <a:srgbClr val="FFFFFF"/>
                </a:solidFill>
              </a:rPr>
              <a:t>(Loops, Functions, OOP)</a:t>
            </a:r>
            <a:endParaRPr lang="en-US" sz="1100" dirty="0"/>
          </a:p>
        </p:txBody>
      </p:sp>
      <p:sp>
        <p:nvSpPr>
          <p:cNvPr id="11" name="Shape 9"/>
          <p:cNvSpPr/>
          <p:nvPr/>
        </p:nvSpPr>
        <p:spPr>
          <a:xfrm>
            <a:off x="4110228" y="3429000"/>
            <a:ext cx="100584" cy="0"/>
          </a:xfrm>
          <a:prstGeom prst="line">
            <a:avLst/>
          </a:prstGeom>
          <a:noFill/>
          <a:ln w="25400">
            <a:solidFill>
              <a:srgbClr val="5C6B7A"/>
            </a:solidFill>
            <a:prstDash val="solid"/>
            <a:tailEnd type="triangle"/>
          </a:ln>
        </p:spPr>
      </p:sp>
      <p:sp>
        <p:nvSpPr>
          <p:cNvPr id="12" name="Shape 10"/>
          <p:cNvSpPr/>
          <p:nvPr/>
        </p:nvSpPr>
        <p:spPr>
          <a:xfrm>
            <a:off x="4229100" y="2743200"/>
            <a:ext cx="1783080" cy="1371600"/>
          </a:xfrm>
          <a:prstGeom prst="roundRect">
            <a:avLst>
              <a:gd name="adj" fmla="val 6000"/>
            </a:avLst>
          </a:prstGeom>
          <a:solidFill>
            <a:srgbClr val="1E5A96"/>
          </a:solidFill>
          <a:ln/>
        </p:spPr>
      </p:sp>
      <p:sp>
        <p:nvSpPr>
          <p:cNvPr id="13" name="Text 11"/>
          <p:cNvSpPr/>
          <p:nvPr/>
        </p:nvSpPr>
        <p:spPr>
          <a:xfrm>
            <a:off x="4338828" y="2816352"/>
            <a:ext cx="457200" cy="365760"/>
          </a:xfrm>
          <a:prstGeom prst="rect">
            <a:avLst/>
          </a:prstGeom>
          <a:noFill/>
          <a:ln/>
        </p:spPr>
        <p:txBody>
          <a:bodyPr wrap="square" lIns="0" tIns="0" rIns="0" bIns="0" rtlCol="0" anchor="ctr"/>
          <a:lstStyle/>
          <a:p>
            <a:pPr marL="0" indent="0">
              <a:buNone/>
            </a:pPr>
            <a:r>
              <a:rPr lang="en-US" sz="1500" b="1" dirty="0">
                <a:solidFill>
                  <a:srgbClr val="F2A93B"/>
                </a:solidFill>
              </a:rPr>
              <a:t>3</a:t>
            </a:r>
            <a:endParaRPr lang="en-US" sz="1500" dirty="0"/>
          </a:p>
        </p:txBody>
      </p:sp>
      <p:sp>
        <p:nvSpPr>
          <p:cNvPr id="14" name="Text 12"/>
          <p:cNvSpPr/>
          <p:nvPr/>
        </p:nvSpPr>
        <p:spPr>
          <a:xfrm>
            <a:off x="4338828" y="3200400"/>
            <a:ext cx="1563624" cy="868680"/>
          </a:xfrm>
          <a:prstGeom prst="rect">
            <a:avLst/>
          </a:prstGeom>
          <a:noFill/>
          <a:ln/>
        </p:spPr>
        <p:txBody>
          <a:bodyPr wrap="square" lIns="0" tIns="0" rIns="0" bIns="0" rtlCol="0" anchor="ctr"/>
          <a:lstStyle/>
          <a:p>
            <a:pPr marL="0" indent="0">
              <a:buNone/>
            </a:pPr>
            <a:r>
              <a:rPr lang="en-US" sz="1100" b="1" dirty="0">
                <a:solidFill>
                  <a:srgbClr val="FFFFFF"/>
                </a:solidFill>
              </a:rPr>
              <a:t>Data &amp; Tools</a:t>
            </a:r>
            <a:endParaRPr lang="en-US" sz="1100" dirty="0"/>
          </a:p>
          <a:p>
            <a:pPr marL="0" indent="0">
              <a:buNone/>
            </a:pPr>
            <a:r>
              <a:rPr lang="en-US" sz="1100" b="1" dirty="0">
                <a:solidFill>
                  <a:srgbClr val="FFFFFF"/>
                </a:solidFill>
              </a:rPr>
              <a:t>(Files, APIs, Git)</a:t>
            </a:r>
            <a:endParaRPr lang="en-US" sz="1100" dirty="0"/>
          </a:p>
        </p:txBody>
      </p:sp>
      <p:sp>
        <p:nvSpPr>
          <p:cNvPr id="15" name="Shape 13"/>
          <p:cNvSpPr/>
          <p:nvPr/>
        </p:nvSpPr>
        <p:spPr>
          <a:xfrm>
            <a:off x="6030468" y="3429000"/>
            <a:ext cx="100584" cy="0"/>
          </a:xfrm>
          <a:prstGeom prst="line">
            <a:avLst/>
          </a:prstGeom>
          <a:noFill/>
          <a:ln w="25400">
            <a:solidFill>
              <a:srgbClr val="5C6B7A"/>
            </a:solidFill>
            <a:prstDash val="solid"/>
            <a:tailEnd type="triangle"/>
          </a:ln>
        </p:spPr>
      </p:sp>
      <p:sp>
        <p:nvSpPr>
          <p:cNvPr id="16" name="Shape 14"/>
          <p:cNvSpPr/>
          <p:nvPr/>
        </p:nvSpPr>
        <p:spPr>
          <a:xfrm>
            <a:off x="6149340" y="2743200"/>
            <a:ext cx="1783080" cy="1371600"/>
          </a:xfrm>
          <a:prstGeom prst="roundRect">
            <a:avLst>
              <a:gd name="adj" fmla="val 6000"/>
            </a:avLst>
          </a:prstGeom>
          <a:solidFill>
            <a:srgbClr val="132A46"/>
          </a:solidFill>
          <a:ln/>
        </p:spPr>
      </p:sp>
      <p:sp>
        <p:nvSpPr>
          <p:cNvPr id="17" name="Text 15"/>
          <p:cNvSpPr/>
          <p:nvPr/>
        </p:nvSpPr>
        <p:spPr>
          <a:xfrm>
            <a:off x="6259068" y="2816352"/>
            <a:ext cx="457200" cy="365760"/>
          </a:xfrm>
          <a:prstGeom prst="rect">
            <a:avLst/>
          </a:prstGeom>
          <a:noFill/>
          <a:ln/>
        </p:spPr>
        <p:txBody>
          <a:bodyPr wrap="square" lIns="0" tIns="0" rIns="0" bIns="0" rtlCol="0" anchor="ctr"/>
          <a:lstStyle/>
          <a:p>
            <a:pPr marL="0" indent="0">
              <a:buNone/>
            </a:pPr>
            <a:r>
              <a:rPr lang="en-US" sz="1500" b="1" dirty="0">
                <a:solidFill>
                  <a:srgbClr val="F2A93B"/>
                </a:solidFill>
              </a:rPr>
              <a:t>4</a:t>
            </a:r>
            <a:endParaRPr lang="en-US" sz="1500" dirty="0"/>
          </a:p>
        </p:txBody>
      </p:sp>
      <p:sp>
        <p:nvSpPr>
          <p:cNvPr id="18" name="Text 16"/>
          <p:cNvSpPr/>
          <p:nvPr/>
        </p:nvSpPr>
        <p:spPr>
          <a:xfrm>
            <a:off x="6259068" y="3200400"/>
            <a:ext cx="1563624" cy="868680"/>
          </a:xfrm>
          <a:prstGeom prst="rect">
            <a:avLst/>
          </a:prstGeom>
          <a:noFill/>
          <a:ln/>
        </p:spPr>
        <p:txBody>
          <a:bodyPr wrap="square" lIns="0" tIns="0" rIns="0" bIns="0" rtlCol="0" anchor="ctr"/>
          <a:lstStyle/>
          <a:p>
            <a:pPr marL="0" indent="0">
              <a:buNone/>
            </a:pPr>
            <a:r>
              <a:rPr lang="en-US" sz="1100" b="1" dirty="0">
                <a:solidFill>
                  <a:srgbClr val="FFFFFF"/>
                </a:solidFill>
              </a:rPr>
              <a:t>Specialisation</a:t>
            </a:r>
            <a:endParaRPr lang="en-US" sz="1100" dirty="0"/>
          </a:p>
          <a:p>
            <a:pPr marL="0" indent="0">
              <a:buNone/>
            </a:pPr>
            <a:r>
              <a:rPr lang="en-US" sz="1100" b="1" dirty="0">
                <a:solidFill>
                  <a:srgbClr val="FFFFFF"/>
                </a:solidFill>
              </a:rPr>
              <a:t>(Web / Data / AI)</a:t>
            </a:r>
            <a:endParaRPr lang="en-US" sz="1100" dirty="0"/>
          </a:p>
        </p:txBody>
      </p:sp>
      <p:sp>
        <p:nvSpPr>
          <p:cNvPr id="19" name="Shape 17"/>
          <p:cNvSpPr/>
          <p:nvPr/>
        </p:nvSpPr>
        <p:spPr>
          <a:xfrm>
            <a:off x="7950708" y="3429000"/>
            <a:ext cx="100584" cy="0"/>
          </a:xfrm>
          <a:prstGeom prst="line">
            <a:avLst/>
          </a:prstGeom>
          <a:noFill/>
          <a:ln w="25400">
            <a:solidFill>
              <a:srgbClr val="5C6B7A"/>
            </a:solidFill>
            <a:prstDash val="solid"/>
            <a:tailEnd type="triangle"/>
          </a:ln>
        </p:spPr>
      </p:sp>
      <p:sp>
        <p:nvSpPr>
          <p:cNvPr id="20" name="Shape 18"/>
          <p:cNvSpPr/>
          <p:nvPr/>
        </p:nvSpPr>
        <p:spPr>
          <a:xfrm>
            <a:off x="8069580" y="2743200"/>
            <a:ext cx="1783080" cy="1371600"/>
          </a:xfrm>
          <a:prstGeom prst="roundRect">
            <a:avLst>
              <a:gd name="adj" fmla="val 6000"/>
            </a:avLst>
          </a:prstGeom>
          <a:solidFill>
            <a:srgbClr val="1E5A96"/>
          </a:solidFill>
          <a:ln/>
        </p:spPr>
      </p:sp>
      <p:sp>
        <p:nvSpPr>
          <p:cNvPr id="21" name="Text 19"/>
          <p:cNvSpPr/>
          <p:nvPr/>
        </p:nvSpPr>
        <p:spPr>
          <a:xfrm>
            <a:off x="8179308" y="2816352"/>
            <a:ext cx="457200" cy="365760"/>
          </a:xfrm>
          <a:prstGeom prst="rect">
            <a:avLst/>
          </a:prstGeom>
          <a:noFill/>
          <a:ln/>
        </p:spPr>
        <p:txBody>
          <a:bodyPr wrap="square" lIns="0" tIns="0" rIns="0" bIns="0" rtlCol="0" anchor="ctr"/>
          <a:lstStyle/>
          <a:p>
            <a:pPr marL="0" indent="0">
              <a:buNone/>
            </a:pPr>
            <a:r>
              <a:rPr lang="en-US" sz="1500" b="1" dirty="0">
                <a:solidFill>
                  <a:srgbClr val="F2A93B"/>
                </a:solidFill>
              </a:rPr>
              <a:t>5</a:t>
            </a:r>
            <a:endParaRPr lang="en-US" sz="1500" dirty="0"/>
          </a:p>
        </p:txBody>
      </p:sp>
      <p:sp>
        <p:nvSpPr>
          <p:cNvPr id="22" name="Text 20"/>
          <p:cNvSpPr/>
          <p:nvPr/>
        </p:nvSpPr>
        <p:spPr>
          <a:xfrm>
            <a:off x="8179308" y="3200400"/>
            <a:ext cx="1563624" cy="868680"/>
          </a:xfrm>
          <a:prstGeom prst="rect">
            <a:avLst/>
          </a:prstGeom>
          <a:noFill/>
          <a:ln/>
        </p:spPr>
        <p:txBody>
          <a:bodyPr wrap="square" lIns="0" tIns="0" rIns="0" bIns="0" rtlCol="0" anchor="ctr"/>
          <a:lstStyle/>
          <a:p>
            <a:pPr marL="0" indent="0">
              <a:buNone/>
            </a:pPr>
            <a:r>
              <a:rPr lang="en-US" sz="1100" b="1" dirty="0">
                <a:solidFill>
                  <a:srgbClr val="FFFFFF"/>
                </a:solidFill>
              </a:rPr>
              <a:t>Deployment &amp; Cloud</a:t>
            </a:r>
            <a:endParaRPr lang="en-US" sz="1100" dirty="0"/>
          </a:p>
          <a:p>
            <a:pPr marL="0" indent="0">
              <a:buNone/>
            </a:pPr>
            <a:r>
              <a:rPr lang="en-US" sz="1100" b="1" dirty="0">
                <a:solidFill>
                  <a:srgbClr val="FFFFFF"/>
                </a:solidFill>
              </a:rPr>
              <a:t>(Docker, CI/CD)</a:t>
            </a:r>
            <a:endParaRPr lang="en-US" sz="1100" dirty="0"/>
          </a:p>
        </p:txBody>
      </p:sp>
      <p:sp>
        <p:nvSpPr>
          <p:cNvPr id="23" name="Shape 21"/>
          <p:cNvSpPr/>
          <p:nvPr/>
        </p:nvSpPr>
        <p:spPr>
          <a:xfrm>
            <a:off x="9870948" y="3429000"/>
            <a:ext cx="100584" cy="0"/>
          </a:xfrm>
          <a:prstGeom prst="line">
            <a:avLst/>
          </a:prstGeom>
          <a:noFill/>
          <a:ln w="25400">
            <a:solidFill>
              <a:srgbClr val="5C6B7A"/>
            </a:solidFill>
            <a:prstDash val="solid"/>
            <a:tailEnd type="triangle"/>
          </a:ln>
        </p:spPr>
      </p:sp>
      <p:sp>
        <p:nvSpPr>
          <p:cNvPr id="24" name="Shape 22"/>
          <p:cNvSpPr/>
          <p:nvPr/>
        </p:nvSpPr>
        <p:spPr>
          <a:xfrm>
            <a:off x="9989820" y="2743200"/>
            <a:ext cx="1783080" cy="1371600"/>
          </a:xfrm>
          <a:prstGeom prst="roundRect">
            <a:avLst>
              <a:gd name="adj" fmla="val 6000"/>
            </a:avLst>
          </a:prstGeom>
          <a:solidFill>
            <a:srgbClr val="132A46"/>
          </a:solidFill>
          <a:ln/>
        </p:spPr>
      </p:sp>
      <p:sp>
        <p:nvSpPr>
          <p:cNvPr id="25" name="Text 23"/>
          <p:cNvSpPr/>
          <p:nvPr/>
        </p:nvSpPr>
        <p:spPr>
          <a:xfrm>
            <a:off x="10099548" y="2816352"/>
            <a:ext cx="457200" cy="365760"/>
          </a:xfrm>
          <a:prstGeom prst="rect">
            <a:avLst/>
          </a:prstGeom>
          <a:noFill/>
          <a:ln/>
        </p:spPr>
        <p:txBody>
          <a:bodyPr wrap="square" lIns="0" tIns="0" rIns="0" bIns="0" rtlCol="0" anchor="ctr"/>
          <a:lstStyle/>
          <a:p>
            <a:pPr marL="0" indent="0">
              <a:buNone/>
            </a:pPr>
            <a:r>
              <a:rPr lang="en-US" sz="1500" b="1" dirty="0">
                <a:solidFill>
                  <a:srgbClr val="F2A93B"/>
                </a:solidFill>
              </a:rPr>
              <a:t>6</a:t>
            </a:r>
            <a:endParaRPr lang="en-US" sz="1500" dirty="0"/>
          </a:p>
        </p:txBody>
      </p:sp>
      <p:sp>
        <p:nvSpPr>
          <p:cNvPr id="26" name="Text 24"/>
          <p:cNvSpPr/>
          <p:nvPr/>
        </p:nvSpPr>
        <p:spPr>
          <a:xfrm>
            <a:off x="10099548" y="3200400"/>
            <a:ext cx="1563624" cy="868680"/>
          </a:xfrm>
          <a:prstGeom prst="rect">
            <a:avLst/>
          </a:prstGeom>
          <a:noFill/>
          <a:ln/>
        </p:spPr>
        <p:txBody>
          <a:bodyPr wrap="square" lIns="0" tIns="0" rIns="0" bIns="0" rtlCol="0" anchor="ctr"/>
          <a:lstStyle/>
          <a:p>
            <a:pPr marL="0" indent="0">
              <a:buNone/>
            </a:pPr>
            <a:r>
              <a:rPr lang="en-US" sz="1100" b="1" dirty="0">
                <a:solidFill>
                  <a:srgbClr val="FFFFFF"/>
                </a:solidFill>
              </a:rPr>
              <a:t>Continuous Learning</a:t>
            </a:r>
            <a:endParaRPr lang="en-US" sz="1100" dirty="0"/>
          </a:p>
          <a:p>
            <a:pPr marL="0" indent="0">
              <a:buNone/>
            </a:pPr>
            <a:r>
              <a:rPr lang="en-US" sz="1100" b="1" dirty="0">
                <a:solidFill>
                  <a:srgbClr val="FFFFFF"/>
                </a:solidFill>
              </a:rPr>
              <a:t>(Open Source, Certs)</a:t>
            </a:r>
            <a:endParaRPr lang="en-US" sz="1100" dirty="0"/>
          </a:p>
        </p:txBody>
      </p:sp>
      <p:sp>
        <p:nvSpPr>
          <p:cNvPr id="27" name="Text 25"/>
          <p:cNvSpPr/>
          <p:nvPr/>
        </p:nvSpPr>
        <p:spPr>
          <a:xfrm>
            <a:off x="548640" y="4572000"/>
            <a:ext cx="11064240" cy="457200"/>
          </a:xfrm>
          <a:prstGeom prst="rect">
            <a:avLst/>
          </a:prstGeom>
          <a:noFill/>
          <a:ln/>
        </p:spPr>
        <p:txBody>
          <a:bodyPr wrap="square" lIns="0" tIns="0" rIns="0" bIns="0" rtlCol="0" anchor="ctr"/>
          <a:lstStyle/>
          <a:p>
            <a:pPr marL="0" indent="0" algn="ctr">
              <a:buNone/>
            </a:pPr>
            <a:r>
              <a:rPr lang="en-US" sz="1250" i="1" dirty="0">
                <a:solidFill>
                  <a:srgbClr val="5C6B7A"/>
                </a:solidFill>
              </a:rPr>
              <a:t>A suggested growth path beyond this course — from core fundamentals to a specialised, deployable skill set.</a:t>
            </a:r>
            <a:endParaRPr lang="en-US" sz="1250" dirty="0"/>
          </a:p>
        </p:txBody>
      </p:sp>
      <p:sp>
        <p:nvSpPr>
          <p:cNvPr id="28" name="Text 26"/>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70</a:t>
            </a:r>
            <a:endParaRPr lang="en-US" sz="1000" dirty="0"/>
          </a:p>
        </p:txBody>
      </p:sp>
      <p:sp>
        <p:nvSpPr>
          <p:cNvPr id="29" name="Text 27"/>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292608"/>
          </a:xfrm>
          <a:prstGeom prst="rect">
            <a:avLst/>
          </a:prstGeom>
          <a:noFill/>
          <a:ln/>
        </p:spPr>
        <p:txBody>
          <a:bodyPr wrap="square" lIns="0" tIns="0" rIns="0" bIns="0" rtlCol="0" anchor="ctr"/>
          <a:lstStyle/>
          <a:p>
            <a:pPr marL="0" indent="0">
              <a:buNone/>
            </a:pPr>
            <a:r>
              <a:rPr lang="en-US" sz="1250" b="1" kern="0" spc="200" dirty="0">
                <a:solidFill>
                  <a:srgbClr val="1E5A96"/>
                </a:solidFill>
              </a:rPr>
              <a:t>COURSE SUMMARY</a:t>
            </a:r>
            <a:endParaRPr lang="en-US" sz="1250" dirty="0"/>
          </a:p>
        </p:txBody>
      </p:sp>
      <p:sp>
        <p:nvSpPr>
          <p:cNvPr id="3" name="Text 1"/>
          <p:cNvSpPr/>
          <p:nvPr/>
        </p:nvSpPr>
        <p:spPr>
          <a:xfrm>
            <a:off x="548640" y="640080"/>
            <a:ext cx="10789920" cy="594360"/>
          </a:xfrm>
          <a:prstGeom prst="rect">
            <a:avLst/>
          </a:prstGeom>
          <a:noFill/>
          <a:ln/>
        </p:spPr>
        <p:txBody>
          <a:bodyPr wrap="square" lIns="0" tIns="0" rIns="0" bIns="0" rtlCol="0" anchor="ctr"/>
          <a:lstStyle/>
          <a:p>
            <a:pPr marL="0" indent="0">
              <a:buNone/>
            </a:pPr>
            <a:r>
              <a:rPr lang="en-US" sz="2700" b="1" dirty="0">
                <a:solidFill>
                  <a:srgbClr val="1B2733"/>
                </a:solidFill>
                <a:latin typeface="Cambria" pitchFamily="34" charset="0"/>
                <a:ea typeface="Cambria" pitchFamily="34" charset="-122"/>
                <a:cs typeface="Cambria" pitchFamily="34" charset="-120"/>
              </a:rPr>
              <a:t>What You've Learned</a:t>
            </a:r>
            <a:endParaRPr lang="en-US" sz="2700" dirty="0"/>
          </a:p>
        </p:txBody>
      </p:sp>
      <p:sp>
        <p:nvSpPr>
          <p:cNvPr id="4" name="Shape 2"/>
          <p:cNvSpPr/>
          <p:nvPr/>
        </p:nvSpPr>
        <p:spPr>
          <a:xfrm>
            <a:off x="548640" y="1554480"/>
            <a:ext cx="3611880" cy="1417320"/>
          </a:xfrm>
          <a:prstGeom prst="roundRect">
            <a:avLst>
              <a:gd name="adj" fmla="val 5161"/>
            </a:avLst>
          </a:prstGeom>
          <a:solidFill>
            <a:srgbClr val="EEF4FA"/>
          </a:solidFill>
          <a:ln/>
        </p:spPr>
      </p:sp>
      <p:sp>
        <p:nvSpPr>
          <p:cNvPr id="5" name="Shape 3"/>
          <p:cNvSpPr/>
          <p:nvPr/>
        </p:nvSpPr>
        <p:spPr>
          <a:xfrm>
            <a:off x="685800" y="1691640"/>
            <a:ext cx="365760" cy="365760"/>
          </a:xfrm>
          <a:prstGeom prst="ellipse">
            <a:avLst/>
          </a:prstGeom>
          <a:solidFill>
            <a:srgbClr val="1E5A96"/>
          </a:solidFill>
          <a:ln/>
        </p:spPr>
      </p:sp>
      <p:sp>
        <p:nvSpPr>
          <p:cNvPr id="6" name="Text 4"/>
          <p:cNvSpPr/>
          <p:nvPr/>
        </p:nvSpPr>
        <p:spPr>
          <a:xfrm>
            <a:off x="685800" y="16916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1143000" y="1664208"/>
            <a:ext cx="2880360" cy="411480"/>
          </a:xfrm>
          <a:prstGeom prst="rect">
            <a:avLst/>
          </a:prstGeom>
          <a:noFill/>
          <a:ln/>
        </p:spPr>
        <p:txBody>
          <a:bodyPr wrap="square" lIns="0" tIns="0" rIns="0" bIns="0" rtlCol="0" anchor="ctr"/>
          <a:lstStyle/>
          <a:p>
            <a:pPr marL="0" indent="0">
              <a:buNone/>
            </a:pPr>
            <a:r>
              <a:rPr lang="en-US" sz="1200" b="1" dirty="0">
                <a:solidFill>
                  <a:srgbClr val="1B2733"/>
                </a:solidFill>
              </a:rPr>
              <a:t>Introduction to Python</a:t>
            </a:r>
            <a:endParaRPr lang="en-US" sz="1200" dirty="0"/>
          </a:p>
        </p:txBody>
      </p:sp>
      <p:sp>
        <p:nvSpPr>
          <p:cNvPr id="8" name="Text 6"/>
          <p:cNvSpPr/>
          <p:nvPr/>
        </p:nvSpPr>
        <p:spPr>
          <a:xfrm>
            <a:off x="731520" y="2121408"/>
            <a:ext cx="3246120" cy="758952"/>
          </a:xfrm>
          <a:prstGeom prst="rect">
            <a:avLst/>
          </a:prstGeom>
          <a:noFill/>
          <a:ln/>
        </p:spPr>
        <p:txBody>
          <a:bodyPr wrap="square" lIns="0" tIns="0" rIns="0" bIns="0" rtlCol="0" anchor="ctr"/>
          <a:lstStyle/>
          <a:p>
            <a:pPr marL="0" indent="0">
              <a:buNone/>
            </a:pPr>
            <a:r>
              <a:rPr lang="en-US" sz="1000" dirty="0">
                <a:solidFill>
                  <a:srgbClr val="5C6B7A"/>
                </a:solidFill>
              </a:rPr>
              <a:t>Students can install Python and execute programs independently.</a:t>
            </a:r>
            <a:endParaRPr lang="en-US" sz="1000" dirty="0"/>
          </a:p>
        </p:txBody>
      </p:sp>
      <p:sp>
        <p:nvSpPr>
          <p:cNvPr id="9" name="Shape 7"/>
          <p:cNvSpPr/>
          <p:nvPr/>
        </p:nvSpPr>
        <p:spPr>
          <a:xfrm>
            <a:off x="4297680" y="1554480"/>
            <a:ext cx="3611880" cy="1417320"/>
          </a:xfrm>
          <a:prstGeom prst="roundRect">
            <a:avLst>
              <a:gd name="adj" fmla="val 5161"/>
            </a:avLst>
          </a:prstGeom>
          <a:solidFill>
            <a:srgbClr val="EEF4FA"/>
          </a:solidFill>
          <a:ln/>
        </p:spPr>
      </p:sp>
      <p:sp>
        <p:nvSpPr>
          <p:cNvPr id="10" name="Shape 8"/>
          <p:cNvSpPr/>
          <p:nvPr/>
        </p:nvSpPr>
        <p:spPr>
          <a:xfrm>
            <a:off x="4434840" y="1691640"/>
            <a:ext cx="365760" cy="365760"/>
          </a:xfrm>
          <a:prstGeom prst="ellipse">
            <a:avLst/>
          </a:prstGeom>
          <a:solidFill>
            <a:srgbClr val="1E5A96"/>
          </a:solidFill>
          <a:ln/>
        </p:spPr>
      </p:sp>
      <p:sp>
        <p:nvSpPr>
          <p:cNvPr id="11" name="Text 9"/>
          <p:cNvSpPr/>
          <p:nvPr/>
        </p:nvSpPr>
        <p:spPr>
          <a:xfrm>
            <a:off x="4434840" y="16916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2" name="Text 10"/>
          <p:cNvSpPr/>
          <p:nvPr/>
        </p:nvSpPr>
        <p:spPr>
          <a:xfrm>
            <a:off x="4892040" y="1664208"/>
            <a:ext cx="2880360" cy="411480"/>
          </a:xfrm>
          <a:prstGeom prst="rect">
            <a:avLst/>
          </a:prstGeom>
          <a:noFill/>
          <a:ln/>
        </p:spPr>
        <p:txBody>
          <a:bodyPr wrap="square" lIns="0" tIns="0" rIns="0" bIns="0" rtlCol="0" anchor="ctr"/>
          <a:lstStyle/>
          <a:p>
            <a:pPr marL="0" indent="0">
              <a:buNone/>
            </a:pPr>
            <a:r>
              <a:rPr lang="en-US" sz="1200" b="1" dirty="0">
                <a:solidFill>
                  <a:srgbClr val="1B2733"/>
                </a:solidFill>
              </a:rPr>
              <a:t>Variables and Data Types</a:t>
            </a:r>
            <a:endParaRPr lang="en-US" sz="1200" dirty="0"/>
          </a:p>
        </p:txBody>
      </p:sp>
      <p:sp>
        <p:nvSpPr>
          <p:cNvPr id="13" name="Text 11"/>
          <p:cNvSpPr/>
          <p:nvPr/>
        </p:nvSpPr>
        <p:spPr>
          <a:xfrm>
            <a:off x="4480560" y="2121408"/>
            <a:ext cx="3246120" cy="758952"/>
          </a:xfrm>
          <a:prstGeom prst="rect">
            <a:avLst/>
          </a:prstGeom>
          <a:noFill/>
          <a:ln/>
        </p:spPr>
        <p:txBody>
          <a:bodyPr wrap="square" lIns="0" tIns="0" rIns="0" bIns="0" rtlCol="0" anchor="ctr"/>
          <a:lstStyle/>
          <a:p>
            <a:pPr marL="0" indent="0">
              <a:buNone/>
            </a:pPr>
            <a:r>
              <a:rPr lang="en-US" sz="1000" dirty="0">
                <a:solidFill>
                  <a:srgbClr val="5C6B7A"/>
                </a:solidFill>
              </a:rPr>
              <a:t>Students can store, process, and display data.</a:t>
            </a:r>
            <a:endParaRPr lang="en-US" sz="1000" dirty="0"/>
          </a:p>
        </p:txBody>
      </p:sp>
      <p:sp>
        <p:nvSpPr>
          <p:cNvPr id="14" name="Shape 12"/>
          <p:cNvSpPr/>
          <p:nvPr/>
        </p:nvSpPr>
        <p:spPr>
          <a:xfrm>
            <a:off x="8046720" y="1554480"/>
            <a:ext cx="3611880" cy="1417320"/>
          </a:xfrm>
          <a:prstGeom prst="roundRect">
            <a:avLst>
              <a:gd name="adj" fmla="val 5161"/>
            </a:avLst>
          </a:prstGeom>
          <a:solidFill>
            <a:srgbClr val="EEF4FA"/>
          </a:solidFill>
          <a:ln/>
        </p:spPr>
      </p:sp>
      <p:sp>
        <p:nvSpPr>
          <p:cNvPr id="15" name="Shape 13"/>
          <p:cNvSpPr/>
          <p:nvPr/>
        </p:nvSpPr>
        <p:spPr>
          <a:xfrm>
            <a:off x="8183880" y="1691640"/>
            <a:ext cx="365760" cy="365760"/>
          </a:xfrm>
          <a:prstGeom prst="ellipse">
            <a:avLst/>
          </a:prstGeom>
          <a:solidFill>
            <a:srgbClr val="1E5A96"/>
          </a:solidFill>
          <a:ln/>
        </p:spPr>
      </p:sp>
      <p:sp>
        <p:nvSpPr>
          <p:cNvPr id="16" name="Text 14"/>
          <p:cNvSpPr/>
          <p:nvPr/>
        </p:nvSpPr>
        <p:spPr>
          <a:xfrm>
            <a:off x="8183880" y="16916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7" name="Text 15"/>
          <p:cNvSpPr/>
          <p:nvPr/>
        </p:nvSpPr>
        <p:spPr>
          <a:xfrm>
            <a:off x="8641080" y="1664208"/>
            <a:ext cx="2880360" cy="411480"/>
          </a:xfrm>
          <a:prstGeom prst="rect">
            <a:avLst/>
          </a:prstGeom>
          <a:noFill/>
          <a:ln/>
        </p:spPr>
        <p:txBody>
          <a:bodyPr wrap="square" lIns="0" tIns="0" rIns="0" bIns="0" rtlCol="0" anchor="ctr"/>
          <a:lstStyle/>
          <a:p>
            <a:pPr marL="0" indent="0">
              <a:buNone/>
            </a:pPr>
            <a:r>
              <a:rPr lang="en-US" sz="1200" b="1" dirty="0">
                <a:solidFill>
                  <a:srgbClr val="1B2733"/>
                </a:solidFill>
              </a:rPr>
              <a:t>Conditions</a:t>
            </a:r>
            <a:endParaRPr lang="en-US" sz="1200" dirty="0"/>
          </a:p>
        </p:txBody>
      </p:sp>
      <p:sp>
        <p:nvSpPr>
          <p:cNvPr id="18" name="Text 16"/>
          <p:cNvSpPr/>
          <p:nvPr/>
        </p:nvSpPr>
        <p:spPr>
          <a:xfrm>
            <a:off x="8229600" y="2121408"/>
            <a:ext cx="3246120" cy="758952"/>
          </a:xfrm>
          <a:prstGeom prst="rect">
            <a:avLst/>
          </a:prstGeom>
          <a:noFill/>
          <a:ln/>
        </p:spPr>
        <p:txBody>
          <a:bodyPr wrap="square" lIns="0" tIns="0" rIns="0" bIns="0" rtlCol="0" anchor="ctr"/>
          <a:lstStyle/>
          <a:p>
            <a:pPr marL="0" indent="0">
              <a:buNone/>
            </a:pPr>
            <a:r>
              <a:rPr lang="en-US" sz="1000" dirty="0">
                <a:solidFill>
                  <a:srgbClr val="5C6B7A"/>
                </a:solidFill>
              </a:rPr>
              <a:t>Students can build decision-making applications.</a:t>
            </a:r>
            <a:endParaRPr lang="en-US" sz="1000" dirty="0"/>
          </a:p>
        </p:txBody>
      </p:sp>
      <p:sp>
        <p:nvSpPr>
          <p:cNvPr id="19" name="Shape 17"/>
          <p:cNvSpPr/>
          <p:nvPr/>
        </p:nvSpPr>
        <p:spPr>
          <a:xfrm>
            <a:off x="548640" y="3136392"/>
            <a:ext cx="3611880" cy="1417320"/>
          </a:xfrm>
          <a:prstGeom prst="roundRect">
            <a:avLst>
              <a:gd name="adj" fmla="val 5161"/>
            </a:avLst>
          </a:prstGeom>
          <a:solidFill>
            <a:srgbClr val="EEF4FA"/>
          </a:solidFill>
          <a:ln/>
        </p:spPr>
      </p:sp>
      <p:sp>
        <p:nvSpPr>
          <p:cNvPr id="20" name="Shape 18"/>
          <p:cNvSpPr/>
          <p:nvPr/>
        </p:nvSpPr>
        <p:spPr>
          <a:xfrm>
            <a:off x="685800" y="3273552"/>
            <a:ext cx="365760" cy="365760"/>
          </a:xfrm>
          <a:prstGeom prst="ellipse">
            <a:avLst/>
          </a:prstGeom>
          <a:solidFill>
            <a:srgbClr val="1E5A96"/>
          </a:solidFill>
          <a:ln/>
        </p:spPr>
      </p:sp>
      <p:sp>
        <p:nvSpPr>
          <p:cNvPr id="21" name="Text 19"/>
          <p:cNvSpPr/>
          <p:nvPr/>
        </p:nvSpPr>
        <p:spPr>
          <a:xfrm>
            <a:off x="685800" y="32735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2" name="Text 20"/>
          <p:cNvSpPr/>
          <p:nvPr/>
        </p:nvSpPr>
        <p:spPr>
          <a:xfrm>
            <a:off x="1143000" y="3246120"/>
            <a:ext cx="2880360" cy="411480"/>
          </a:xfrm>
          <a:prstGeom prst="rect">
            <a:avLst/>
          </a:prstGeom>
          <a:noFill/>
          <a:ln/>
        </p:spPr>
        <p:txBody>
          <a:bodyPr wrap="square" lIns="0" tIns="0" rIns="0" bIns="0" rtlCol="0" anchor="ctr"/>
          <a:lstStyle/>
          <a:p>
            <a:pPr marL="0" indent="0">
              <a:buNone/>
            </a:pPr>
            <a:r>
              <a:rPr lang="en-US" sz="1200" b="1" dirty="0">
                <a:solidFill>
                  <a:srgbClr val="1B2733"/>
                </a:solidFill>
              </a:rPr>
              <a:t>Loops</a:t>
            </a:r>
            <a:endParaRPr lang="en-US" sz="1200" dirty="0"/>
          </a:p>
        </p:txBody>
      </p:sp>
      <p:sp>
        <p:nvSpPr>
          <p:cNvPr id="23" name="Text 21"/>
          <p:cNvSpPr/>
          <p:nvPr/>
        </p:nvSpPr>
        <p:spPr>
          <a:xfrm>
            <a:off x="731520" y="3703320"/>
            <a:ext cx="3246120" cy="758952"/>
          </a:xfrm>
          <a:prstGeom prst="rect">
            <a:avLst/>
          </a:prstGeom>
          <a:noFill/>
          <a:ln/>
        </p:spPr>
        <p:txBody>
          <a:bodyPr wrap="square" lIns="0" tIns="0" rIns="0" bIns="0" rtlCol="0" anchor="ctr"/>
          <a:lstStyle/>
          <a:p>
            <a:pPr marL="0" indent="0">
              <a:buNone/>
            </a:pPr>
            <a:r>
              <a:rPr lang="en-US" sz="1000" dirty="0">
                <a:solidFill>
                  <a:srgbClr val="5C6B7A"/>
                </a:solidFill>
              </a:rPr>
              <a:t>Students can automate repetitive tasks.</a:t>
            </a:r>
            <a:endParaRPr lang="en-US" sz="1000" dirty="0"/>
          </a:p>
        </p:txBody>
      </p:sp>
      <p:sp>
        <p:nvSpPr>
          <p:cNvPr id="24" name="Shape 22"/>
          <p:cNvSpPr/>
          <p:nvPr/>
        </p:nvSpPr>
        <p:spPr>
          <a:xfrm>
            <a:off x="4297680" y="3136392"/>
            <a:ext cx="3611880" cy="1417320"/>
          </a:xfrm>
          <a:prstGeom prst="roundRect">
            <a:avLst>
              <a:gd name="adj" fmla="val 5161"/>
            </a:avLst>
          </a:prstGeom>
          <a:solidFill>
            <a:srgbClr val="EEF4FA"/>
          </a:solidFill>
          <a:ln/>
        </p:spPr>
      </p:sp>
      <p:sp>
        <p:nvSpPr>
          <p:cNvPr id="25" name="Shape 23"/>
          <p:cNvSpPr/>
          <p:nvPr/>
        </p:nvSpPr>
        <p:spPr>
          <a:xfrm>
            <a:off x="4434840" y="3273552"/>
            <a:ext cx="365760" cy="365760"/>
          </a:xfrm>
          <a:prstGeom prst="ellipse">
            <a:avLst/>
          </a:prstGeom>
          <a:solidFill>
            <a:srgbClr val="1E5A96"/>
          </a:solidFill>
          <a:ln/>
        </p:spPr>
      </p:sp>
      <p:sp>
        <p:nvSpPr>
          <p:cNvPr id="26" name="Text 24"/>
          <p:cNvSpPr/>
          <p:nvPr/>
        </p:nvSpPr>
        <p:spPr>
          <a:xfrm>
            <a:off x="4434840" y="32735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7" name="Text 25"/>
          <p:cNvSpPr/>
          <p:nvPr/>
        </p:nvSpPr>
        <p:spPr>
          <a:xfrm>
            <a:off x="4892040" y="3246120"/>
            <a:ext cx="2880360" cy="411480"/>
          </a:xfrm>
          <a:prstGeom prst="rect">
            <a:avLst/>
          </a:prstGeom>
          <a:noFill/>
          <a:ln/>
        </p:spPr>
        <p:txBody>
          <a:bodyPr wrap="square" lIns="0" tIns="0" rIns="0" bIns="0" rtlCol="0" anchor="ctr"/>
          <a:lstStyle/>
          <a:p>
            <a:pPr marL="0" indent="0">
              <a:buNone/>
            </a:pPr>
            <a:r>
              <a:rPr lang="en-US" sz="1200" b="1" dirty="0">
                <a:solidFill>
                  <a:srgbClr val="1B2733"/>
                </a:solidFill>
              </a:rPr>
              <a:t>Strings</a:t>
            </a:r>
            <a:endParaRPr lang="en-US" sz="1200" dirty="0"/>
          </a:p>
        </p:txBody>
      </p:sp>
      <p:sp>
        <p:nvSpPr>
          <p:cNvPr id="28" name="Text 26"/>
          <p:cNvSpPr/>
          <p:nvPr/>
        </p:nvSpPr>
        <p:spPr>
          <a:xfrm>
            <a:off x="4480560" y="3703320"/>
            <a:ext cx="3246120" cy="758952"/>
          </a:xfrm>
          <a:prstGeom prst="rect">
            <a:avLst/>
          </a:prstGeom>
          <a:noFill/>
          <a:ln/>
        </p:spPr>
        <p:txBody>
          <a:bodyPr wrap="square" lIns="0" tIns="0" rIns="0" bIns="0" rtlCol="0" anchor="ctr"/>
          <a:lstStyle/>
          <a:p>
            <a:pPr marL="0" indent="0">
              <a:buNone/>
            </a:pPr>
            <a:r>
              <a:rPr lang="en-US" sz="1000" dirty="0">
                <a:solidFill>
                  <a:srgbClr val="5C6B7A"/>
                </a:solidFill>
              </a:rPr>
              <a:t>Students can manipulate text data efficiently.</a:t>
            </a:r>
            <a:endParaRPr lang="en-US" sz="1000" dirty="0"/>
          </a:p>
        </p:txBody>
      </p:sp>
      <p:sp>
        <p:nvSpPr>
          <p:cNvPr id="29" name="Shape 27"/>
          <p:cNvSpPr/>
          <p:nvPr/>
        </p:nvSpPr>
        <p:spPr>
          <a:xfrm>
            <a:off x="8046720" y="3136392"/>
            <a:ext cx="3611880" cy="1417320"/>
          </a:xfrm>
          <a:prstGeom prst="roundRect">
            <a:avLst>
              <a:gd name="adj" fmla="val 5161"/>
            </a:avLst>
          </a:prstGeom>
          <a:solidFill>
            <a:srgbClr val="EEF4FA"/>
          </a:solidFill>
          <a:ln/>
        </p:spPr>
      </p:sp>
      <p:sp>
        <p:nvSpPr>
          <p:cNvPr id="30" name="Shape 28"/>
          <p:cNvSpPr/>
          <p:nvPr/>
        </p:nvSpPr>
        <p:spPr>
          <a:xfrm>
            <a:off x="8183880" y="3273552"/>
            <a:ext cx="365760" cy="365760"/>
          </a:xfrm>
          <a:prstGeom prst="ellipse">
            <a:avLst/>
          </a:prstGeom>
          <a:solidFill>
            <a:srgbClr val="1E5A96"/>
          </a:solidFill>
          <a:ln/>
        </p:spPr>
      </p:sp>
      <p:sp>
        <p:nvSpPr>
          <p:cNvPr id="31" name="Text 29"/>
          <p:cNvSpPr/>
          <p:nvPr/>
        </p:nvSpPr>
        <p:spPr>
          <a:xfrm>
            <a:off x="8183880" y="32735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2" name="Text 30"/>
          <p:cNvSpPr/>
          <p:nvPr/>
        </p:nvSpPr>
        <p:spPr>
          <a:xfrm>
            <a:off x="8641080" y="3246120"/>
            <a:ext cx="2880360" cy="411480"/>
          </a:xfrm>
          <a:prstGeom prst="rect">
            <a:avLst/>
          </a:prstGeom>
          <a:noFill/>
          <a:ln/>
        </p:spPr>
        <p:txBody>
          <a:bodyPr wrap="square" lIns="0" tIns="0" rIns="0" bIns="0" rtlCol="0" anchor="ctr"/>
          <a:lstStyle/>
          <a:p>
            <a:pPr marL="0" indent="0">
              <a:buNone/>
            </a:pPr>
            <a:r>
              <a:rPr lang="en-US" sz="1200" b="1" dirty="0">
                <a:solidFill>
                  <a:srgbClr val="1B2733"/>
                </a:solidFill>
              </a:rPr>
              <a:t>Collections</a:t>
            </a:r>
            <a:endParaRPr lang="en-US" sz="1200" dirty="0"/>
          </a:p>
        </p:txBody>
      </p:sp>
      <p:sp>
        <p:nvSpPr>
          <p:cNvPr id="33" name="Text 31"/>
          <p:cNvSpPr/>
          <p:nvPr/>
        </p:nvSpPr>
        <p:spPr>
          <a:xfrm>
            <a:off x="8229600" y="3703320"/>
            <a:ext cx="3246120" cy="758952"/>
          </a:xfrm>
          <a:prstGeom prst="rect">
            <a:avLst/>
          </a:prstGeom>
          <a:noFill/>
          <a:ln/>
        </p:spPr>
        <p:txBody>
          <a:bodyPr wrap="square" lIns="0" tIns="0" rIns="0" bIns="0" rtlCol="0" anchor="ctr"/>
          <a:lstStyle/>
          <a:p>
            <a:pPr marL="0" indent="0">
              <a:buNone/>
            </a:pPr>
            <a:r>
              <a:rPr lang="en-US" sz="1000" dirty="0">
                <a:solidFill>
                  <a:srgbClr val="5C6B7A"/>
                </a:solidFill>
              </a:rPr>
              <a:t>Students can manage and organise collections of data.</a:t>
            </a:r>
            <a:endParaRPr lang="en-US" sz="1000" dirty="0"/>
          </a:p>
        </p:txBody>
      </p:sp>
      <p:sp>
        <p:nvSpPr>
          <p:cNvPr id="34" name="Shape 32"/>
          <p:cNvSpPr/>
          <p:nvPr/>
        </p:nvSpPr>
        <p:spPr>
          <a:xfrm>
            <a:off x="548640" y="4718304"/>
            <a:ext cx="3611880" cy="1417320"/>
          </a:xfrm>
          <a:prstGeom prst="roundRect">
            <a:avLst>
              <a:gd name="adj" fmla="val 5161"/>
            </a:avLst>
          </a:prstGeom>
          <a:solidFill>
            <a:srgbClr val="EEF4FA"/>
          </a:solidFill>
          <a:ln/>
        </p:spPr>
      </p:sp>
      <p:sp>
        <p:nvSpPr>
          <p:cNvPr id="35" name="Shape 33"/>
          <p:cNvSpPr/>
          <p:nvPr/>
        </p:nvSpPr>
        <p:spPr>
          <a:xfrm>
            <a:off x="685800" y="4855464"/>
            <a:ext cx="365760" cy="365760"/>
          </a:xfrm>
          <a:prstGeom prst="ellipse">
            <a:avLst/>
          </a:prstGeom>
          <a:solidFill>
            <a:srgbClr val="1E5A96"/>
          </a:solidFill>
          <a:ln/>
        </p:spPr>
      </p:sp>
      <p:sp>
        <p:nvSpPr>
          <p:cNvPr id="36" name="Text 34"/>
          <p:cNvSpPr/>
          <p:nvPr/>
        </p:nvSpPr>
        <p:spPr>
          <a:xfrm>
            <a:off x="685800" y="48554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7</a:t>
            </a:r>
            <a:endParaRPr lang="en-US" sz="1300" dirty="0"/>
          </a:p>
        </p:txBody>
      </p:sp>
      <p:sp>
        <p:nvSpPr>
          <p:cNvPr id="37" name="Text 35"/>
          <p:cNvSpPr/>
          <p:nvPr/>
        </p:nvSpPr>
        <p:spPr>
          <a:xfrm>
            <a:off x="1143000" y="4828032"/>
            <a:ext cx="2880360" cy="411480"/>
          </a:xfrm>
          <a:prstGeom prst="rect">
            <a:avLst/>
          </a:prstGeom>
          <a:noFill/>
          <a:ln/>
        </p:spPr>
        <p:txBody>
          <a:bodyPr wrap="square" lIns="0" tIns="0" rIns="0" bIns="0" rtlCol="0" anchor="ctr"/>
          <a:lstStyle/>
          <a:p>
            <a:pPr marL="0" indent="0">
              <a:buNone/>
            </a:pPr>
            <a:r>
              <a:rPr lang="en-US" sz="1200" b="1" dirty="0">
                <a:solidFill>
                  <a:srgbClr val="1B2733"/>
                </a:solidFill>
              </a:rPr>
              <a:t>Functions</a:t>
            </a:r>
            <a:endParaRPr lang="en-US" sz="1200" dirty="0"/>
          </a:p>
        </p:txBody>
      </p:sp>
      <p:sp>
        <p:nvSpPr>
          <p:cNvPr id="38" name="Text 36"/>
          <p:cNvSpPr/>
          <p:nvPr/>
        </p:nvSpPr>
        <p:spPr>
          <a:xfrm>
            <a:off x="731520" y="5285232"/>
            <a:ext cx="3246120" cy="758952"/>
          </a:xfrm>
          <a:prstGeom prst="rect">
            <a:avLst/>
          </a:prstGeom>
          <a:noFill/>
          <a:ln/>
        </p:spPr>
        <p:txBody>
          <a:bodyPr wrap="square" lIns="0" tIns="0" rIns="0" bIns="0" rtlCol="0" anchor="ctr"/>
          <a:lstStyle/>
          <a:p>
            <a:pPr marL="0" indent="0">
              <a:buNone/>
            </a:pPr>
            <a:r>
              <a:rPr lang="en-US" sz="1000" dirty="0">
                <a:solidFill>
                  <a:srgbClr val="5C6B7A"/>
                </a:solidFill>
              </a:rPr>
              <a:t>Students can create reusable code modules.</a:t>
            </a:r>
            <a:endParaRPr lang="en-US" sz="1000" dirty="0"/>
          </a:p>
        </p:txBody>
      </p:sp>
      <p:sp>
        <p:nvSpPr>
          <p:cNvPr id="39" name="Shape 37"/>
          <p:cNvSpPr/>
          <p:nvPr/>
        </p:nvSpPr>
        <p:spPr>
          <a:xfrm>
            <a:off x="4297680" y="4718304"/>
            <a:ext cx="3611880" cy="1417320"/>
          </a:xfrm>
          <a:prstGeom prst="roundRect">
            <a:avLst>
              <a:gd name="adj" fmla="val 5161"/>
            </a:avLst>
          </a:prstGeom>
          <a:solidFill>
            <a:srgbClr val="EEF4FA"/>
          </a:solidFill>
          <a:ln/>
        </p:spPr>
      </p:sp>
      <p:sp>
        <p:nvSpPr>
          <p:cNvPr id="40" name="Shape 38"/>
          <p:cNvSpPr/>
          <p:nvPr/>
        </p:nvSpPr>
        <p:spPr>
          <a:xfrm>
            <a:off x="4434840" y="4855464"/>
            <a:ext cx="365760" cy="365760"/>
          </a:xfrm>
          <a:prstGeom prst="ellipse">
            <a:avLst/>
          </a:prstGeom>
          <a:solidFill>
            <a:srgbClr val="1E5A96"/>
          </a:solidFill>
          <a:ln/>
        </p:spPr>
      </p:sp>
      <p:sp>
        <p:nvSpPr>
          <p:cNvPr id="41" name="Text 39"/>
          <p:cNvSpPr/>
          <p:nvPr/>
        </p:nvSpPr>
        <p:spPr>
          <a:xfrm>
            <a:off x="4434840" y="48554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8</a:t>
            </a:r>
            <a:endParaRPr lang="en-US" sz="1300" dirty="0"/>
          </a:p>
        </p:txBody>
      </p:sp>
      <p:sp>
        <p:nvSpPr>
          <p:cNvPr id="42" name="Text 40"/>
          <p:cNvSpPr/>
          <p:nvPr/>
        </p:nvSpPr>
        <p:spPr>
          <a:xfrm>
            <a:off x="4892040" y="4828032"/>
            <a:ext cx="2880360" cy="411480"/>
          </a:xfrm>
          <a:prstGeom prst="rect">
            <a:avLst/>
          </a:prstGeom>
          <a:noFill/>
          <a:ln/>
        </p:spPr>
        <p:txBody>
          <a:bodyPr wrap="square" lIns="0" tIns="0" rIns="0" bIns="0" rtlCol="0" anchor="ctr"/>
          <a:lstStyle/>
          <a:p>
            <a:pPr marL="0" indent="0">
              <a:buNone/>
            </a:pPr>
            <a:r>
              <a:rPr lang="en-US" sz="1200" b="1" dirty="0">
                <a:solidFill>
                  <a:srgbClr val="1B2733"/>
                </a:solidFill>
              </a:rPr>
              <a:t>Files and Exception Handling</a:t>
            </a:r>
            <a:endParaRPr lang="en-US" sz="1200" dirty="0"/>
          </a:p>
        </p:txBody>
      </p:sp>
      <p:sp>
        <p:nvSpPr>
          <p:cNvPr id="43" name="Text 41"/>
          <p:cNvSpPr/>
          <p:nvPr/>
        </p:nvSpPr>
        <p:spPr>
          <a:xfrm>
            <a:off x="4480560" y="5285232"/>
            <a:ext cx="3246120" cy="758952"/>
          </a:xfrm>
          <a:prstGeom prst="rect">
            <a:avLst/>
          </a:prstGeom>
          <a:noFill/>
          <a:ln/>
        </p:spPr>
        <p:txBody>
          <a:bodyPr wrap="square" lIns="0" tIns="0" rIns="0" bIns="0" rtlCol="0" anchor="ctr"/>
          <a:lstStyle/>
          <a:p>
            <a:pPr marL="0" indent="0">
              <a:buNone/>
            </a:pPr>
            <a:r>
              <a:rPr lang="en-US" sz="1000" dirty="0">
                <a:solidFill>
                  <a:srgbClr val="5C6B7A"/>
                </a:solidFill>
              </a:rPr>
              <a:t>Students can safely handle files and errors.</a:t>
            </a:r>
            <a:endParaRPr lang="en-US" sz="1000" dirty="0"/>
          </a:p>
        </p:txBody>
      </p:sp>
      <p:sp>
        <p:nvSpPr>
          <p:cNvPr id="44" name="Shape 42"/>
          <p:cNvSpPr/>
          <p:nvPr/>
        </p:nvSpPr>
        <p:spPr>
          <a:xfrm>
            <a:off x="8046720" y="4718304"/>
            <a:ext cx="3611880" cy="1417320"/>
          </a:xfrm>
          <a:prstGeom prst="roundRect">
            <a:avLst>
              <a:gd name="adj" fmla="val 5161"/>
            </a:avLst>
          </a:prstGeom>
          <a:solidFill>
            <a:srgbClr val="EEF4FA"/>
          </a:solidFill>
          <a:ln/>
        </p:spPr>
      </p:sp>
      <p:sp>
        <p:nvSpPr>
          <p:cNvPr id="45" name="Shape 43"/>
          <p:cNvSpPr/>
          <p:nvPr/>
        </p:nvSpPr>
        <p:spPr>
          <a:xfrm>
            <a:off x="8183880" y="4855464"/>
            <a:ext cx="365760" cy="365760"/>
          </a:xfrm>
          <a:prstGeom prst="ellipse">
            <a:avLst/>
          </a:prstGeom>
          <a:solidFill>
            <a:srgbClr val="1E5A96"/>
          </a:solidFill>
          <a:ln/>
        </p:spPr>
      </p:sp>
      <p:sp>
        <p:nvSpPr>
          <p:cNvPr id="46" name="Text 44"/>
          <p:cNvSpPr/>
          <p:nvPr/>
        </p:nvSpPr>
        <p:spPr>
          <a:xfrm>
            <a:off x="8183880" y="48554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9</a:t>
            </a:r>
            <a:endParaRPr lang="en-US" sz="1300" dirty="0"/>
          </a:p>
        </p:txBody>
      </p:sp>
      <p:sp>
        <p:nvSpPr>
          <p:cNvPr id="47" name="Text 45"/>
          <p:cNvSpPr/>
          <p:nvPr/>
        </p:nvSpPr>
        <p:spPr>
          <a:xfrm>
            <a:off x="8641080" y="4828032"/>
            <a:ext cx="2880360" cy="411480"/>
          </a:xfrm>
          <a:prstGeom prst="rect">
            <a:avLst/>
          </a:prstGeom>
          <a:noFill/>
          <a:ln/>
        </p:spPr>
        <p:txBody>
          <a:bodyPr wrap="square" lIns="0" tIns="0" rIns="0" bIns="0" rtlCol="0" anchor="ctr"/>
          <a:lstStyle/>
          <a:p>
            <a:pPr marL="0" indent="0">
              <a:buNone/>
            </a:pPr>
            <a:r>
              <a:rPr lang="en-US" sz="1200" b="1" dirty="0">
                <a:solidFill>
                  <a:srgbClr val="1B2733"/>
                </a:solidFill>
              </a:rPr>
              <a:t>Object Oriented Programming</a:t>
            </a:r>
            <a:endParaRPr lang="en-US" sz="1200" dirty="0"/>
          </a:p>
        </p:txBody>
      </p:sp>
      <p:sp>
        <p:nvSpPr>
          <p:cNvPr id="48" name="Text 46"/>
          <p:cNvSpPr/>
          <p:nvPr/>
        </p:nvSpPr>
        <p:spPr>
          <a:xfrm>
            <a:off x="8229600" y="5285232"/>
            <a:ext cx="3246120" cy="758952"/>
          </a:xfrm>
          <a:prstGeom prst="rect">
            <a:avLst/>
          </a:prstGeom>
          <a:noFill/>
          <a:ln/>
        </p:spPr>
        <p:txBody>
          <a:bodyPr wrap="square" lIns="0" tIns="0" rIns="0" bIns="0" rtlCol="0" anchor="ctr"/>
          <a:lstStyle/>
          <a:p>
            <a:pPr marL="0" indent="0">
              <a:buNone/>
            </a:pPr>
            <a:r>
              <a:rPr lang="en-US" sz="1000" dirty="0">
                <a:solidFill>
                  <a:srgbClr val="5C6B7A"/>
                </a:solidFill>
              </a:rPr>
              <a:t>Students can build scalable applications using OOP concepts.</a:t>
            </a:r>
            <a:endParaRPr lang="en-US" sz="1000" dirty="0"/>
          </a:p>
        </p:txBody>
      </p:sp>
      <p:sp>
        <p:nvSpPr>
          <p:cNvPr id="49" name="Text 47"/>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71</a:t>
            </a:r>
            <a:endParaRPr lang="en-US" sz="1000" dirty="0"/>
          </a:p>
        </p:txBody>
      </p:sp>
      <p:sp>
        <p:nvSpPr>
          <p:cNvPr id="50" name="Text 48"/>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8412480" y="-1828800"/>
            <a:ext cx="5486400" cy="5486400"/>
          </a:xfrm>
          <a:prstGeom prst="ellipse">
            <a:avLst/>
          </a:prstGeom>
          <a:solidFill>
            <a:srgbClr val="1E5A96">
              <a:alpha val="45000"/>
            </a:srgbClr>
          </a:solidFill>
          <a:ln/>
        </p:spPr>
      </p:sp>
      <p:pic>
        <p:nvPicPr>
          <p:cNvPr id="3" name="Image 0" descr="preencoded.png"/>
          <p:cNvPicPr>
            <a:picLocks noChangeAspect="1"/>
          </p:cNvPicPr>
          <p:nvPr/>
        </p:nvPicPr>
        <p:blipFill>
          <a:blip r:embed="rId3"/>
          <a:stretch>
            <a:fillRect/>
          </a:stretch>
        </p:blipFill>
        <p:spPr>
          <a:xfrm>
            <a:off x="822960" y="2377440"/>
            <a:ext cx="914400" cy="914400"/>
          </a:xfrm>
          <a:prstGeom prst="rect">
            <a:avLst/>
          </a:prstGeom>
        </p:spPr>
      </p:pic>
      <p:sp>
        <p:nvSpPr>
          <p:cNvPr id="4" name="Text 1"/>
          <p:cNvSpPr/>
          <p:nvPr/>
        </p:nvSpPr>
        <p:spPr>
          <a:xfrm>
            <a:off x="1920240" y="2377440"/>
            <a:ext cx="8229600" cy="8229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rPr>
              <a:t>Thank You</a:t>
            </a:r>
            <a:endParaRPr lang="en-US" sz="3800" dirty="0"/>
          </a:p>
        </p:txBody>
      </p:sp>
      <p:sp>
        <p:nvSpPr>
          <p:cNvPr id="5" name="Text 2"/>
          <p:cNvSpPr/>
          <p:nvPr/>
        </p:nvSpPr>
        <p:spPr>
          <a:xfrm>
            <a:off x="1920240" y="3200400"/>
            <a:ext cx="8686800" cy="457200"/>
          </a:xfrm>
          <a:prstGeom prst="rect">
            <a:avLst/>
          </a:prstGeom>
          <a:noFill/>
          <a:ln/>
        </p:spPr>
        <p:txBody>
          <a:bodyPr wrap="square" lIns="0" tIns="0" rIns="0" bIns="0" rtlCol="0" anchor="ctr"/>
          <a:lstStyle/>
          <a:p>
            <a:pPr marL="0" indent="0">
              <a:buNone/>
            </a:pPr>
            <a:r>
              <a:rPr lang="en-US" sz="1500" dirty="0">
                <a:solidFill>
                  <a:srgbClr val="CFE3F5"/>
                </a:solidFill>
              </a:rPr>
              <a:t>Thank you for completing Python Programming</a:t>
            </a:r>
            <a:endParaRPr lang="en-US" sz="1500" dirty="0"/>
          </a:p>
        </p:txBody>
      </p:sp>
      <p:sp>
        <p:nvSpPr>
          <p:cNvPr id="6" name="Text 3"/>
          <p:cNvSpPr/>
          <p:nvPr/>
        </p:nvSpPr>
        <p:spPr>
          <a:xfrm>
            <a:off x="1920240" y="3749040"/>
            <a:ext cx="7315200" cy="365760"/>
          </a:xfrm>
          <a:prstGeom prst="rect">
            <a:avLst/>
          </a:prstGeom>
          <a:noFill/>
          <a:ln/>
        </p:spPr>
        <p:txBody>
          <a:bodyPr wrap="square" lIns="0" tIns="0" rIns="0" bIns="0" rtlCol="0" anchor="ctr"/>
          <a:lstStyle/>
          <a:p>
            <a:pPr marL="0" indent="0">
              <a:buNone/>
            </a:pPr>
            <a:r>
              <a:rPr lang="en-US" sz="1250" dirty="0">
                <a:solidFill>
                  <a:srgbClr val="9AAAB8"/>
                </a:solidFill>
              </a:rPr>
              <a:t>Trainer Name  •  Venkatesh</a:t>
            </a:r>
            <a:endParaRPr lang="en-US" sz="1250" dirty="0"/>
          </a:p>
        </p:txBody>
      </p:sp>
      <p:sp>
        <p:nvSpPr>
          <p:cNvPr id="7" name="Text 4"/>
          <p:cNvSpPr/>
          <p:nvPr/>
        </p:nvSpPr>
        <p:spPr>
          <a:xfrm>
            <a:off x="11521440" y="6473952"/>
            <a:ext cx="457200" cy="274320"/>
          </a:xfrm>
          <a:prstGeom prst="rect">
            <a:avLst/>
          </a:prstGeom>
          <a:noFill/>
          <a:ln/>
        </p:spPr>
        <p:txBody>
          <a:bodyPr wrap="square" lIns="0" tIns="0" rIns="0" bIns="0" rtlCol="0" anchor="ctr"/>
          <a:lstStyle/>
          <a:p>
            <a:pPr marL="0" indent="0" algn="r">
              <a:buNone/>
            </a:pPr>
            <a:r>
              <a:rPr lang="en-US" sz="1000" dirty="0">
                <a:solidFill>
                  <a:srgbClr val="5C6B7A"/>
                </a:solidFill>
              </a:rPr>
              <a:t>72</a:t>
            </a:r>
            <a:endParaRPr lang="en-US" sz="1000" dirty="0"/>
          </a:p>
        </p:txBody>
      </p:sp>
      <p:sp>
        <p:nvSpPr>
          <p:cNvPr id="8" name="Text 5"/>
          <p:cNvSpPr/>
          <p:nvPr/>
        </p:nvSpPr>
        <p:spPr>
          <a:xfrm>
            <a:off x="548640" y="6473952"/>
            <a:ext cx="5486400" cy="274320"/>
          </a:xfrm>
          <a:prstGeom prst="rect">
            <a:avLst/>
          </a:prstGeom>
          <a:noFill/>
          <a:ln/>
        </p:spPr>
        <p:txBody>
          <a:bodyPr wrap="square" lIns="0" tIns="0" rIns="0" bIns="0" rtlCol="0" anchor="ctr"/>
          <a:lstStyle/>
          <a:p>
            <a:pPr marL="0" indent="0">
              <a:buNone/>
            </a:pPr>
            <a:r>
              <a:rPr lang="en-US" sz="850" dirty="0">
                <a:solidFill>
                  <a:srgbClr val="9AAAB8"/>
                </a:solidFill>
              </a:rPr>
              <a:t>Python Programming: Beginner to Professional</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5396</Words>
  <Application>Microsoft Office PowerPoint</Application>
  <PresentationFormat>Widescreen</PresentationFormat>
  <Paragraphs>1085</Paragraphs>
  <Slides>72</Slides>
  <Notes>72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Arial</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Beginner to Professional</dc:title>
  <dc:subject>PptxGenJS Presentation</dc:subject>
  <dc:creator>Python Training Institute</dc:creator>
  <cp:lastModifiedBy>Madhuri Yalavarthi</cp:lastModifiedBy>
  <cp:revision>2</cp:revision>
  <dcterms:created xsi:type="dcterms:W3CDTF">2026-07-08T10:11:56Z</dcterms:created>
  <dcterms:modified xsi:type="dcterms:W3CDTF">2026-07-08T10:22:07Z</dcterms:modified>
</cp:coreProperties>
</file>
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79" r:id="rId24"/>
    <p:sldId id="278" r:id="rId25"/>
    <p:sldId id="277" r:id="rId26"/>
    <p:sldId id="281" r:id="rId27"/>
    <p:sldId id="284" r:id="rId28"/>
    <p:sldId id="283" r:id="rId29"/>
    <p:sldId id="285" r:id="rId30"/>
    <p:sldId id="282" r:id="rId31"/>
    <p:sldId id="286" r:id="rId32"/>
    <p:sldId id="289" r:id="rId33"/>
    <p:sldId id="290" r:id="rId34"/>
    <p:sldId id="288" r:id="rId35"/>
    <p:sldId id="287" r:id="rId36"/>
    <p:sldId id="291" r:id="rId37"/>
    <p:sldId id="294" r:id="rId38"/>
    <p:sldId id="293" r:id="rId39"/>
    <p:sldId id="292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i Yalavarthi" userId="75426ec6966164f1" providerId="LiveId" clId="{31D95E5C-31B0-4D24-9C07-C33D19D159BF}"/>
    <pc:docChg chg="addSld modSld">
      <pc:chgData name="Madhuri Yalavarthi" userId="75426ec6966164f1" providerId="LiveId" clId="{31D95E5C-31B0-4D24-9C07-C33D19D159BF}" dt="2026-07-08T20:32:06.658" v="31" actId="14100"/>
      <pc:docMkLst>
        <pc:docMk/>
      </pc:docMkLst>
      <pc:sldChg chg="addSp modSp new mod">
        <pc:chgData name="Madhuri Yalavarthi" userId="75426ec6966164f1" providerId="LiveId" clId="{31D95E5C-31B0-4D24-9C07-C33D19D159BF}" dt="2026-07-08T20:30:13.736" v="9" actId="14100"/>
        <pc:sldMkLst>
          <pc:docMk/>
          <pc:sldMk cId="3997808140" sldId="291"/>
        </pc:sldMkLst>
        <pc:picChg chg="add mod">
          <ac:chgData name="Madhuri Yalavarthi" userId="75426ec6966164f1" providerId="LiveId" clId="{31D95E5C-31B0-4D24-9C07-C33D19D159BF}" dt="2026-07-08T20:30:13.736" v="9" actId="14100"/>
          <ac:picMkLst>
            <pc:docMk/>
            <pc:sldMk cId="3997808140" sldId="291"/>
            <ac:picMk id="3" creationId="{EDC43CFB-B747-57F7-1B95-247B2CEF6BA1}"/>
          </ac:picMkLst>
        </pc:picChg>
      </pc:sldChg>
      <pc:sldChg chg="addSp modSp new mod">
        <pc:chgData name="Madhuri Yalavarthi" userId="75426ec6966164f1" providerId="LiveId" clId="{31D95E5C-31B0-4D24-9C07-C33D19D159BF}" dt="2026-07-08T20:31:38.319" v="26" actId="14100"/>
        <pc:sldMkLst>
          <pc:docMk/>
          <pc:sldMk cId="170106906" sldId="292"/>
        </pc:sldMkLst>
        <pc:picChg chg="add mod">
          <ac:chgData name="Madhuri Yalavarthi" userId="75426ec6966164f1" providerId="LiveId" clId="{31D95E5C-31B0-4D24-9C07-C33D19D159BF}" dt="2026-07-08T20:31:38.319" v="26" actId="14100"/>
          <ac:picMkLst>
            <pc:docMk/>
            <pc:sldMk cId="170106906" sldId="292"/>
            <ac:picMk id="3" creationId="{59F1AA4A-CBE1-4FF6-3963-91282F0F1F66}"/>
          </ac:picMkLst>
        </pc:picChg>
      </pc:sldChg>
      <pc:sldChg chg="addSp modSp new mod">
        <pc:chgData name="Madhuri Yalavarthi" userId="75426ec6966164f1" providerId="LiveId" clId="{31D95E5C-31B0-4D24-9C07-C33D19D159BF}" dt="2026-07-08T20:31:08.088" v="19" actId="14100"/>
        <pc:sldMkLst>
          <pc:docMk/>
          <pc:sldMk cId="2502438817" sldId="293"/>
        </pc:sldMkLst>
        <pc:picChg chg="add mod">
          <ac:chgData name="Madhuri Yalavarthi" userId="75426ec6966164f1" providerId="LiveId" clId="{31D95E5C-31B0-4D24-9C07-C33D19D159BF}" dt="2026-07-08T20:31:08.088" v="19" actId="14100"/>
          <ac:picMkLst>
            <pc:docMk/>
            <pc:sldMk cId="2502438817" sldId="293"/>
            <ac:picMk id="3" creationId="{9C952545-ACC9-FCD5-7B6F-DEC2101524F6}"/>
          </ac:picMkLst>
        </pc:picChg>
      </pc:sldChg>
      <pc:sldChg chg="addSp modSp new mod">
        <pc:chgData name="Madhuri Yalavarthi" userId="75426ec6966164f1" providerId="LiveId" clId="{31D95E5C-31B0-4D24-9C07-C33D19D159BF}" dt="2026-07-08T20:30:44.989" v="14" actId="14100"/>
        <pc:sldMkLst>
          <pc:docMk/>
          <pc:sldMk cId="3285226782" sldId="294"/>
        </pc:sldMkLst>
        <pc:picChg chg="add mod">
          <ac:chgData name="Madhuri Yalavarthi" userId="75426ec6966164f1" providerId="LiveId" clId="{31D95E5C-31B0-4D24-9C07-C33D19D159BF}" dt="2026-07-08T20:30:44.989" v="14" actId="14100"/>
          <ac:picMkLst>
            <pc:docMk/>
            <pc:sldMk cId="3285226782" sldId="294"/>
            <ac:picMk id="3" creationId="{EDBB8438-7861-5918-5AD8-43F01369959D}"/>
          </ac:picMkLst>
        </pc:picChg>
      </pc:sldChg>
      <pc:sldChg chg="addSp modSp new mod">
        <pc:chgData name="Madhuri Yalavarthi" userId="75426ec6966164f1" providerId="LiveId" clId="{31D95E5C-31B0-4D24-9C07-C33D19D159BF}" dt="2026-07-08T20:32:06.658" v="31" actId="14100"/>
        <pc:sldMkLst>
          <pc:docMk/>
          <pc:sldMk cId="1237854809" sldId="295"/>
        </pc:sldMkLst>
        <pc:picChg chg="add mod">
          <ac:chgData name="Madhuri Yalavarthi" userId="75426ec6966164f1" providerId="LiveId" clId="{31D95E5C-31B0-4D24-9C07-C33D19D159BF}" dt="2026-07-08T20:32:06.658" v="31" actId="14100"/>
          <ac:picMkLst>
            <pc:docMk/>
            <pc:sldMk cId="1237854809" sldId="295"/>
            <ac:picMk id="3" creationId="{94017863-A26B-BFDD-5DA1-234294B126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92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to the program. Introduce yourself as Mr. Venkatesh and set expectations: this is a practical, project-driven course spanning Generative AI fundamentals, prompt engineering, AI agents, and hands-on agentic projects. Real-time example: Mention that tools like ChatGPT and GitHub Copilot are everyday examples of Generative AI already in use. Learning outcome: Learners should leave this slide understanding the scope and structure of the course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pillars of the course: Generative AI Fundamentals, Prompt Engineering, AI Agents, and Agentic AI Projects. Explain that each module builds on the previous one. Real-time example: Compare a plain chatbot (Generative AI) to an AI agent that can book a flight for you (Agentic AI) to show the progression. Learning outcome: Learners should be able to name and briefly describe the four core areas covered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five learning objectives in order, emphasizing that they build progressively toward the capstone project. Pause on 'Understand Agent Workflows' to preview upcoming agent-architecture content. Real-time example: A customer-support LLM (LLM concepts) evolving into a scripted support bot (prompt engineering) and finally into an autonomous support agent that resolves tickets end-to-end (agent workflows). Learning outcome: Learners can state all five objectives and understand how the capstone ties them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funnel diagram stage by stage: AI is the broad field of mimicking human intelligence; Machine Learning lets systems learn from data; Deep Learning uses neural networks for complex pattern recognition; Generative AI creates new content; Agentic AI adds autonomous planning and action. Real-time example: Netflix recommendations (ML) evolving into ChatGPT (Generative AI) and then into autonomous booking or research agents (Agentic AI). Learning outcome: Learners can place Agentic AI correctly within the broader evolution of AI and explain what distinguishes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Generative AI clearly: models that create new content rather than just classify or predict. Emphasize why it matters for productivity across industries, then walk through the four leading examples on the right. Real-time example: Show how ChatGPT drafts an email, Copilot writes code, Claude summarizes documents, and Gemini answers multimodal queries — all generating new content on demand. Learning outcome: Learners can define Generative AI in their own words and name at least three real-world tools that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paradigms row by row: Traditional AI follows fixed, rule-based logic and produces limited, pre-defined outputs; Generative AI learns patterns from data and produces dynamic, novel content. Real-time example: A traditional spam filter uses fixed keyword rules, while a generative AI writing assistant creates original, context-aware responses each time. Learning outcome: Learners can clearly articulate the three key differences between traditional and generative AI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six application areas, noting that Generative AI is a general-purpose technology rather than a single-use tool. Real-time example: Show how the same underlying model powers a marketing copy generator, a coding assistant like Copilot, and a customer support chatbot. Learning outcome: Learners can list at least four industries actively using Generative AI and describe one use case in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LLMs and explain the four pillars: what they are, how they're trained, how they understand language, and how they actually generate output token by token. Real-time example: When you type a prompt into ChatGPT, the model predicts one token at a time, each based on everything written so far, until it forms a full response. Learning outcome: Learners can explain, in plain language, how an LLM goes from raw text data to generating a coherent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pipeline top to bottom: raw internet data is filtered into a training dataset, fed into a transformer model, which becomes the trained LLM, which finally generates responses to user prompts. Real-time example: Explain that GPT-style models ingest web-scale text, learn attention patterns via transformers, and use that to generate ChatGPT's replies. Learning outcome: Learners can walk through the five-stage LLM architecture pipeline unaided.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four major LLM families and their standout strength: GPT for general-purpose versatility, Gemini for productivity integration across Google Workspace, Claude for long-context reasoning, and Llama for open-source flexibility. Real-time example: A developer might choose Claude for analyzing a lengthy legal document, but choose Llama when they need an open-source model they can fine-tune and self-host. Learning outcome: Learners can match each major LLM to its company and its primary strength, and reason about which model fits a given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models don't read whole words — they read tokens, which can be whole words, sub-words, or even punctuation. Walk through the tokenization example on the right showing how 'ChatGPT is helpful' breaks into 6 tokens. Then connect this to context windows and token limits. Real-time example: GPT-4 class models have context windows spanning tens of thousands of tokens, which is why very long documents sometimes need to be summarized or chunked before processing. Learning outcome: Learners can define a token, explain why token counts differ from word counts, and describe what a context window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four-stage generation workflow left to right: the user's prompt is tokenized, the model predicts the next token repeatedly, and those predicted tokens are assembled into the final output text. Real-time example: When you ask ChatGPT a question, it doesn't retrieve a stored answer — it generates the response one token at a time based on learned probabilities. Learning outcome: Learners can explain, stage by stage, what happens between typing a prompt and receiving a generated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course in familiar, real-world scenarios: HR teams use GenAI to pre-screen resumes, support teams deploy chat assistants, marketing and content teams draft copy instantly, developers pair-program with AI, and operations teams automate routine workflows. Real-time example: An HR platform like a resume screener can rank hundreds of applicants against a job description in seconds using the same underlying technology as ChatGPT. Learning outcome: Learners can name at least three business functions already being transformed by Generative AI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prompt engineering as the core interface skill between people and AI models: precise, well-structured prompts consistently produce better output. Cover the definition, why it matters, its practical benefits, and where it's used today. Real-time example: Asking an AI 'write about dogs' produces a generic result, while a well-engineered prompt specifying tone, audience, and length produces a publish-ready draft. Learning outcome: Learners can explain why prompt quality directly affects AI output quality and name two real-world contexts where prompt engineering is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five-part R-T-C-C-O framework — Role, Task, Context, Constraints, Output Format — as a repeatable structure for writing strong prompts. Walk through the worked travel-planning example on the right, showing how each element maps to a concrete line in the prompt. Real-time example: The same travel-planning task, written without this structure, often produces a generic, unusable itinerary; adding role, context, constraints, and format produces a ready-to-use plan. Learning outcome: Learners can construct a complete, well-structured prompt using all five framework elements for a task of their own choosing.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2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0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822960"/>
            <a:ext cx="1005840" cy="18288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326880" y="1005840"/>
            <a:ext cx="365760" cy="109728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22960"/>
            <a:ext cx="731520" cy="64008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424160" y="822960"/>
            <a:ext cx="274320" cy="118872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326880" y="2011680"/>
            <a:ext cx="1097280" cy="9144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2011680"/>
            <a:ext cx="1097280" cy="45720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1463040"/>
            <a:ext cx="91440" cy="100584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2103120"/>
            <a:ext cx="548640" cy="91440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875520" y="2011680"/>
            <a:ext cx="548640" cy="100584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2011680"/>
            <a:ext cx="548640" cy="118872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972800" y="2468880"/>
            <a:ext cx="548640" cy="73152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3017520"/>
            <a:ext cx="1097280" cy="182880"/>
          </a:xfrm>
          <a:prstGeom prst="line">
            <a:avLst/>
          </a:prstGeom>
          <a:noFill/>
          <a:ln w="15875">
            <a:solidFill>
              <a:srgbClr val="3B57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19488" y="932688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2760" y="777240"/>
            <a:ext cx="91440" cy="91440"/>
          </a:xfrm>
          <a:prstGeom prst="ellipse">
            <a:avLst/>
          </a:prstGeom>
          <a:solidFill>
            <a:srgbClr val="6E8A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84280" y="1417320"/>
            <a:ext cx="91440" cy="91440"/>
          </a:xfrm>
          <a:prstGeom prst="ellipse">
            <a:avLst/>
          </a:prstGeom>
          <a:solidFill>
            <a:srgbClr val="6E8AAE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3728" y="2029968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78440" y="1965960"/>
            <a:ext cx="91440" cy="91440"/>
          </a:xfrm>
          <a:prstGeom prst="ellipse">
            <a:avLst/>
          </a:prstGeom>
          <a:solidFill>
            <a:srgbClr val="6E8A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75720" y="2423160"/>
            <a:ext cx="91440" cy="91440"/>
          </a:xfrm>
          <a:prstGeom prst="ellipse">
            <a:avLst/>
          </a:prstGeom>
          <a:solidFill>
            <a:srgbClr val="6E8AAE"/>
          </a:solidFill>
          <a:ln/>
        </p:spPr>
      </p:sp>
      <p:sp>
        <p:nvSpPr>
          <p:cNvPr id="20" name="Shape 18"/>
          <p:cNvSpPr/>
          <p:nvPr/>
        </p:nvSpPr>
        <p:spPr>
          <a:xfrm>
            <a:off x="9802368" y="2944368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27080" y="3154680"/>
            <a:ext cx="91440" cy="91440"/>
          </a:xfrm>
          <a:prstGeom prst="ellipse">
            <a:avLst/>
          </a:prstGeom>
          <a:solidFill>
            <a:srgbClr val="6E8AA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331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&amp; GENERATIVE AI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3152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000" dirty="0"/>
          </a:p>
        </p:txBody>
      </p:sp>
      <p:sp>
        <p:nvSpPr>
          <p:cNvPr id="24" name="Shape 22"/>
          <p:cNvSpPr/>
          <p:nvPr/>
        </p:nvSpPr>
        <p:spPr>
          <a:xfrm>
            <a:off x="731520" y="3977640"/>
            <a:ext cx="2743200" cy="18288"/>
          </a:xfrm>
          <a:prstGeom prst="rect">
            <a:avLst/>
          </a:prstGeom>
          <a:solidFill>
            <a:srgbClr val="3B577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Venkatesh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course covering Generative AI foundations, prompt engineering, AI agents, and agentic project building.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" y="5623560"/>
            <a:ext cx="1361542" cy="402336"/>
          </a:xfrm>
          <a:prstGeom prst="roundRect">
            <a:avLst>
              <a:gd name="adj" fmla="val 18182"/>
            </a:avLst>
          </a:prstGeom>
          <a:solidFill>
            <a:srgbClr val="1D3A63"/>
          </a:solidFill>
          <a:ln w="9525">
            <a:solidFill>
              <a:srgbClr val="3B57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623560"/>
            <a:ext cx="13615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57654" y="5623560"/>
            <a:ext cx="1786738" cy="402336"/>
          </a:xfrm>
          <a:prstGeom prst="roundRect">
            <a:avLst>
              <a:gd name="adj" fmla="val 18182"/>
            </a:avLst>
          </a:prstGeom>
          <a:solidFill>
            <a:srgbClr val="1D3A63"/>
          </a:solidFill>
          <a:ln w="9525">
            <a:solidFill>
              <a:srgbClr val="3B57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57654" y="5623560"/>
            <a:ext cx="17867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8983" y="5623560"/>
            <a:ext cx="1021385" cy="402336"/>
          </a:xfrm>
          <a:prstGeom prst="roundRect">
            <a:avLst>
              <a:gd name="adj" fmla="val 18182"/>
            </a:avLst>
          </a:prstGeom>
          <a:solidFill>
            <a:srgbClr val="1D3A63"/>
          </a:solidFill>
          <a:ln w="9525">
            <a:solidFill>
              <a:srgbClr val="3B57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8983" y="5623560"/>
            <a:ext cx="10213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5623560"/>
            <a:ext cx="1616659" cy="402336"/>
          </a:xfrm>
          <a:prstGeom prst="roundRect">
            <a:avLst>
              <a:gd name="adj" fmla="val 18182"/>
            </a:avLst>
          </a:prstGeom>
          <a:solidFill>
            <a:srgbClr val="1D3A63"/>
          </a:solidFill>
          <a:ln w="9525">
            <a:solidFill>
              <a:srgbClr val="3B57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5623560"/>
            <a:ext cx="16166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Projects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across this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47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Fundamentals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3317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behind LLMs and generative models.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554480"/>
            <a:ext cx="50749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74520"/>
            <a:ext cx="685800" cy="6858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0391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47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69480" y="23317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to design effective, reliable prompts.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0749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685800" cy="6858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462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0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autonomous agents perceive, reason, and act.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977640"/>
            <a:ext cx="50749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97680"/>
            <a:ext cx="685800" cy="6858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4622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70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Projects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69480" y="47548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real, end-to-end agentic workflows.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you will be able 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28216"/>
            <a:ext cx="475488" cy="475488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1842333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74520" y="1600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LLM Concepts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624328"/>
            <a:ext cx="475488" cy="475488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273844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9631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874520" y="2496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Prompt Engineering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548640" y="3392424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520440"/>
            <a:ext cx="475488" cy="475488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363455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39242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874520" y="33924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AI Agents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48640" y="4288536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416552"/>
            <a:ext cx="475488" cy="475488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49" y="453066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28853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1874520" y="428853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Agent Workflows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548640" y="5184648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5312664"/>
            <a:ext cx="475488" cy="475488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49" y="5426781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1846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1874520" y="51846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Capstone Project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7818120" y="1600200"/>
            <a:ext cx="3840480" cy="4315968"/>
          </a:xfrm>
          <a:prstGeom prst="roundRect">
            <a:avLst>
              <a:gd name="adj" fmla="val 2381"/>
            </a:avLst>
          </a:prstGeom>
          <a:solidFill>
            <a:srgbClr val="13294B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1920240"/>
            <a:ext cx="640080" cy="64008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1779" y="207385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9244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Outcome-Driven Learning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092440" y="3200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3D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builds toward the next — from core LLM theory to fully autonomous, agentic AI systems you design and deploy yourself.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092440" y="4800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Build your own AI agent end-to-end.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broad intelligence to autonomous, goal-driven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7863840" cy="786384"/>
          </a:xfrm>
          <a:prstGeom prst="roundRect">
            <a:avLst>
              <a:gd name="adj" fmla="val 10465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1581912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6916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490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1801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mimic human reasoning and decision-making.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55464" y="2185416"/>
            <a:ext cx="164592" cy="16459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7"/>
          <p:cNvSpPr/>
          <p:nvPr/>
        </p:nvSpPr>
        <p:spPr>
          <a:xfrm>
            <a:off x="1508760" y="2331720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709928" y="2496312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56" y="26060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31720" y="24048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331720" y="27157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 instead of fixed rules.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55464" y="3099816"/>
            <a:ext cx="164592" cy="16459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Shape 12"/>
          <p:cNvSpPr/>
          <p:nvPr/>
        </p:nvSpPr>
        <p:spPr>
          <a:xfrm>
            <a:off x="2011680" y="3246120"/>
            <a:ext cx="5852160" cy="786384"/>
          </a:xfrm>
          <a:prstGeom prst="roundRect">
            <a:avLst>
              <a:gd name="adj" fmla="val 10465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12848" y="3410712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576" y="352044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34640" y="3319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2834640" y="36301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that learn complex patterns from vast data.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55464" y="4014216"/>
            <a:ext cx="164592" cy="16459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Shape 17"/>
          <p:cNvSpPr/>
          <p:nvPr/>
        </p:nvSpPr>
        <p:spPr>
          <a:xfrm>
            <a:off x="2514600" y="4160520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15768" y="4325112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5496" y="443484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37560" y="4233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337560" y="4544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text, images, code, and media.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855464" y="4928616"/>
            <a:ext cx="164592" cy="164592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8" name="Shape 22"/>
          <p:cNvSpPr/>
          <p:nvPr/>
        </p:nvSpPr>
        <p:spPr>
          <a:xfrm>
            <a:off x="3017520" y="5074920"/>
            <a:ext cx="3840480" cy="786384"/>
          </a:xfrm>
          <a:prstGeom prst="roundRect">
            <a:avLst>
              <a:gd name="adj" fmla="val 10465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18688" y="5239512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534924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40480" y="5148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3840480" y="5458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plans, decides, and acts autonomously toward goals.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092440" y="141732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41" y="1766621"/>
            <a:ext cx="261518" cy="26151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6112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Example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32104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recommendations (ML) evolved into ChatGPT (Generative AI) and now into autonomous AI agents that book trips or manage tasks end-to-end.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092440" y="32004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321040" y="3429000"/>
            <a:ext cx="502920" cy="50292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1741" y="3549701"/>
            <a:ext cx="261518" cy="26151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961120" y="3410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832104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can position Agentic AI within the broader AI landscape and explain how each stage builds on the last.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create original content from learned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48640" cy="54864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18964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0756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that generate new text, images, audio, code, or video by learning patterns from large datasets — rather than simply classifying or predicting.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82112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3438144"/>
            <a:ext cx="548640" cy="54864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356981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54480" y="3749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content creation, coding, design, and decision-making, unlocking major productivity gains across every industry.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55464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5111496"/>
            <a:ext cx="548640" cy="54864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524317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5422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adopted across tech, finance, healthcare, education, and media — from customer support to software engineering.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766560" y="14904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Examples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766560" y="1965960"/>
            <a:ext cx="23088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00950" y="2167128"/>
            <a:ext cx="640080" cy="64008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398" y="232257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2898648"/>
            <a:ext cx="2308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903720" y="319125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by OpenAI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349740" y="1965960"/>
            <a:ext cx="23088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84130" y="2167128"/>
            <a:ext cx="640080" cy="64008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9578" y="232257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49740" y="2898648"/>
            <a:ext cx="2308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486900" y="319125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AI model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766560" y="3977640"/>
            <a:ext cx="23088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600950" y="4178808"/>
            <a:ext cx="640080" cy="64008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6398" y="4334256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4910328"/>
            <a:ext cx="2308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903720" y="520293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AI assistant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9349740" y="3977640"/>
            <a:ext cx="23088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10184130" y="4178808"/>
            <a:ext cx="640080" cy="640080"/>
          </a:xfrm>
          <a:prstGeom prst="ellipse">
            <a:avLst/>
          </a:prstGeom>
          <a:solidFill>
            <a:srgbClr val="EAF1FD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9578" y="4334256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349740" y="4910328"/>
            <a:ext cx="2308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9486900" y="5202936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pair-programmer for developers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 vs Generative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systems fundamentally differ from rule-based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554480"/>
            <a:ext cx="4160520" cy="868680"/>
          </a:xfrm>
          <a:prstGeom prst="roundRect">
            <a:avLst>
              <a:gd name="adj" fmla="val 9474"/>
            </a:avLst>
          </a:prstGeom>
          <a:solidFill>
            <a:srgbClr val="3B5772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82112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13" y="18580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0" y="1554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43800" y="1554480"/>
            <a:ext cx="4160520" cy="868680"/>
          </a:xfrm>
          <a:prstGeom prst="roundRect">
            <a:avLst>
              <a:gd name="adj" fmla="val 9474"/>
            </a:avLst>
          </a:prstGeom>
          <a:solidFill>
            <a:srgbClr val="2E6BE6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99832" y="1737360"/>
            <a:ext cx="502920" cy="502920"/>
          </a:xfrm>
          <a:prstGeom prst="ellipse">
            <a:avLst/>
          </a:prstGeom>
          <a:solidFill>
            <a:srgbClr val="1D4F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533" y="18580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554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E7ECF3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2697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926080" y="2697480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200400" y="26974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543800" y="2697480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EAF1FD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818120" y="26974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48640" y="3858768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E7ECF3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385876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2926080" y="3858768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200400" y="38587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Logic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543800" y="3858768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EAF1FD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818120" y="38587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Learning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48640" y="5020056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E7ECF3"/>
          </a:solidFill>
          <a:ln/>
        </p:spPr>
      </p:sp>
      <p:sp>
        <p:nvSpPr>
          <p:cNvPr id="26" name="Text 22"/>
          <p:cNvSpPr/>
          <p:nvPr/>
        </p:nvSpPr>
        <p:spPr>
          <a:xfrm>
            <a:off x="548640" y="5020056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926080" y="5020056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3200400" y="5020056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Output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543800" y="5020056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EAF1FD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818120" y="5020056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Output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Generative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technology reshaping every major industry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82880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7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Creation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images, and video generated on demand.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6260" y="15544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1828800"/>
            <a:ext cx="640080" cy="64008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199" y="19824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9140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486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pair-programmers that write and debug code.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83880" y="15544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0" y="182880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4819" y="19824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agents that resolve queries 24/7.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65960" y="4114800"/>
            <a:ext cx="640080" cy="64008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579" y="42684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864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tutoring and adaptive learning content.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6260" y="38404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83580" y="411480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7199" y="426841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9140" y="4864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486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diagnostics, research, and clinical documentation.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83880" y="384048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601200" y="4114800"/>
            <a:ext cx="640080" cy="64008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4819" y="426841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64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1248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copy, creative assets, and personalization.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LLMs?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Models: the engine behind modern Generative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848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model trained on massive text corpora to understand and generate human-like language.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20240"/>
            <a:ext cx="685800" cy="6858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0848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8928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Process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537960" y="2514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statistical patterns of language by processing billions of words across diverse sources.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65276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389120"/>
            <a:ext cx="685800" cy="6858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55371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3616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Understanding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914400" y="4983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grammar, context, and meaning to interpret nuanced human instructions.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0" y="4233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17220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389120"/>
            <a:ext cx="685800" cy="6858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55371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43616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Prediction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6537960" y="4983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 by repeatedly predicting the most likely next token in a sequence.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0652760" y="4233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internet data to a generated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749808"/>
          </a:xfrm>
          <a:prstGeom prst="roundRect">
            <a:avLst>
              <a:gd name="adj" fmla="val 10976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105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93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Vast, diverse text collected from the web and other sources.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2304288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450592"/>
            <a:ext cx="5669280" cy="749808"/>
          </a:xfrm>
          <a:prstGeom prst="roundRect">
            <a:avLst>
              <a:gd name="adj" fmla="val 10976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2596896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7066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5054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Dataset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71600" y="28163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filtered, and structured data prepared for training.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10128" y="3200400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3346704"/>
            <a:ext cx="5669280" cy="749808"/>
          </a:xfrm>
          <a:prstGeom prst="roundRect">
            <a:avLst>
              <a:gd name="adj" fmla="val 10976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3493008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6027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4015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Model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37124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architecture that learns relationships between tokens.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310128" y="4096512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4242816"/>
            <a:ext cx="5669280" cy="749808"/>
          </a:xfrm>
          <a:prstGeom prst="roundRect">
            <a:avLst>
              <a:gd name="adj" fmla="val 10976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389120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49884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297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371600" y="46085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capable of understanding and generating language.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310128" y="4992624"/>
            <a:ext cx="146304" cy="14630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8" name="Shape 22"/>
          <p:cNvSpPr/>
          <p:nvPr/>
        </p:nvSpPr>
        <p:spPr>
          <a:xfrm>
            <a:off x="548640" y="5138928"/>
            <a:ext cx="5669280" cy="749808"/>
          </a:xfrm>
          <a:prstGeom prst="roundRect">
            <a:avLst>
              <a:gd name="adj" fmla="val 10976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9808" y="5285232"/>
            <a:ext cx="457200" cy="45720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39496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51937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371600" y="55046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produces a coherent, context-aware output for the user.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675120" y="1554480"/>
            <a:ext cx="4967935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903720" y="1783080"/>
            <a:ext cx="502920" cy="50292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421" y="1903781"/>
            <a:ext cx="261518" cy="26151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543800" y="1764792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Example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6903720" y="233172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models are trained on massive web-scale datasets using transformer architecture, enabling ChatGPT to generate fluent, context-aware replies.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675120" y="3520440"/>
            <a:ext cx="4967935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903720" y="3749040"/>
            <a:ext cx="502920" cy="50292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4421" y="3869741"/>
            <a:ext cx="261518" cy="26151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543800" y="3730752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6903720" y="429768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can trace the full pipeline from raw internet data to a generated response and name each stage in order.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LLM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large language models and where each one excels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59436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600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0" y="1600200"/>
            <a:ext cx="4602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00300"/>
            <a:ext cx="457200" cy="4572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100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1945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31920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040880" y="241858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24185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11094415" cy="868680"/>
          </a:xfrm>
          <a:prstGeom prst="rect">
            <a:avLst/>
          </a:prstGeom>
          <a:solidFill>
            <a:srgbClr val="E7ECF3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" y="3268980"/>
            <a:ext cx="457200" cy="4572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7870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931920" y="3063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7040880" y="328726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32872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3931920"/>
            <a:ext cx="1109441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731520" y="4137660"/>
            <a:ext cx="457200" cy="4572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4738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931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931920" y="3931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7040880" y="41559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/>
        </p:spPr>
      </p:sp>
      <p:sp>
        <p:nvSpPr>
          <p:cNvPr id="28" name="Text 23"/>
          <p:cNvSpPr/>
          <p:nvPr/>
        </p:nvSpPr>
        <p:spPr>
          <a:xfrm>
            <a:off x="7040880" y="41559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E7ECF3"/>
          </a:solidFill>
          <a:ln/>
        </p:spPr>
      </p:sp>
      <p:sp>
        <p:nvSpPr>
          <p:cNvPr id="30" name="Shape 25"/>
          <p:cNvSpPr/>
          <p:nvPr/>
        </p:nvSpPr>
        <p:spPr>
          <a:xfrm>
            <a:off x="731520" y="5006340"/>
            <a:ext cx="457200" cy="45720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11606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4800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3931920" y="4800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7040880" y="502462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/>
        </p:spPr>
      </p:sp>
      <p:sp>
        <p:nvSpPr>
          <p:cNvPr id="35" name="Text 29"/>
          <p:cNvSpPr/>
          <p:nvPr/>
        </p:nvSpPr>
        <p:spPr>
          <a:xfrm>
            <a:off x="7040880" y="50246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48640" y="1600200"/>
            <a:ext cx="11094415" cy="406908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Tokens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units of text an LLM reads and generates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186025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Tokens?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0253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chunks of text — words, sub-words, or characters — that models process.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70048"/>
            <a:ext cx="512064" cy="512064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279294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243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Process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293522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tokens using a tokenizer before entering the model.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602736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725631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570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86791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number of tokens a model can consider at one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398264"/>
            <a:ext cx="6675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535424"/>
            <a:ext cx="512064" cy="512064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465831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4897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Limits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4800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has a fixed token capacity for input plus output combined.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589520" y="1600200"/>
            <a:ext cx="4069080" cy="3584448"/>
          </a:xfrm>
          <a:prstGeom prst="roundRect">
            <a:avLst>
              <a:gd name="adj" fmla="val 2551"/>
            </a:avLst>
          </a:prstGeom>
          <a:solidFill>
            <a:srgbClr val="13294B"/>
          </a:solidFill>
          <a:ln/>
        </p:spPr>
      </p:sp>
      <p:sp>
        <p:nvSpPr>
          <p:cNvPr id="25" name="Shape 19"/>
          <p:cNvSpPr/>
          <p:nvPr/>
        </p:nvSpPr>
        <p:spPr>
          <a:xfrm>
            <a:off x="7863840" y="1828800"/>
            <a:ext cx="502920" cy="50292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541" y="194950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63840" y="24414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Tokens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863840" y="2880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 is helpful"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863840" y="3264408"/>
            <a:ext cx="676656" cy="384048"/>
          </a:xfrm>
          <a:prstGeom prst="roundRect">
            <a:avLst>
              <a:gd name="adj" fmla="val 19048"/>
            </a:avLst>
          </a:prstGeom>
          <a:solidFill>
            <a:srgbClr val="1D3A63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863840" y="32644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668512" y="3264408"/>
            <a:ext cx="374904" cy="384048"/>
          </a:xfrm>
          <a:prstGeom prst="roundRect">
            <a:avLst>
              <a:gd name="adj" fmla="val 19512"/>
            </a:avLst>
          </a:prstGeom>
          <a:solidFill>
            <a:srgbClr val="1D3A63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668512" y="3264408"/>
            <a:ext cx="374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171432" y="326440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D3A63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171432" y="32644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863840" y="373989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1D3A63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863840" y="3739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467344" y="3739896"/>
            <a:ext cx="676656" cy="384048"/>
          </a:xfrm>
          <a:prstGeom prst="roundRect">
            <a:avLst>
              <a:gd name="adj" fmla="val 19048"/>
            </a:avLst>
          </a:prstGeom>
          <a:solidFill>
            <a:srgbClr val="1D3A63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467344" y="37398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9272016" y="3739896"/>
            <a:ext cx="576072" cy="384048"/>
          </a:xfrm>
          <a:prstGeom prst="roundRect">
            <a:avLst>
              <a:gd name="adj" fmla="val 19048"/>
            </a:avLst>
          </a:prstGeom>
          <a:solidFill>
            <a:srgbClr val="1D3A63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272016" y="3739896"/>
            <a:ext cx="576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7863840" y="42519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tokens for 3 words — punctuation and word-splits each count.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LLMs Generate Responses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view of the generation workflow, stage by stage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5440" y="1874520"/>
            <a:ext cx="2432304" cy="2743200"/>
          </a:xfrm>
          <a:prstGeom prst="roundRect">
            <a:avLst>
              <a:gd name="adj" fmla="val 3759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5832" y="2194560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96" y="23701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5440" y="301752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A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2600" y="331927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4040" y="37490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provides an instruction or question as input text.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040" y="309981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34944" y="1874520"/>
            <a:ext cx="2432304" cy="2743200"/>
          </a:xfrm>
          <a:prstGeom prst="roundRect">
            <a:avLst>
              <a:gd name="adj" fmla="val 3759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85336" y="2194560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900" y="237012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4944" y="301752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A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72104" y="331927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Processing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63544" y="37490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broken into tokens the model can process.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309981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24448" y="1874520"/>
            <a:ext cx="2432304" cy="2743200"/>
          </a:xfrm>
          <a:prstGeom prst="roundRect">
            <a:avLst>
              <a:gd name="adj" fmla="val 3759"/>
            </a:avLst>
          </a:prstGeom>
          <a:solidFill>
            <a:srgbClr val="3B5772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74840" y="2194560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404" y="237012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24448" y="301752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A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461608" y="331927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553048" y="37490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most likely next token, repeatedly.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048" y="3099816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213952" y="1874520"/>
            <a:ext cx="2432304" cy="2743200"/>
          </a:xfrm>
          <a:prstGeom prst="roundRect">
            <a:avLst>
              <a:gd name="adj" fmla="val 3759"/>
            </a:avLst>
          </a:prstGeom>
          <a:solidFill>
            <a:srgbClr val="13294B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064344" y="2194560"/>
            <a:ext cx="731520" cy="73152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908" y="2370125"/>
            <a:ext cx="380390" cy="38039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213952" y="301752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A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9351112" y="331927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9442552" y="37490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tokens are assembled into the final response.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GenAI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already at work across everyday business functions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6568" y="15544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0464" y="182880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72" y="19868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448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Resume Screening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5168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shortlists candidates by matching resumes to role requirements.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12768" y="15544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6664" y="182880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672" y="19868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5648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41368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assistants resolve common queries instantly, 24/7.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8968" y="15544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52864" y="182880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872" y="19868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1848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Writing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27568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articles, product copy, and social posts in minutes.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369668" y="388620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823564" y="416052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572" y="431852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52548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2598268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Generates, reviews, and debugs code alongside developers.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55868" y="388620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09764" y="4160520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7772" y="4318528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38748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Automation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484468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reports, emails, and repetitive workflow tasks.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Prompt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of communicating effectively with AI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3294B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205081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crafting clear, structured inputs to guide an AI model toward the desired output.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3B5772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92808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248" y="205081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can produce vastly different results depending on how a prompt is written.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3294B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61688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688" y="451969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accuracy, reduces back-and-forth, and unlocks more advanced model capabilities.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3B5772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361688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248" y="451969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Usage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537960" y="4983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daily in coding, writing, research, customer support, and business automation.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Good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five-part framework for writing consistently effective prompts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28216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" y="1846722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7335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0" y="16733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AI should act 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624328"/>
            <a:ext cx="493776" cy="493776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38" y="2742834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694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0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should do.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92424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520440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" y="3638946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6557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200400" y="34655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details it needs.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88536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416552"/>
            <a:ext cx="493776" cy="493776"/>
          </a:xfrm>
          <a:prstGeom prst="ellipse">
            <a:avLst/>
          </a:prstGeom>
          <a:solidFill>
            <a:srgbClr val="3B577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8" y="4535058"/>
            <a:ext cx="256764" cy="256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36168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200400" y="43616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or limits to follow.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84648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5312664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38" y="5431170"/>
            <a:ext cx="256764" cy="2567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Format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200400" y="52578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answer should look.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903720" y="1600200"/>
            <a:ext cx="4754880" cy="4352544"/>
          </a:xfrm>
          <a:prstGeom prst="roundRect">
            <a:avLst>
              <a:gd name="adj" fmla="val 2101"/>
            </a:avLst>
          </a:prstGeom>
          <a:solidFill>
            <a:srgbClr val="13294B"/>
          </a:solidFill>
          <a:ln/>
        </p:spPr>
      </p:sp>
      <p:sp>
        <p:nvSpPr>
          <p:cNvPr id="30" name="Text 23"/>
          <p:cNvSpPr/>
          <p:nvPr/>
        </p:nvSpPr>
        <p:spPr>
          <a:xfrm>
            <a:off x="722376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722376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r>
              <a:rPr lang="en-US" sz="11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an experienced travel consultant.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223760" y="3035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r>
              <a:rPr lang="en-US" sz="11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5-day itinerary for Japan.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223760" y="36941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 </a:t>
            </a:r>
            <a:r>
              <a:rPr lang="en-US" sz="11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traveler loves food and history, not nightlife.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223760" y="43525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r>
              <a:rPr lang="en-US" sz="11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Budget-friendly, under $1,500 total.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223760" y="50109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  </a:t>
            </a:r>
            <a:r>
              <a:rPr lang="en-US" sz="11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as a day-by-day bullet list.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 Fundamentals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AF21F-C7A2-2748-6A43-ED7EC17EE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41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9CCBF-5E11-E807-C6D0-D891BA406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85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597C0F-03E6-C9C1-BBD2-F42A6678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32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49183-7F6B-12E3-EBC7-20E45AB7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43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7439F-ABA0-E51E-C3AC-06B1D9772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6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8A82E-0F80-0C23-D74C-197D2EF32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5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5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D030A-0861-E523-3609-50CBBA11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50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263E6-1E21-FEEC-BC2A-7D5BB3BD8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2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E60C6-BA12-DBF6-3FDD-0FFD7B8AF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-233680"/>
            <a:ext cx="12192000" cy="709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3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46042-C45D-84F5-E9B8-E1B02859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10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BB82E-FF45-D1FA-029E-F5EC96A1D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14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4744FC-4EA8-2A78-7FB1-A3B9C30A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77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7E95E1-33F3-1593-9E13-C4E8291E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120" y="0"/>
            <a:ext cx="12263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00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CF021-03AE-E245-DC39-AEC791C8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23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4E8125-1F0F-E841-9D7D-7368C996F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59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F31AB-26F2-2096-760E-62D1BA111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193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F91693-A6F9-FD6D-83D3-ED87E9C4F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70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DCB405-00D8-1F77-6092-417AF3939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5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69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E747B-50A6-DBBE-FDAC-8C62346C6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76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97782-A3A1-AB01-23D6-026B6AC5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44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43CFB-B747-57F7-1B95-247B2CEF6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08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B8438-7861-5918-5AD8-43F013699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20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26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952545-ACC9-FCD5-7B6F-DEC210152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388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1AA4A-CBE1-4FF6-3963-91282F0F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6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017863-A26B-BFDD-5DA1-234294B1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5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2618</Words>
  <Application>Microsoft Office PowerPoint</Application>
  <PresentationFormat>Widescreen</PresentationFormat>
  <Paragraphs>274</Paragraphs>
  <Slides>40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Generative AI Fundamentals</dc:title>
  <dc:subject>PptxGenJS Presentation</dc:subject>
  <dc:creator>Mr. Venkatesh</dc:creator>
  <cp:lastModifiedBy>Madhuri Yalavarthi</cp:lastModifiedBy>
  <cp:revision>5</cp:revision>
  <dcterms:created xsi:type="dcterms:W3CDTF">2026-07-08T18:24:07Z</dcterms:created>
  <dcterms:modified xsi:type="dcterms:W3CDTF">2026-07-08T20:32:10Z</dcterms:modified>
</cp:coreProperties>
</file>